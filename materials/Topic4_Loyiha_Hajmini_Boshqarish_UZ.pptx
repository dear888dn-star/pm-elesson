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D98E0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4-mavzu: Loyiha hajmini boshqarish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822960" cy="4114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mehmondo‘stchilik • O‘zMU Jizzax filiali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 fani  ·  V semestr  ·  “Iqtisodiyot va turizm” kafedrasi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4-MAVZU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Nimalarni ko‘rib chiqamiz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hajmi va loyiha hajmi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“Hajm” so‘zining ikkita bog‘liq, ammo farqli ma'nosi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25880" y="2240280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3591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13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Talablarni yig‘ish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517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 ehtiyojlarini hujjatlashtirilgan talablarga aylantirish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3026664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aniqlash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381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Batafsil loyiha hajmi bayonotini yozish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25880" y="3813048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Ishlar Buzilishi Tuzilmasini (IBT) yaratish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2452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boshqariladigan ish paketlariga bo‘lish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25880" y="4599432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183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718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6725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tasdiqlash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109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Yakunlangan natijalarni rasmiy qabul qilish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25880" y="5385816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504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4589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nazorat qilish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7972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Bazaviy chiziqni nazoratsiz o‘zgarishlardan himoya qilish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TUSHUNCHA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“Hajm”ning ikki turi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hajmi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50008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Mahsulot, xizmat yoki natijani tavsiflovchi xususiyatlar va funksiyalar — masalan, ilova nima qila oladi, mehmonxona nima taklif etadi.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691640"/>
            <a:ext cx="53492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1892808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hajmi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350008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mahsulotni belgilangan xususiyatlari bilan yetkazib berish uchun bajariladigan ish — masalan, ilovani yoki mehmonxonani qurish va ishga tushirish uchun kerak bo‘lgan barcha vazifalar.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77640"/>
            <a:ext cx="91440" cy="16002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hajmini boshqarish loyiha muvaffaqiyatli yakunlanishi uchun zarur bo‘lgan barcha ishni — va faqat zarur bo‘lgan ishni — o‘z ichiga olishini ta’minlaydi. Bu asosan loyihaning tarkibiga nima kirishi va nima kirmasligini belgilash va nazorat qilishdan iborat.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JARAYONLAR OQIMI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“Tugallangan”ni belgilovchi oltita jarayon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boshqarish erta rejalashtirishdan boshlanib, yakunlangan bazaviy chiziqni nazoratsiz o‘zgarishlardan himoya qilishgacha davom etadi.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16916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156716" y="270662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67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rejalashtirish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qanday aniqlanishini belgilash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2468880"/>
            <a:ext cx="1691640" cy="82296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31236" y="2706624"/>
            <a:ext cx="475488" cy="475488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3123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49631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Talablarni yig‘ish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9631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 ehtiyojini aniqlash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468880"/>
            <a:ext cx="16916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05756" y="270662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0575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7083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aniqlash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7083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Batafsil bayonotni yozish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2468880"/>
            <a:ext cx="1691640" cy="82296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28" name="Shape 26"/>
          <p:cNvSpPr/>
          <p:nvPr/>
        </p:nvSpPr>
        <p:spPr>
          <a:xfrm>
            <a:off x="6780276" y="2706624"/>
            <a:ext cx="475488" cy="475488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8027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4535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 yaratish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4535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paketlarga bo‘lish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4672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2468880"/>
            <a:ext cx="1691640" cy="82296"/>
          </a:xfrm>
          <a:prstGeom prst="rect">
            <a:avLst/>
          </a:prstGeom>
          <a:solidFill>
            <a:srgbClr val="C77A0A"/>
          </a:solidFill>
          <a:ln/>
        </p:spPr>
      </p:sp>
      <p:sp>
        <p:nvSpPr>
          <p:cNvPr id="35" name="Shape 33"/>
          <p:cNvSpPr/>
          <p:nvPr/>
        </p:nvSpPr>
        <p:spPr>
          <a:xfrm>
            <a:off x="8654796" y="2706624"/>
            <a:ext cx="475488" cy="475488"/>
          </a:xfrm>
          <a:prstGeom prst="ellipse">
            <a:avLst/>
          </a:prstGeom>
          <a:solidFill>
            <a:srgbClr val="C77A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5479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11987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tasdiqlash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11987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rasmiy qabul qilish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73836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2124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41" name="Shape 39"/>
          <p:cNvSpPr/>
          <p:nvPr/>
        </p:nvSpPr>
        <p:spPr>
          <a:xfrm>
            <a:off x="9921240" y="2468880"/>
            <a:ext cx="16916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29316" y="2706624"/>
            <a:ext cx="475488" cy="47548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293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99439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nazorat qilish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994392" y="4069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Bazaviy chiziq o‘zgarishlarini boshqarish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EHTIYOJLARNI ANIQLASH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Talablarni yig‘ish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2801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2801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maqsadlariga erishish uchun manfaatdor tomonlar ehtiyojlari va talablarini aniqlash, hujjatlashtirish va boshqarish jarayoni.”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5.2-bo‘lim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Talablar IBT uchun asos bo‘ladi — xarajat, jadval, sifat va xarid rejalashtirishning barchasi ular asosida quriladi. Bu bosqichda xato qilinishi keyingi barcha jarayonlarga o‘tadi.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EHTIYOJLARNI ANIQLASH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Talablarni yig‘ish usullari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17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Miya hujumi (Brainstorming)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 muhitida ko‘plab g‘oyalarni tezda yaratish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064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4322064" y="1737360"/>
            <a:ext cx="3517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4944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Intervyu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4944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 bilan bevosita, yakka tartibdagi suhbatlar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5488" y="1737360"/>
            <a:ext cx="3517392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8368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Fokus-guruhlar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78368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Oldindan tanlangan manfaatdor tomonlar bilan yo‘naltirilgan muhokama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97096"/>
            <a:ext cx="3517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So‘rovnomalar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va tarqoq auditoriyadan tez ma’lumot yig‘ish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2064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322064" y="4197096"/>
            <a:ext cx="3517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04944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04944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Amaliyotlarni o‘xshash tashkilotlar bilan solishtirish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5488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5488" y="4197096"/>
            <a:ext cx="3517392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8368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Prototiplar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78368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fikr-mulohaza beruvchi erta, moddiy modellar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EHTIYOJLARNI ANIQLASH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Talablar turlari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17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Tashkilotning umumiy yuqori darajadagi ehtiyojlari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064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4322064" y="1737360"/>
            <a:ext cx="3517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4944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4944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Muayyan manfaatdor tomon yoki guruh ehtiyojlari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1737360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5488" y="1737360"/>
            <a:ext cx="3517392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8368" y="1920240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— funksional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78368" y="2450592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bajarishi kerak bo‘lgan xatti-harakatlar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97096"/>
            <a:ext cx="3517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— funksional bo‘lmagan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Ishonchlilik, xavfsizlik, samaradorlik kabi sifatlar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2064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322064" y="4197096"/>
            <a:ext cx="3517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04944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O‘tish davri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04944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holatdan kelajakdagi holatga o‘tish uchun zarur narsalar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5488" y="4197096"/>
            <a:ext cx="3517392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5488" y="4197096"/>
            <a:ext cx="3517392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8368" y="4379976"/>
            <a:ext cx="315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78368" y="4910328"/>
            <a:ext cx="31516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Muvaffaqiyatli yakunlanishni tasdiqlash uchun zarur shartlar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EHTIYOJLARNI ANIQLASH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Talablarni kuzatish matritsasi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talabni uning kelib chiqishidan uni qondiradigan natijagacha bog‘laydigan jadval — shunda tasdiqlangan hech narsa unutilmaydi va so‘ralmagan hech narsa yetkazib berilmaydi.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talabni quyidagilar orqali kuzatadi: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52603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/>
        </p:spPr>
      </p:sp>
      <p:sp>
        <p:nvSpPr>
          <p:cNvPr id="7" name="Shape 5"/>
          <p:cNvSpPr/>
          <p:nvPr/>
        </p:nvSpPr>
        <p:spPr>
          <a:xfrm>
            <a:off x="1592199" y="333756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92199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86200"/>
            <a:ext cx="2251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ehtiyoji yoki maqsadi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7467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94710" y="3154680"/>
            <a:ext cx="252603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8269" y="33375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8269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31870" y="3886200"/>
            <a:ext cx="2251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hajmi va IBT natijasi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2074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0780" y="3154680"/>
            <a:ext cx="252603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4339" y="3337560"/>
            <a:ext cx="438912" cy="438912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84339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3886200"/>
            <a:ext cx="2251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dizayni va ishlab chiqilishi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76681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86850" y="3154680"/>
            <a:ext cx="252603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0409" y="3337560"/>
            <a:ext cx="438912" cy="43891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30409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4010" y="3886200"/>
            <a:ext cx="2251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tekshiradigan test holati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CHEGARALARNI YOZISH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Hajmni aniqlash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va mahsulotning batafsil tavsifini ishlab chiqish jarayoni.”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5.3-bo‘lim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hajmi bayonoti quyidagilarni o‘z ichiga oladi: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hajmi tavsifi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43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qilish mezonlari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343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4343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istisnolari — hajmga aniq kirmaydigan narsalar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CHEGARALARNI YOZISH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Ustav va hajm bayonoti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169164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ustavi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91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hajmi bayonoti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49240" cy="777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77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darajadagi loyiha tavsifi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Oldindan tasdiqlangan moliyaviy resurslar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777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manfaatdor tomonlar ro‘yxati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983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Tayinlangan loyiha menejeri va vakolati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377440"/>
            <a:ext cx="5349240" cy="777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377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Batafsil mahsulot hajmi tavsifi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246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Natijalarning to‘liq ro‘yxati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49240" cy="777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114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qabul qilish mezonlari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498348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4983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istisnolar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0972800" cy="685800"/>
          </a:xfrm>
          <a:prstGeom prst="roundRect">
            <a:avLst>
              <a:gd name="adj" fmla="val 9333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897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loyiha, turli aniqlik darajasi: ustav bir qarashda tasdiqlaydi; hajm bayonoti esa har bir chegarani batafsil belgilaydi.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ISHNI BO‘LAKLARGA AJRATISH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IBT (Ishlar Buzilishi Tuzilmasi) yaratish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natijalari va loyiha ishini kichikroq, boshqarish osonroq komponentlarga bo‘lish jarayoni.”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5.4-bo‘lim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Dekompozitsiya odatda quyidagilarni o‘z ichiga oladi: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aniqlash va tahlil qilish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 tuzilmasini shakllantirish va tashkil etish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43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darajalarni batafsil komponentlarga bo‘lish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343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6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4343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Dekompozitsiya to‘g‘riligini tekshirish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misol: “Silk Road Samarkand” uchun IBT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31436" y="141732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D98E0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31436" y="1417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Silk Road Samarkand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33372" y="2011680"/>
            <a:ext cx="4261104" cy="502920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5146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5146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Mehmonxonalar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63924" y="2011680"/>
            <a:ext cx="2130552" cy="502920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25146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26664" y="25146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Eternal City parki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4476" y="2011680"/>
            <a:ext cx="0" cy="502920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1496" y="25146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2E7A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57216" y="25146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Kongress markazi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4476" y="2011680"/>
            <a:ext cx="2130552" cy="502920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25146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87768" y="25146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Infratuzilma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4476" y="2011680"/>
            <a:ext cx="4261104" cy="502920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25146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0" y="25146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Loyiha boshqaruvi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31620" y="3081528"/>
            <a:ext cx="301752" cy="713232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9476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2345C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7947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Dizayn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33372" y="3081528"/>
            <a:ext cx="1847088" cy="713232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379476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2345C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37947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 Qurilish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33372" y="3081528"/>
            <a:ext cx="3995928" cy="713232"/>
          </a:xfrm>
          <a:prstGeom prst="line">
            <a:avLst/>
          </a:prstGeom>
          <a:noFill/>
          <a:ln w="15875">
            <a:solidFill>
              <a:srgbClr val="3A5A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79476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2345C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37947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 Ichki jihozlash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namuna sifatida — haqiqiy IBT har bir tarmoqni ish paketi darajasigacha yoyadi.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ISHNI BO‘LAKLARGA AJRATISH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paketlari, nazorat hisoblari va 100% qoidasi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04104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paketi (work package)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5038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 ning eng past darajasi, unda xarajat va muddat baholanishi va boshqarilishi mumkin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737360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208776" y="1737360"/>
            <a:ext cx="5404104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91656" y="192024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hisobi (control account)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450592"/>
            <a:ext cx="5038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byudjet va jadval birlashtirilib o‘lchanadigan boshqaruv nuqtasi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97096"/>
            <a:ext cx="5404104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79976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 paketi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10328"/>
            <a:ext cx="5038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hisobidan pastda, hali rejalashtirilgan faoliyatlarga bo‘linmagan ma’lum 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4197096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4197096"/>
            <a:ext cx="5404104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1656" y="4379976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qoidasi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4910328"/>
            <a:ext cx="5038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past darajadagi ish yuqori darajaning 100% igacha yig‘ilishi kerak — hech narsa qolib ketmasligi va ortiqcha bo‘lmasligi kerak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ISHNI BO‘LAKLARGA AJRATISH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IBT lug‘ati (WBS dictionary)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IBT komponenti haqida batafsil ma’lumot beruvchi yordamchi hujjat — jamoa amalda foydalanadigan amaliy manba.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4140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9456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 kodi identifikatori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241401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19456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tavsifi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383280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6382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Taxminlar va cheklovlar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163824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3368" y="33832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336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16382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Javobgar tashkilot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435254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13308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bosqichlari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133088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3368" y="4352544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73368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13308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 qilinadigan resurslar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532180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10235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baholari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5102352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73368" y="532180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73368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510235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qilish mezonlari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· ISHNI QABUL QILISH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Hajmni tasdiqlash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73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“Yakunlangan loyiha natijalarini rasmiy qabul qilish jarayoni.”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5.5-bo‘lim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Sifatni nazorat qilishdan olingan tekshirilgan natijalar mijoz yoki homiy bilan ko‘rib chiqiladi va rasmiy tasdiqlanadi.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78992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29000"/>
            <a:ext cx="91440" cy="21031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Hajmni tasdiqlash ≠ Sifatni nazorat qilish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690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Sifatni nazorat qilish to‘g‘rilikni tekshiradi — natija talablarga javob beradimi? Hajmni tasdiqlash esa qabul qilishni tekshiradi — mijoz uni qabul qilishga rozimi? Sifat odatda birinchi tekshiriladi, ammo loyihani yakunlashga imkon beradigan narsa — qabul qilinishidir.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· BAZAVIY CHIZIQNI HIMOYA QILISH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Hajmni nazorat qilish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73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va mahsulot hajmi holatini kuzatish va hajm bazaviy chizig‘iga o‘zgarishlarni boshqarish jarayoni.”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5.6-bo‘lim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949440" cy="2606040"/>
          </a:xfrm>
          <a:prstGeom prst="roundRect">
            <a:avLst>
              <a:gd name="adj" fmla="val 2807"/>
            </a:avLst>
          </a:prstGeom>
          <a:solidFill>
            <a:srgbClr val="2A141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 (hajmning nazoratsiz kengayishi)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Vaqt, xarajat yoki resurslarni moslashtirmasdan mahsulot yoki loyiha hajmining nazoratsiz kengayishi. O‘zgarishning o‘zi muqarrar — xavf esa nazoratsiz o‘zgarishdir.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269748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2F6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0100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ma’lumotlar tahlili usullari: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36118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Og‘ish tahlili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42976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tahlili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7A2E2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SCOPE CREEP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Ogohlantiruvchi misol: Denver aeroportining bagaj tizimi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Qurilish jarayonining o‘rtasida avtomatlashtirilgan bagaj tizimining hajmi bitta aviakompaniyadan barcha uchta terminal va har bir aviakompaniyaga — vaqt, xarajat yoki xavfni qayta rejalashtirmasdan — kengaytirildi.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2644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 mln $ – 560+ mln $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6908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boshlang‘ich tizim byudjeti va yakuniy xarajat oshib ketishi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2272" y="32644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406908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 ochilishi kechiktirildi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38744" y="32644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406908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avtomatlashtirilgan tizim nihoyat ishdan chiqarilgan yil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PEimpact; SEBoK; Calleam Consulting loyiha tahlillari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· DALILLAR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hajm intizomi muhim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tashkilotlar noaniq talablarni loyiha muvaffaqiyatsizligining asosiy sababi deb hisoblaydi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mln $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1 mlrd $ sarflangan mablag‘dan yomon talablar boshqaruvi tufayli isrof bo‘ladi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loyihalarda qandaydir ko‘rinishdagi hajm kengayishi kuzatiladi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PMI, Pulse of the Profession®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· 4-MAVZU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92224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hajmi natijani belgilaydi; loyiha hajmi esa uni yaratish uchun ishni belgilaydi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 yig‘ilgan talablar IBT, xarajat va jadval uchun asos bo‘ladi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bayonoti ustav hech qachon ko‘rsatmaydigan qabul mezonlari va istisnolarni qo‘shadi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 natijalarni 100% qoidasiga amal qilgan holda ish paketlariga bo‘ladi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15721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tasdiqlash qabul qilishni ta’minlaydi; hajmni nazorat qilish esa bazaviy chiziqni scope creep dan himoya qiladi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10973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5-mavzu — Loyiha jadvalini boshqarish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2026-09-15T03:56:18Z</dcterms:created>
  <dcterms:modified xsi:type="dcterms:W3CDTF">2026-09-15T03:56:18Z</dcterms:modified>
</cp:coreProperties>
</file>