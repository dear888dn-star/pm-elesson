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754880" cy="47548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926080" cy="2926080"/>
          </a:xfrm>
          <a:prstGeom prst="ellipse">
            <a:avLst/>
          </a:prstGeom>
          <a:solidFill>
            <a:srgbClr val="D98E04">
              <a:alpha val="3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188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LOYB206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6002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LOYIHALARNI BOSHQARISH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2-mavzu: Tashkiliy tuzilmalar va loyiha muhiti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22960" y="3794760"/>
            <a:ext cx="822960" cy="41148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5806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Turizm va mehmondo‘stchilik • O‘zMU Jizzax filiali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LOYB206 fani  ·  V semestr  ·  “Iqtisodiyot va turizm” kafedrasi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REJA · 2-MAVZU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Nimalarni ko‘rib chiqamiz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55448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Tashkiliy muhit loyihalarga qanday ta’sir qiladi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892808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Boshqaruv asoslari va boshqaruv elementlari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25880" y="2267712"/>
            <a:ext cx="9601200" cy="10058"/>
          </a:xfrm>
          <a:prstGeom prst="rect">
            <a:avLst/>
          </a:prstGeom>
          <a:solidFill>
            <a:srgbClr val="E3E9ED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238658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23865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340864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Tuzilmalar spektri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679192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Funktsional tashkilotdan loyihaviy tashkilotgacha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325880" y="3054096"/>
            <a:ext cx="9601200" cy="10058"/>
          </a:xfrm>
          <a:prstGeom prst="rect">
            <a:avLst/>
          </a:prstGeom>
          <a:solidFill>
            <a:srgbClr val="E3E9ED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" y="317296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3172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12724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Matritsali tashkilotlar chuqur tahlili</a:t>
            </a:r>
            <a:endParaRPr lang="en-US" sz="165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465576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Kuchsiz, muvozanatlashgan va kuchli matritsa taqqoslanadi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325880" y="3840480"/>
            <a:ext cx="9601200" cy="10058"/>
          </a:xfrm>
          <a:prstGeom prst="rect">
            <a:avLst/>
          </a:prstGeom>
          <a:solidFill>
            <a:srgbClr val="E3E9ED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395935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3959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3913632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Loyihalarni Boshqarish Ofisi (LBO)</a:t>
            </a:r>
            <a:endParaRPr lang="en-US" sz="165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4251960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Qo‘llab-quvvatlovchi, nazorat qiluvchi va boshqaruvchi LBOlar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325880" y="4626864"/>
            <a:ext cx="9601200" cy="10058"/>
          </a:xfrm>
          <a:prstGeom prst="rect">
            <a:avLst/>
          </a:prstGeom>
          <a:solidFill>
            <a:srgbClr val="E3E9ED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4745736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4360" y="47457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4700016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 muhiti</a:t>
            </a:r>
            <a:endParaRPr lang="en-US" sz="165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5038344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Korxona muhiti omillari va tashkiliy jarayon aktivlari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325880" y="5413248"/>
            <a:ext cx="9601200" cy="10058"/>
          </a:xfrm>
          <a:prstGeom prst="rect">
            <a:avLst/>
          </a:prstGeom>
          <a:solidFill>
            <a:srgbClr val="E3E9ED"/>
          </a:solidFill>
          <a:ln/>
        </p:spPr>
      </p:sp>
      <p:sp>
        <p:nvSpPr>
          <p:cNvPr id="29" name="Shape 27"/>
          <p:cNvSpPr/>
          <p:nvPr/>
        </p:nvSpPr>
        <p:spPr>
          <a:xfrm>
            <a:off x="594360" y="5532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94360" y="5532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1325880" y="548640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Manfaatdor tomonlar</a:t>
            </a:r>
            <a:endParaRPr lang="en-US" sz="1650" dirty="0"/>
          </a:p>
        </p:txBody>
      </p:sp>
      <p:sp>
        <p:nvSpPr>
          <p:cNvPr id="32" name="Text 30"/>
          <p:cNvSpPr txBox="1"/>
          <p:nvPr/>
        </p:nvSpPr>
        <p:spPr>
          <a:xfrm>
            <a:off x="1325880" y="5824728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Muhim odamlarni aniqlash, tasniflash va ular bilan ishlash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· TASHKILIY MUHIT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Loyihalar bo‘shliqda mavjud emas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00800" cy="1417320"/>
          </a:xfrm>
          <a:prstGeom prst="roundRect">
            <a:avLst>
              <a:gd name="adj" fmla="val 5161"/>
            </a:avLst>
          </a:prstGeom>
          <a:solidFill>
            <a:srgbClr val="0B1F3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82296" cy="1417320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73736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“Boshqaruv — tashkilotlarda vakolat amalga oshiriladigan asosdir.”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97480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PMBOK® qo‘llanmasi, 2.4.2-bo‘lim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46120"/>
            <a:ext cx="6400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 menejeri biror vazifani rejalashtirishdan oldin, tashkilot ichida javobgarlik, vakolat va hisobdorlik qayerda joylashganini tushunishi kerak. Ushbu tuzilma menejer qabul qiladigan deyarli har bir qarorga ta’sir qiladi.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0" y="1600200"/>
            <a:ext cx="4297680" cy="4709160"/>
          </a:xfrm>
          <a:prstGeom prst="roundRect">
            <a:avLst>
              <a:gd name="adj" fmla="val 1702"/>
            </a:avLst>
          </a:prstGeom>
          <a:solidFill>
            <a:srgbClr val="F2F6F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635240" y="182880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qanday tuzilma belgilashi kerak bo‘lgan asosiy boshqaruv elementlari: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2569464"/>
            <a:ext cx="128016" cy="128016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891272" y="240487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Ishni ixtisoslashgan ko‘nikmalar bo‘yicha taqsimlash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635240" y="3319272"/>
            <a:ext cx="128016" cy="128016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891272" y="315468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Ishni bajarish uchun vakolat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635240" y="4069080"/>
            <a:ext cx="128016" cy="128016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891272" y="390448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Boshqaruv birligi — buyruqni faqat bitta shaxs beradi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635240" y="4818888"/>
            <a:ext cx="128016" cy="128016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891272" y="465429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Aniq va ochiq muloqot kanallari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635240" y="5568696"/>
            <a:ext cx="128016" cy="128016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891272" y="5404104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Mavjud resurslardan optimal foydalanish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· TUZILMANI TANLASH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Tashkiliy tuzilmalar spektri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qanday tashkiliy tuzilma bitta savolga bog‘liq spektrda joylashadi: loyiha menejeri qanchalik vakolatga ega?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2157984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017520"/>
            <a:ext cx="2157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Funktsional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61488" y="3017520"/>
            <a:ext cx="2157984" cy="822960"/>
          </a:xfrm>
          <a:prstGeom prst="rect">
            <a:avLst/>
          </a:prstGeom>
          <a:solidFill>
            <a:srgbClr val="2E7A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761488" y="3017520"/>
            <a:ext cx="2157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Kuchsiz matritsa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974336" y="3017520"/>
            <a:ext cx="2157984" cy="822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974336" y="3017520"/>
            <a:ext cx="2157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Muvozanatlashgan matritsa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87184" y="3017520"/>
            <a:ext cx="2157984" cy="822960"/>
          </a:xfrm>
          <a:prstGeom prst="rect">
            <a:avLst/>
          </a:prstGeom>
          <a:solidFill>
            <a:srgbClr val="C77A0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87184" y="3017520"/>
            <a:ext cx="2157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Kuchli matritsa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400032" y="3017520"/>
            <a:ext cx="2157984" cy="822960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00032" y="3017520"/>
            <a:ext cx="2157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Loyihaviy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0050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LM VAKOLATI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0" y="40050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YUQORI LM VAKOLATI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343400"/>
            <a:ext cx="11064240" cy="0"/>
          </a:xfrm>
          <a:prstGeom prst="line">
            <a:avLst/>
          </a:prstGeom>
          <a:noFill/>
          <a:ln w="19050">
            <a:solidFill>
              <a:srgbClr val="C6D2DA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54864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Manba: PMBOK® qo‘llanmasi, 2-1-jadval — Tashkiliy tuzilmalarning loyihalarga ta’siri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· TUZILMA TURI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Funktsional tashkilot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4008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545336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Xodimlar ixtisosligiga ko‘ra guruhlangan — masalan, Front Office, Ovqatlanish, Marketing, Moliya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12848"/>
            <a:ext cx="64008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112264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 menejeri lavozimi to‘liq bo‘lmagan, ko‘pincha shunchaki muvofiqlashtiruvchi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79776"/>
            <a:ext cx="64008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679192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Byudjet va xodimlar tayinlanishini funktsional (bo‘lim) menejerlari nazorat qiladi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346704"/>
            <a:ext cx="64008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24612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xodimning bitta aniq rahbari va o‘z ixtisosligi bo‘yicha martaba yo‘li bor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086600" y="1600200"/>
            <a:ext cx="4526280" cy="1691640"/>
          </a:xfrm>
          <a:prstGeom prst="roundRect">
            <a:avLst>
              <a:gd name="adj" fmla="val 4324"/>
            </a:avLst>
          </a:prstGeom>
          <a:solidFill>
            <a:srgbClr val="EAF3E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0" y="173736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Afzalliklari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208483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Chuqur mutaxassislik bilimi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0" y="248716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Aniq martaba o‘sishi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315200" y="288950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Mutaxassislardan samarali foydalanish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086600" y="3429000"/>
            <a:ext cx="4526280" cy="1691640"/>
          </a:xfrm>
          <a:prstGeom prst="roundRect">
            <a:avLst>
              <a:gd name="adj" fmla="val 4324"/>
            </a:avLst>
          </a:prstGeom>
          <a:solidFill>
            <a:srgbClr val="FBEAE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0" y="356616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3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Kamchiliklari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391363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Loyiha ishi bo‘lim ustuvorliklari bilan raqobatlashadi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431596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Bo‘limlar orasida qarorlar sekin qabul qilinadi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471830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Loyihaga egalik zaif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53492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960" y="53492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Misol: Mehmonxonaning kundalik bo‘limlari — Uy xo‘jaligi, Front Office, Ovqatlanish — har biri o‘z menejeri tomonidan boshqariladi. Kichik loyiha, masalan, holl dizaynini o‘zgartirish, tegishli bo‘limlar ustidan rasmiy vakolati kam bo‘lgan xodim tomonidan to‘liq bo‘lmagan holda muvofiqlashtiriladi.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· TUZILMA TURI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Loyihaviy tashkilot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4008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545336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Butun tashkilot bo‘limlar emas, loyihalar atrofida tuzilgan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12848"/>
            <a:ext cx="64008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112264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 menejeri yuqori, deyarli to‘liq vakolatga ega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79776"/>
            <a:ext cx="64008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679192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a’zolari to‘g‘ridan-to‘g‘ri LMga hisobot beradi va ko‘pincha bir joyda joylashadi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346704"/>
            <a:ext cx="64008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24612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loyiha uchun tuziladi va u yakunlangach tarqaladi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086600" y="1600200"/>
            <a:ext cx="4526280" cy="1691640"/>
          </a:xfrm>
          <a:prstGeom prst="roundRect">
            <a:avLst>
              <a:gd name="adj" fmla="val 4324"/>
            </a:avLst>
          </a:prstGeom>
          <a:solidFill>
            <a:srgbClr val="EAF3E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0" y="173736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Afzalliklari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208483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Tez qarorlar, yagona aniq egasi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0" y="248716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Jamoaning kuchli sadoqati va e’tibori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315200" y="288950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Loyiha ichida samarali muloqot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086600" y="3429000"/>
            <a:ext cx="4526280" cy="1691640"/>
          </a:xfrm>
          <a:prstGeom prst="roundRect">
            <a:avLst>
              <a:gd name="adj" fmla="val 4324"/>
            </a:avLst>
          </a:prstGeom>
          <a:solidFill>
            <a:srgbClr val="FBEAE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0" y="356616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3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Kamchiliklari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391363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Loyiha tugaganda “uy” bo‘limi yo‘q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431596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Loyihalar orasida resurslar takrorlanadi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471830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Mutaxassislik martabasi chuqurligi kamroq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53492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960" y="53492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Misol: “Silk Road Samarkand”ni qurgan bosh pudratchi Enter Engineering 12,000 dan ortiq ishchini butunlay shu bitta majmuani 3 yillik muddatda yetkazib berishga qaratib tashkil etdi. 2022 yilda ochilgach, loyiha jamoasi yangi ishlarga o‘tdi.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· TUZILMA TURI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Matritsali tashkilotlar: o‘rta yo‘l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Matritsali tuzilmada xodimlar bir vaqtning o‘zida ham funktsional menejerga, ham loyiha menejeriga hisobot beradi — bu mutaxassislik samaradorligini loyihaga e’tibor bilan muvozanatlaydi. Uchta variant mavjud, ular kuch LM tomon qanchalik og‘ishi bilan farqlanadi.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520440" cy="3108960"/>
          </a:xfrm>
          <a:prstGeom prst="roundRect">
            <a:avLst>
              <a:gd name="adj" fmla="val 2647"/>
            </a:avLst>
          </a:prstGeom>
          <a:solidFill>
            <a:srgbClr val="F2F6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606040"/>
            <a:ext cx="3520440" cy="822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9260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65760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Kuchsiz matritsa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4142232"/>
            <a:ext cx="30083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Funktsionalga yaqinroq — LM asosan muvofiqlashtiruvchi sifatida ishlaydi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25112" y="2606040"/>
            <a:ext cx="3520440" cy="3108960"/>
          </a:xfrm>
          <a:prstGeom prst="roundRect">
            <a:avLst>
              <a:gd name="adj" fmla="val 2647"/>
            </a:avLst>
          </a:prstGeom>
          <a:solidFill>
            <a:srgbClr val="F2F6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325112" y="2606040"/>
            <a:ext cx="3520440" cy="8229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Shape 11"/>
          <p:cNvSpPr/>
          <p:nvPr/>
        </p:nvSpPr>
        <p:spPr>
          <a:xfrm>
            <a:off x="4599432" y="29260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99432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581144" y="365760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Muvozanatlashgan matritsa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4581144" y="4142232"/>
            <a:ext cx="30083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Kuch LM va funktsional menejer o‘rtasida taxminan teng taqsimlanadi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01584" y="2606040"/>
            <a:ext cx="3520440" cy="3108960"/>
          </a:xfrm>
          <a:prstGeom prst="roundRect">
            <a:avLst>
              <a:gd name="adj" fmla="val 2647"/>
            </a:avLst>
          </a:prstGeom>
          <a:solidFill>
            <a:srgbClr val="F2F6F9"/>
          </a:solidFill>
          <a:ln/>
        </p:spPr>
      </p:sp>
      <p:sp>
        <p:nvSpPr>
          <p:cNvPr id="18" name="Shape 16"/>
          <p:cNvSpPr/>
          <p:nvPr/>
        </p:nvSpPr>
        <p:spPr>
          <a:xfrm>
            <a:off x="8101584" y="2606040"/>
            <a:ext cx="3520440" cy="82296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19" name="Shape 17"/>
          <p:cNvSpPr/>
          <p:nvPr/>
        </p:nvSpPr>
        <p:spPr>
          <a:xfrm>
            <a:off x="8375904" y="2926080"/>
            <a:ext cx="548640" cy="54864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375904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357616" y="365760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Kuchli matritsa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8357616" y="4142232"/>
            <a:ext cx="30083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Loyihaviyga yaqinroq — LM haqiqiy vakolat va to‘liq lavozimga ega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· TUZILMA TURI 3 (DAVOMI)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Uchta matritsa turini taqqoslash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286000" cy="5486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834640" y="1691640"/>
            <a:ext cx="292608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834640" y="16916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Kuchsiz matritsa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60720" y="1691640"/>
            <a:ext cx="2926080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760720" y="16916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Muvozanatlashgan matritsa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0" y="1691640"/>
            <a:ext cx="2926080" cy="548640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0" y="16916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Kuchli matritsa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240280"/>
            <a:ext cx="2286000" cy="859536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2240280"/>
            <a:ext cx="20116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vakolati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834640" y="2240280"/>
            <a:ext cx="2926080" cy="859536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971800" y="2240280"/>
            <a:ext cx="2651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760720" y="2240280"/>
            <a:ext cx="2926080" cy="859536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897880" y="2240280"/>
            <a:ext cx="2651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Past-o‘rtacha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86800" y="2240280"/>
            <a:ext cx="2926080" cy="859536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823960" y="2240280"/>
            <a:ext cx="2651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O‘rtacha-yuqori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154680"/>
            <a:ext cx="228600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3154680"/>
            <a:ext cx="20116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roli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834640" y="3154680"/>
            <a:ext cx="292608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971800" y="3154680"/>
            <a:ext cx="2651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To‘liq bo‘lmagan, ko‘pincha rasmiylashtirilmagan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760720" y="3154680"/>
            <a:ext cx="292608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897880" y="3154680"/>
            <a:ext cx="2651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To‘liq bo‘lmagan, tayinlangan muvofiqlashtiruvchi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686800" y="3154680"/>
            <a:ext cx="292608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823960" y="3154680"/>
            <a:ext cx="2651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To‘liq stavkali tayinlangan lavozim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069080"/>
            <a:ext cx="2286000" cy="859536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85800" y="4069080"/>
            <a:ext cx="20116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Resurslar mavjudligi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834640" y="4069080"/>
            <a:ext cx="2926080" cy="859536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2971800" y="4069080"/>
            <a:ext cx="2651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760720" y="4069080"/>
            <a:ext cx="2926080" cy="859536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897880" y="4069080"/>
            <a:ext cx="2651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Past-o‘rtacha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686800" y="4069080"/>
            <a:ext cx="2926080" cy="859536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823960" y="4069080"/>
            <a:ext cx="2651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O‘rtacha-yuqori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4983480"/>
            <a:ext cx="228600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85800" y="4983480"/>
            <a:ext cx="20116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Byudjetni kim nazorat qiladi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2834640" y="4983480"/>
            <a:ext cx="292608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2971800" y="4983480"/>
            <a:ext cx="2651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Funktsional menejer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760720" y="4983480"/>
            <a:ext cx="292608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897880" y="4983480"/>
            <a:ext cx="2651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Aralash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686800" y="4983480"/>
            <a:ext cx="292608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823960" y="4983480"/>
            <a:ext cx="2651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 menejeri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Manba: PMBOK® qo‘llanmasi, 2-1-jadval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5029200" cy="50292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HAYOTIY MISOL · O‘ZBEKISTON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Bitta soha, uchta tuzilma: O‘zbekiston turizmi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20440" cy="3977640"/>
          </a:xfrm>
          <a:prstGeom prst="roundRect">
            <a:avLst>
              <a:gd name="adj" fmla="val 2338"/>
            </a:avLst>
          </a:prstGeom>
          <a:solidFill>
            <a:srgbClr val="12345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74520"/>
            <a:ext cx="3520440" cy="8229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1488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Funktsional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328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“Iqtisodiyot va turizm” kafedrasi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01752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semestrda turizm fanlarini o‘qitadigan universitet kafedrasi — loyiha emas, akademik ixtisoslik bo‘yicha tashkil etilgan.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25112" y="1874520"/>
            <a:ext cx="3520440" cy="3977640"/>
          </a:xfrm>
          <a:prstGeom prst="roundRect">
            <a:avLst>
              <a:gd name="adj" fmla="val 2338"/>
            </a:avLst>
          </a:prstGeom>
          <a:solidFill>
            <a:srgbClr val="12345C"/>
          </a:solidFill>
          <a:ln/>
        </p:spPr>
      </p:sp>
      <p:sp>
        <p:nvSpPr>
          <p:cNvPr id="11" name="Shape 9"/>
          <p:cNvSpPr/>
          <p:nvPr/>
        </p:nvSpPr>
        <p:spPr>
          <a:xfrm>
            <a:off x="4325112" y="1874520"/>
            <a:ext cx="3520440" cy="82296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53712" y="21488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Loyihaviy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53712" y="25328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Engineering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53712" y="301752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Pudratchi “Silk Road Samarkand”ni 3 yillik, 580 mln dollarlik yagona maxsus loyiha sifatida, o‘z to‘liq stavkali jamoasi bilan qurdi.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01584" y="1874520"/>
            <a:ext cx="3520440" cy="3977640"/>
          </a:xfrm>
          <a:prstGeom prst="roundRect">
            <a:avLst>
              <a:gd name="adj" fmla="val 2338"/>
            </a:avLst>
          </a:prstGeom>
          <a:solidFill>
            <a:srgbClr val="12345C"/>
          </a:solidFill>
          <a:ln/>
        </p:spPr>
      </p:sp>
      <p:sp>
        <p:nvSpPr>
          <p:cNvPr id="16" name="Shape 14"/>
          <p:cNvSpPr/>
          <p:nvPr/>
        </p:nvSpPr>
        <p:spPr>
          <a:xfrm>
            <a:off x="8101584" y="1874520"/>
            <a:ext cx="3520440" cy="822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30184" y="21488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Matritsali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330184" y="25328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Davlat turizm qo‘mitasi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330184" y="301752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ekoturizm zonalarini vazirliklar, mintaqaviy hokimiyatlar va xususiy investorlardan bir vaqtning o‘zida xodimlar jalb qilib muvofiqlashtiradi.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 · BOSHQARUV QO‘LLAB-QUVVATLASH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Loyihalarni Boshqarish Ofisi (LBO)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LBO loyiha boshqaruvini standartlashtiradi va resurslar, metodlar hamda vositalarni loyihalar orasida taqsimlaydi. Uning loyihalar ustidan nazorat darajasi turiga qarab farqlanadi: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2F6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48840"/>
            <a:ext cx="352044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36829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Qo‘llab-quvvatlovchi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8892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nazorat — maslahat resursi sifatida shablonlar, ilg‘or tajribalar va o‘rganilgan saboqlarni taqdim etadi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25112" y="214884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2F6F9"/>
          </a:solidFill>
          <a:ln/>
        </p:spPr>
      </p:sp>
      <p:sp>
        <p:nvSpPr>
          <p:cNvPr id="10" name="Shape 8"/>
          <p:cNvSpPr/>
          <p:nvPr/>
        </p:nvSpPr>
        <p:spPr>
          <a:xfrm>
            <a:off x="4325112" y="2148840"/>
            <a:ext cx="352044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53712" y="236829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Nazorat qiluvchi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4553712" y="278892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O‘rtacha nazorat — tanlangan freymvork, shablon va boshqaruv talablariga rioya qilishni talab qiladi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01584" y="214884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2F6F9"/>
          </a:solidFill>
          <a:ln/>
        </p:spPr>
      </p:sp>
      <p:sp>
        <p:nvSpPr>
          <p:cNvPr id="14" name="Shape 12"/>
          <p:cNvSpPr/>
          <p:nvPr/>
        </p:nvSpPr>
        <p:spPr>
          <a:xfrm>
            <a:off x="8101584" y="2148840"/>
            <a:ext cx="3520440" cy="73152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30184" y="236829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Boshqaruvchi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8330184" y="278892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Yuqori nazorat — loyihalarni to‘g‘ridan-to‘g‘ri boshqaradi; LMlar LBO tomonidan tayinlanadi va unga hisobot beradi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61772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475488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38%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2286000" y="4617720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LBO mavjud bo‘lganda ko‘proq loyihalar o‘z vaqtida va byudjet doirasida yetkazib beriladi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461772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0" y="475488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33%</a:t>
            </a:r>
            <a:endParaRPr lang="en-US" sz="3200" dirty="0"/>
          </a:p>
        </p:txBody>
      </p:sp>
      <p:sp>
        <p:nvSpPr>
          <p:cNvPr id="22" name="Text 20"/>
          <p:cNvSpPr txBox="1"/>
          <p:nvPr/>
        </p:nvSpPr>
        <p:spPr>
          <a:xfrm>
            <a:off x="7909560" y="4617720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LBO mavjud bo‘lganda biznes maqsadlariga erishish ehtimoli yuqoriroq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Manba: PMI, Pulse of the Profession® tadqiqoti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 · LOYIHA MUHITI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Loyiha muhiti: korxona muhiti omillari (ichki)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789920" cy="868680"/>
          </a:xfrm>
          <a:prstGeom prst="roundRect">
            <a:avLst>
              <a:gd name="adj" fmla="val 7368"/>
            </a:avLst>
          </a:prstGeom>
          <a:solidFill>
            <a:srgbClr val="F2F6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27632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“Loyiha jamoasi nazorat qila olmaydigan, ammo loyihaga ta’sir qiluvchi, uni cheklovchi yoki yo‘naltiruvchi sharoitlar.”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PMBOK® qo‘llanmasi, 2.2-bo‘lim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697480"/>
            <a:ext cx="64008" cy="1417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8346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Tashkiliy madaniyat va boshqaruv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227832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Vizyon, qadriyatlar, yetakchilik uslubi, ierarxiya, xulq-atvor kodeksi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53912" y="269748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53912" y="2697480"/>
            <a:ext cx="64008" cy="1417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82512" y="28346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Geografik taqsimot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382512" y="3227832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Ob’ektlar joylashuvi, virtual jamoalar, umumiy tizimlar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34340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343400"/>
            <a:ext cx="64008" cy="1417320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4805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Infratuzilma va IT tizimlari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873752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Uskunalar, dasturiy vositalar, telekommunikatsiya imkoniyatlari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53912" y="434340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53912" y="4343400"/>
            <a:ext cx="64008" cy="1417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82512" y="44805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Resurs va xodimlar salohiyati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382512" y="4873752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Mavjud tajriba, ko‘nikmalar va bo‘sh mutaxassislar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 · LOYIHA MUHITI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Loyiha muhiti: korxona muhiti omillari (tashqi)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64008" cy="1417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373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 sharoitlari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30552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Raqobatchilar, bozor ulushi, brend tanilishi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53912" y="160020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53912" y="1600200"/>
            <a:ext cx="64008" cy="1417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82512" y="17373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Ijtimoiy va madaniy ta’sirlar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382512" y="2130552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Siyosiy vaziyat, xulq-atvor kodekslari, jamoatchilik fikri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246120"/>
            <a:ext cx="64008" cy="1417320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3832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Huquqiy va me’yoriy cheklovlar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776472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Milliy va mahalliy qonunlar, litsenziyalash, xavfsizlik standartlari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53912" y="324612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53912" y="3246120"/>
            <a:ext cx="64008" cy="1417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82512" y="33832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Moliyaviy omillar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382512" y="3776472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Valyuta kursi, inflyatsiya, boj to‘lovlari, foiz stavkalari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89204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892040"/>
            <a:ext cx="64008" cy="1417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50292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Jismoniy muhit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5422392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Ob-havo, relyef, ish sharoiti cheklovlari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 · LOYIHA MUHITI (DAVOMI)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Tashkiliy jarayon aktivlari (TJA)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789920" cy="868680"/>
          </a:xfrm>
          <a:prstGeom prst="roundRect">
            <a:avLst>
              <a:gd name="adj" fmla="val 7368"/>
            </a:avLst>
          </a:prstGeom>
          <a:solidFill>
            <a:srgbClr val="F2F6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27632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“Ijro etuvchi tashkilotga xos va u tomonidan qo‘llaniladigan rejalar, jarayonlar, siyosatlar, protseduralar va bilim bazalari.”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PMBOK® qo‘llanmasi, 2.3-bo‘lim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5349240" cy="3246120"/>
          </a:xfrm>
          <a:prstGeom prst="roundRect">
            <a:avLst>
              <a:gd name="adj" fmla="val 2254"/>
            </a:avLst>
          </a:prstGeom>
          <a:solidFill>
            <a:srgbClr val="F2F6F9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697480"/>
            <a:ext cx="534924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9260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Jarayonlar, siyosatlar va protseduralar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538728"/>
            <a:ext cx="118872" cy="1188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33832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Standartlashtirilgan shablonlar va metodologiyalar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4224528"/>
            <a:ext cx="118872" cy="1188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51560" y="4069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O‘zgarishlarni nazorat qilish va tasdiqlash tartiblari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4910328"/>
            <a:ext cx="118872" cy="1188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51560" y="4754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Sog‘liq, xavfsizlik va sifat siyosatlari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2697480"/>
            <a:ext cx="5349240" cy="3246120"/>
          </a:xfrm>
          <a:prstGeom prst="roundRect">
            <a:avLst>
              <a:gd name="adj" fmla="val 2254"/>
            </a:avLst>
          </a:prstGeom>
          <a:solidFill>
            <a:srgbClr val="F2F6F9"/>
          </a:solidFill>
          <a:ln/>
        </p:spPr>
      </p:sp>
      <p:sp>
        <p:nvSpPr>
          <p:cNvPr id="17" name="Shape 15"/>
          <p:cNvSpPr/>
          <p:nvPr/>
        </p:nvSpPr>
        <p:spPr>
          <a:xfrm>
            <a:off x="6172200" y="2697480"/>
            <a:ext cx="5349240" cy="73152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0" y="29260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Tashkiliy bilim omborlari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46520" y="3538728"/>
            <a:ext cx="118872" cy="118872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75120" y="33832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Oldingi loyihalardan o‘rganilgan saboqlar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46520" y="4224528"/>
            <a:ext cx="118872" cy="118872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75120" y="4069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Tarixiy xarajat va jadval ma’lumotlari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46520" y="4910328"/>
            <a:ext cx="118872" cy="118872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75120" y="4754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Xavflar reyestri va muammolar jurnali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0807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Jarayonlar va siyosatlardan farqli o‘laroq, bilim omborlari loyiha davomida jamoa tomonidan yangilanib boriladi.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 · QISQA TAQQOSLASH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KMO va TJA — asosiy farq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103120" cy="5943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691640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51760" y="1691640"/>
            <a:ext cx="4480560" cy="5943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761488" y="1691640"/>
            <a:ext cx="4261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Korxona muhiti omillari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32320" y="1691640"/>
            <a:ext cx="4480560" cy="594360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242048" y="1691640"/>
            <a:ext cx="4261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Tashkiliy jarayon aktivlari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2103120" cy="914400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22860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nima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651760" y="2286000"/>
            <a:ext cx="4480560" cy="914400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788920" y="22860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Tashqi yoki ichki sharoit va cheklovlar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132320" y="2286000"/>
            <a:ext cx="4480560" cy="914400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269480" y="22860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Ichki rejalar, jarayonlar va to‘plangan bilim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210312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32461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uni o‘zgartira oladimi?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651760" y="3246120"/>
            <a:ext cx="448056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788920" y="324612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Yo‘q — jamoa u doirasida ishlashi kerak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32320" y="3246120"/>
            <a:ext cx="448056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269480" y="324612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Qisman — bilim omborlari ish davomida yangilanadi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297680"/>
            <a:ext cx="2103120" cy="914400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42976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Misol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651760" y="4297680"/>
            <a:ext cx="4480560" cy="914400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788920" y="42976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Valyuta kursi, mahalliy qonunlar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132320" y="4297680"/>
            <a:ext cx="4480560" cy="914400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269480" y="42976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O‘rganilgan saboqlar ombori, xavflar reyestri shabloni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 · MANFAATDOR TOMONLAR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Loyiha manfaatdor tomonlari kim?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789920" cy="1143000"/>
          </a:xfrm>
          <a:prstGeom prst="roundRect">
            <a:avLst>
              <a:gd name="adj" fmla="val 5600"/>
            </a:avLst>
          </a:prstGeom>
          <a:solidFill>
            <a:srgbClr val="0B1F3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54480"/>
            <a:ext cx="82296" cy="1143000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66420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“Loyihaning qarori, faoliyati yoki natijasiga ta’sir qilishi, undan ta’sirlanishi yoki o‘zini ta’sirlangan deb hisoblashi mumkin bo‘lgan shaxs, guruh yoki tashkilot.”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4231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PMBOK® qo‘llanmasi, 1.6-bo‘lim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5349240" cy="2834640"/>
          </a:xfrm>
          <a:prstGeom prst="roundRect">
            <a:avLst>
              <a:gd name="adj" fmla="val 2581"/>
            </a:avLst>
          </a:prstGeom>
          <a:solidFill>
            <a:srgbClr val="F2F6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317296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Ichki manfaatdor tomonlar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712464"/>
            <a:ext cx="118872" cy="1188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358444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Homiy (sponsor)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4215384"/>
            <a:ext cx="118872" cy="1188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51560" y="408736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Loyihalarni Boshqarish Ofisi (LBO)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4718304"/>
            <a:ext cx="118872" cy="1188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51560" y="45902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Resurs menejerlari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5221224"/>
            <a:ext cx="118872" cy="1188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51560" y="509320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a’zolari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72200" y="2971800"/>
            <a:ext cx="5349240" cy="2834640"/>
          </a:xfrm>
          <a:prstGeom prst="roundRect">
            <a:avLst>
              <a:gd name="adj" fmla="val 2581"/>
            </a:avLst>
          </a:prstGeom>
          <a:solidFill>
            <a:srgbClr val="F2F6F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0" y="317296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Tashqi manfaatdor tomonlar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46520" y="3712464"/>
            <a:ext cx="118872" cy="118872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75120" y="358444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Mijozlar va yakuniy foydalanuvchilar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46520" y="4215384"/>
            <a:ext cx="118872" cy="118872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75120" y="408736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Ta’minotchilar va pudratchilar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46520" y="4718304"/>
            <a:ext cx="118872" cy="118872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675120" y="45902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Nazorat qiluvchi organlar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46520" y="5221224"/>
            <a:ext cx="118872" cy="118872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675120" y="509320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Aksiyadorlar va raqobatchilar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HAYOTIY MISOL · O‘ZBEKISTON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misol: “Silk Road Samarkand” manfaatdor tomonlari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160520" y="3794760"/>
            <a:ext cx="0" cy="-1762049"/>
          </a:xfrm>
          <a:prstGeom prst="line">
            <a:avLst/>
          </a:prstGeom>
          <a:noFill/>
          <a:ln w="19050">
            <a:solidFill>
              <a:srgbClr val="2A4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60520" y="3794760"/>
            <a:ext cx="1860950" cy="-881024"/>
          </a:xfrm>
          <a:prstGeom prst="line">
            <a:avLst/>
          </a:prstGeom>
          <a:noFill/>
          <a:ln w="19050">
            <a:solidFill>
              <a:srgbClr val="2A4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60520" y="3794760"/>
            <a:ext cx="1860950" cy="881024"/>
          </a:xfrm>
          <a:prstGeom prst="line">
            <a:avLst/>
          </a:prstGeom>
          <a:noFill/>
          <a:ln w="19050">
            <a:solidFill>
              <a:srgbClr val="2A4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60520" y="3794760"/>
            <a:ext cx="0" cy="1762049"/>
          </a:xfrm>
          <a:prstGeom prst="line">
            <a:avLst/>
          </a:prstGeom>
          <a:noFill/>
          <a:ln w="19050">
            <a:solidFill>
              <a:srgbClr val="2A4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60520" y="3794760"/>
            <a:ext cx="-1860950" cy="881024"/>
          </a:xfrm>
          <a:prstGeom prst="line">
            <a:avLst/>
          </a:prstGeom>
          <a:noFill/>
          <a:ln w="19050">
            <a:solidFill>
              <a:srgbClr val="2A4A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60520" y="3794760"/>
            <a:ext cx="-1860950" cy="-881024"/>
          </a:xfrm>
          <a:prstGeom prst="line">
            <a:avLst/>
          </a:prstGeom>
          <a:noFill/>
          <a:ln w="19050">
            <a:solidFill>
              <a:srgbClr val="2A4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3246120"/>
            <a:ext cx="1920240" cy="109728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200400" y="324612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Silk Road Samarkand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994660" y="1644091"/>
            <a:ext cx="2331720" cy="777240"/>
          </a:xfrm>
          <a:prstGeom prst="roundRect">
            <a:avLst>
              <a:gd name="adj" fmla="val 8235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067812" y="1644091"/>
            <a:ext cx="2185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Davlat turizm qo‘mitasi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55610" y="2525116"/>
            <a:ext cx="2331720" cy="777240"/>
          </a:xfrm>
          <a:prstGeom prst="roundRect">
            <a:avLst>
              <a:gd name="adj" fmla="val 8235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928762" y="2525116"/>
            <a:ext cx="2185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Engineering (pudratchi)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55610" y="4287164"/>
            <a:ext cx="2331720" cy="777240"/>
          </a:xfrm>
          <a:prstGeom prst="roundRect">
            <a:avLst>
              <a:gd name="adj" fmla="val 8235"/>
            </a:avLst>
          </a:prstGeom>
          <a:solidFill>
            <a:srgbClr val="2E7A9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928762" y="4287164"/>
            <a:ext cx="2185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Mehmonxona operator brendlari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994660" y="5168189"/>
            <a:ext cx="2331720" cy="777240"/>
          </a:xfrm>
          <a:prstGeom prst="roundRect">
            <a:avLst>
              <a:gd name="adj" fmla="val 8235"/>
            </a:avLst>
          </a:prstGeom>
          <a:solidFill>
            <a:srgbClr val="065A8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067812" y="5168189"/>
            <a:ext cx="2185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Samarqand viloyati hokimiyati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133710" y="4287164"/>
            <a:ext cx="2331720" cy="777240"/>
          </a:xfrm>
          <a:prstGeom prst="roundRect">
            <a:avLst>
              <a:gd name="adj" fmla="val 8235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206862" y="4287164"/>
            <a:ext cx="2185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YUNESKO (Jahon merosi nazorati)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133710" y="2525116"/>
            <a:ext cx="2331720" cy="777240"/>
          </a:xfrm>
          <a:prstGeom prst="roundRect">
            <a:avLst>
              <a:gd name="adj" fmla="val 8235"/>
            </a:avLst>
          </a:prstGeom>
          <a:solidFill>
            <a:srgbClr val="2E7A9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206862" y="2525116"/>
            <a:ext cx="2185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Sayyohlar va foydalanuvchilar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321040" y="2103120"/>
            <a:ext cx="3337560" cy="3291840"/>
          </a:xfrm>
          <a:prstGeom prst="roundRect">
            <a:avLst>
              <a:gd name="adj" fmla="val 2222"/>
            </a:avLst>
          </a:prstGeom>
          <a:solidFill>
            <a:srgbClr val="12345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595360" y="2331720"/>
            <a:ext cx="27889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Bitta meta-loyiha o‘n dan ortiq manfaatdor tomon guruhini o‘z ichiga olishi mumkin, har birining natijaga nisbatan kuchi va qiziqishi turlicha.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 · TASNIFLASH MODELLARI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Manfaatdor tomonlarni tasniflash: kuch/qiziqish jadvali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ko‘p qo‘llaniladigan vosita har bir manfaatdor tomonni uning kuchi (vakolati) va loyiha natijasiga qiziqishi (tashvish darajasi) bo‘yicha joylashtiradi.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11680" y="2148840"/>
            <a:ext cx="2468880" cy="1783080"/>
          </a:xfrm>
          <a:prstGeom prst="rect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80560" y="2148840"/>
            <a:ext cx="2468880" cy="1783080"/>
          </a:xfrm>
          <a:prstGeom prst="rect">
            <a:avLst/>
          </a:prstGeom>
          <a:solidFill>
            <a:srgbClr val="D98E0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3931920"/>
            <a:ext cx="2468880" cy="1783080"/>
          </a:xfrm>
          <a:prstGeom prst="rect">
            <a:avLst/>
          </a:prstGeom>
          <a:solidFill>
            <a:srgbClr val="8CA0A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80560" y="3931920"/>
            <a:ext cx="2468880" cy="1783080"/>
          </a:xfrm>
          <a:prstGeom prst="rect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48840" y="22585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Mamnun tuting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2585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Yaqindan boshqaring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148840" y="40416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Kuzatib boring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40416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Xabardor qiling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 rot="16200000">
            <a:off x="594360" y="2148840"/>
            <a:ext cx="1280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KUCH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011680" y="5806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QIZIQISH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06640" y="2185416"/>
            <a:ext cx="64008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635240" y="214884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Yuqori kuch, past qiziqish — ularni mamnun tuting, ortiqcha tafsilot bilan yuklamang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06640" y="3081528"/>
            <a:ext cx="64008" cy="685800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635240" y="3044952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Yuqori kuch, yuqori qiziqish — to‘liq va tez-tez muloqotda bo‘ling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06640" y="3977640"/>
            <a:ext cx="64008" cy="685800"/>
          </a:xfrm>
          <a:prstGeom prst="rect">
            <a:avLst/>
          </a:prstGeom>
          <a:solidFill>
            <a:srgbClr val="8CA0A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35240" y="3941064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kuch, past qiziqish — minimal harakat, o‘zgarishni kuzating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06640" y="4873752"/>
            <a:ext cx="64008" cy="6858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635240" y="4837176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kuch, yuqori qiziqish — muntazam yangilanishlar ularni qo‘llab-quvvatlovchi qiladi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Murakkabroq holatlar uchun boshqa modellar ham mavjud: salience modeli (kuch + shoshilinchlik + qonuniylik) va ta’sir yo‘nalishlari (yuqoriga, pastga, tashqariga, yon tomonga).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55448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2.10 · DALILLAR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Manfaatdor tomonlar bilan ishlash nima uchun muhim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1234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5146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 3tadan 1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290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 asosan yomon muloqot tufayli muvaffaqiyatsizlikka uchraydi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51960" y="219456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1234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34840" y="25146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 mln $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34290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1 mlrd $ sarflangan mablag‘dan samarasiz muloqot tufayli xavf ostida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55280" y="219456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12345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138160" y="25146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37%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8138160" y="34290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loyihalar manfaatdor tomonlar muvaffaqiyat nimaligi bo‘yicha kelisha olmagani uchun barbod bo‘ladi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937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8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Manbalar: PMI, Pulse of the Profession®; Wellingtone, State of Project Management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XULOSA · 2-MAVZU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xulosalar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94360" y="1792224"/>
            <a:ext cx="365760" cy="36576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792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91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Tashkiliy tuzilma loyiha menejeri qanchalik vakolatga ega ekanligini belgilaydi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2633472"/>
            <a:ext cx="365760" cy="36576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633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53288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Tuzilmalar funktsionaldan (bo‘lim boshqaradi) loyihaviygacha (LM boshqaradi) o‘zgaradi, orasida matritsa variantlari joylashadi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3474720"/>
            <a:ext cx="365760" cy="36576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3374136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LBO boshqaruvni standartlashtiradi va o‘z vaqtida, byudjet doirasida yetkazib berishni sezilarli yaxshilaydi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4315968"/>
            <a:ext cx="365760" cy="36576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4315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4215384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Korxona muhiti omillari loyihani cheklaydi; tashkiliy jarayon aktivlari esa uni qo‘llab-quvvatlaydi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4360" y="5157216"/>
            <a:ext cx="365760" cy="36576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4360" y="5157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505663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Manfaatdor tomonlarni aniqlash va kuch/qiziqish bo‘yicha tasniflash loyiha muvaffaqiyati uchun markaziy ahamiyatga ega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6035040"/>
            <a:ext cx="11064240" cy="10973"/>
          </a:xfrm>
          <a:prstGeom prst="rect">
            <a:avLst/>
          </a:prstGeom>
          <a:solidFill>
            <a:srgbClr val="2A3F5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6217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mavzu: 3-mavzu — Loyiha integratsiyasini boshqarish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2026-09-14T17:17:01Z</dcterms:created>
  <dcterms:modified xsi:type="dcterms:W3CDTF">2026-09-14T17:17:01Z</dcterms:modified>
</cp:coreProperties>
</file>