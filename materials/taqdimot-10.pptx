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71800" cy="685800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463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10-BOB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210312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ptos Display"/>
              </a:rPr>
              <a:t>LOYIHA
RISKLARINI
BOSHQARISH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51376"/>
            <a:ext cx="20116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0" i="0">
                <a:solidFill>
                  <a:srgbClr val="FFFFFF"/>
                </a:solidFill>
                <a:latin typeface="Aptos"/>
              </a:rPr>
              <a:t>Risk • noaniqlik • tahlil • javob strategiyasi • monitoring</a:t>
            </a:r>
          </a:p>
        </p:txBody>
      </p:sp>
      <p:sp>
        <p:nvSpPr>
          <p:cNvPr id="6" name="Oval 5"/>
          <p:cNvSpPr/>
          <p:nvPr/>
        </p:nvSpPr>
        <p:spPr>
          <a:xfrm>
            <a:off x="6876288" y="2487168"/>
            <a:ext cx="1828800" cy="1828800"/>
          </a:xfrm>
          <a:prstGeom prst="ellipse">
            <a:avLst/>
          </a:prstGeom>
          <a:solidFill>
            <a:srgbClr val="EDF6FB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04888" y="3081528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B5C8E"/>
                </a:solidFill>
                <a:latin typeface="Aptos"/>
              </a:rPr>
              <a:t>RISK
BOSHQARUVI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43000"/>
            <a:ext cx="1600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335024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1" i="0">
                <a:solidFill>
                  <a:srgbClr val="1D6FB8"/>
                </a:solidFill>
                <a:latin typeface="Aptos"/>
              </a:rPr>
              <a:t>Aniqlash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54980" y="1426464"/>
            <a:ext cx="2235708" cy="1975104"/>
          </a:xfrm>
          <a:prstGeom prst="line">
            <a:avLst/>
          </a:prstGeom>
          <a:ln w="17780">
            <a:solidFill>
              <a:srgbClr val="89A8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281160" y="1143000"/>
            <a:ext cx="1600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335024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1" i="0">
                <a:solidFill>
                  <a:srgbClr val="D97706"/>
                </a:solidFill>
                <a:latin typeface="Aptos"/>
              </a:rPr>
              <a:t>Tahlil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790688" y="1426464"/>
            <a:ext cx="2290572" cy="1975104"/>
          </a:xfrm>
          <a:prstGeom prst="line">
            <a:avLst/>
          </a:prstGeom>
          <a:ln w="17780">
            <a:solidFill>
              <a:srgbClr val="89A8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26880" y="4800600"/>
            <a:ext cx="1600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992624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1" i="0">
                <a:solidFill>
                  <a:srgbClr val="2E8B57"/>
                </a:solidFill>
                <a:latin typeface="Aptos"/>
              </a:rPr>
              <a:t>Javob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790688" y="3401568"/>
            <a:ext cx="2336292" cy="1682496"/>
          </a:xfrm>
          <a:prstGeom prst="line">
            <a:avLst/>
          </a:prstGeom>
          <a:ln w="17780">
            <a:solidFill>
              <a:srgbClr val="89A8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72000" y="4800600"/>
            <a:ext cx="16002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6D4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992624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0" b="1" i="0">
                <a:solidFill>
                  <a:srgbClr val="6D46D9"/>
                </a:solidFill>
                <a:latin typeface="Aptos"/>
              </a:rPr>
              <a:t>Monitoring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5372100" y="3401568"/>
            <a:ext cx="2418588" cy="1682496"/>
          </a:xfrm>
          <a:prstGeom prst="line">
            <a:avLst/>
          </a:prstGeom>
          <a:ln w="17780">
            <a:solidFill>
              <a:srgbClr val="89A8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15000" y="6181344"/>
            <a:ext cx="4297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Mavzu tuzilishi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10-bob doirasidagi asosiy bo‘limlar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10-BOB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225296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78992" y="1335024"/>
            <a:ext cx="713232" cy="347472"/>
          </a:xfrm>
          <a:prstGeom prst="round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1449324"/>
            <a:ext cx="621792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40" b="1" i="0">
                <a:solidFill>
                  <a:srgbClr val="FFFFFF"/>
                </a:solidFill>
                <a:latin typeface="Aptos"/>
              </a:rPr>
              <a:t>10.1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399032"/>
            <a:ext cx="8138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7324D"/>
                </a:solidFill>
                <a:latin typeface="Aptos"/>
              </a:rPr>
              <a:t>Loyiha risklarini aniqlash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020824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78992" y="2130552"/>
            <a:ext cx="713232" cy="347472"/>
          </a:xfrm>
          <a:prstGeom prst="round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" y="2244852"/>
            <a:ext cx="621792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40" b="1" i="0">
                <a:solidFill>
                  <a:srgbClr val="FFFFFF"/>
                </a:solidFill>
                <a:latin typeface="Aptos"/>
              </a:rPr>
              <a:t>10.2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194560"/>
            <a:ext cx="8138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7324D"/>
                </a:solidFill>
                <a:latin typeface="Aptos"/>
              </a:rPr>
              <a:t>Risklarni sifat tahlili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816352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78992" y="2926080"/>
            <a:ext cx="713232" cy="347472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3040380"/>
            <a:ext cx="621792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40" b="1" i="0">
                <a:solidFill>
                  <a:srgbClr val="FFFFFF"/>
                </a:solidFill>
                <a:latin typeface="Aptos"/>
              </a:rPr>
              <a:t>10.3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2990088"/>
            <a:ext cx="8138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7324D"/>
                </a:solidFill>
                <a:latin typeface="Aptos"/>
              </a:rPr>
              <a:t>Risklarni miqdoriy tahlili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3611880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78992" y="3721608"/>
            <a:ext cx="713232" cy="347472"/>
          </a:xfrm>
          <a:prstGeom prst="roundRect">
            <a:avLst/>
          </a:prstGeom>
          <a:solidFill>
            <a:srgbClr val="6D46D9"/>
          </a:solidFill>
          <a:ln>
            <a:solidFill>
              <a:srgbClr val="6D4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" y="3835908"/>
            <a:ext cx="621792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40" b="1" i="0">
                <a:solidFill>
                  <a:srgbClr val="FFFFFF"/>
                </a:solidFill>
                <a:latin typeface="Aptos"/>
              </a:rPr>
              <a:t>10.4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3785616"/>
            <a:ext cx="8138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7324D"/>
                </a:solidFill>
                <a:latin typeface="Aptos"/>
              </a:rPr>
              <a:t>Risklarga qarshi choralarni rejalashtirish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407408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78992" y="4517136"/>
            <a:ext cx="713232" cy="347472"/>
          </a:xfrm>
          <a:prstGeom prst="roundRect">
            <a:avLst/>
          </a:prstGeom>
          <a:solidFill>
            <a:srgbClr val="D94B45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712" y="4631436"/>
            <a:ext cx="621792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40" b="1" i="0">
                <a:solidFill>
                  <a:srgbClr val="FFFFFF"/>
                </a:solidFill>
                <a:latin typeface="Aptos"/>
              </a:rPr>
              <a:t>10.5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4581144"/>
            <a:ext cx="8138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7324D"/>
                </a:solidFill>
                <a:latin typeface="Aptos"/>
              </a:rPr>
              <a:t>Risklarga qarshi choralarni amalga oshirish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202936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78992" y="5312664"/>
            <a:ext cx="713232" cy="347472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4712" y="5426964"/>
            <a:ext cx="621792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40" b="1" i="0">
                <a:solidFill>
                  <a:srgbClr val="FFFFFF"/>
                </a:solidFill>
                <a:latin typeface="Aptos"/>
              </a:rPr>
              <a:t>10.6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5376672"/>
            <a:ext cx="8138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7324D"/>
                </a:solidFill>
                <a:latin typeface="Aptos"/>
              </a:rPr>
              <a:t>Risklarni monitoring qilish va nazorat qilish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Tayanch iboralar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Mavzuni o‘zlashtirish uchun asosiy tushunchalar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TAYANCH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234440"/>
            <a:ext cx="3246120" cy="310896"/>
          </a:xfrm>
          <a:prstGeom prst="roundRect">
            <a:avLst/>
          </a:prstGeom>
          <a:solidFill>
            <a:srgbClr val="EAF3F9"/>
          </a:solidFill>
          <a:ln>
            <a:solidFill>
              <a:srgbClr val="EA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316736"/>
            <a:ext cx="31729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80" b="1" i="0">
                <a:solidFill>
                  <a:srgbClr val="1D6FB8"/>
                </a:solidFill>
                <a:latin typeface="Aptos"/>
              </a:rPr>
              <a:t>Loyiha risklari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234440"/>
            <a:ext cx="3246120" cy="310896"/>
          </a:xfrm>
          <a:prstGeom prst="roundRect">
            <a:avLst/>
          </a:prstGeom>
          <a:solidFill>
            <a:srgbClr val="FFF4E6"/>
          </a:solidFill>
          <a:ln>
            <a:solidFill>
              <a:srgbClr val="FFF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9976" y="1316736"/>
            <a:ext cx="31729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80" b="1" i="0">
                <a:solidFill>
                  <a:srgbClr val="D97706"/>
                </a:solidFill>
                <a:latin typeface="Aptos"/>
              </a:rPr>
              <a:t>Noaniqlik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234440"/>
            <a:ext cx="3246120" cy="310896"/>
          </a:xfrm>
          <a:prstGeom prst="roundRect">
            <a:avLst/>
          </a:prstGeom>
          <a:solidFill>
            <a:srgbClr val="FFF0F0"/>
          </a:solidFill>
          <a:ln>
            <a:solidFill>
              <a:srgbClr val="FF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7575" y="1316736"/>
            <a:ext cx="31729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80" b="1" i="0">
                <a:solidFill>
                  <a:srgbClr val="D94B45"/>
                </a:solidFill>
                <a:latin typeface="Aptos"/>
              </a:rPr>
              <a:t>Risk reyestri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1920240"/>
            <a:ext cx="3246120" cy="310896"/>
          </a:xfrm>
          <a:prstGeom prst="roundRect">
            <a:avLst/>
          </a:prstGeom>
          <a:solidFill>
            <a:srgbClr val="F2EDFF"/>
          </a:solidFill>
          <a:ln>
            <a:solidFill>
              <a:srgbClr val="F2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2002536"/>
            <a:ext cx="31729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80" b="1" i="0">
                <a:solidFill>
                  <a:srgbClr val="6D46D9"/>
                </a:solidFill>
                <a:latin typeface="Aptos"/>
              </a:rPr>
              <a:t>Identifikatsiya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920240"/>
            <a:ext cx="3246120" cy="310896"/>
          </a:xfrm>
          <a:prstGeom prst="roundRect">
            <a:avLst/>
          </a:prstGeom>
          <a:solidFill>
            <a:srgbClr val="EDF6FB"/>
          </a:solidFill>
          <a:ln>
            <a:solidFill>
              <a:srgbClr val="ED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9976" y="2002536"/>
            <a:ext cx="31729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80" b="1" i="0">
                <a:solidFill>
                  <a:srgbClr val="0B5C8E"/>
                </a:solidFill>
                <a:latin typeface="Aptos"/>
              </a:rPr>
              <a:t>Sifat tahlili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920240"/>
            <a:ext cx="3246120" cy="310896"/>
          </a:xfrm>
          <a:prstGeom prst="roundRect">
            <a:avLst/>
          </a:prstGeom>
          <a:solidFill>
            <a:srgbClr val="EDF7F1"/>
          </a:solidFill>
          <a:ln>
            <a:solidFill>
              <a:srgbClr val="ED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37575" y="2002536"/>
            <a:ext cx="31729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80" b="1" i="0">
                <a:solidFill>
                  <a:srgbClr val="2E8B57"/>
                </a:solidFill>
                <a:latin typeface="Aptos"/>
              </a:rPr>
              <a:t>Miqdoriy tahlil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606040"/>
            <a:ext cx="3246120" cy="310896"/>
          </a:xfrm>
          <a:prstGeom prst="roundRect">
            <a:avLst/>
          </a:prstGeom>
          <a:solidFill>
            <a:srgbClr val="EAF3F9"/>
          </a:solidFill>
          <a:ln>
            <a:solidFill>
              <a:srgbClr val="EA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2688336"/>
            <a:ext cx="31729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80" b="1" i="0">
                <a:solidFill>
                  <a:srgbClr val="1D6FB8"/>
                </a:solidFill>
                <a:latin typeface="Aptos"/>
              </a:rPr>
              <a:t>Ehtimollik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2606040"/>
            <a:ext cx="3246120" cy="310896"/>
          </a:xfrm>
          <a:prstGeom prst="roundRect">
            <a:avLst/>
          </a:prstGeom>
          <a:solidFill>
            <a:srgbClr val="FFF4E6"/>
          </a:solidFill>
          <a:ln>
            <a:solidFill>
              <a:srgbClr val="FFF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9976" y="2688336"/>
            <a:ext cx="31729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80" b="1" i="0">
                <a:solidFill>
                  <a:srgbClr val="D97706"/>
                </a:solidFill>
                <a:latin typeface="Aptos"/>
              </a:rPr>
              <a:t>Ta’sir darajasi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2606040"/>
            <a:ext cx="3246120" cy="310896"/>
          </a:xfrm>
          <a:prstGeom prst="roundRect">
            <a:avLst/>
          </a:prstGeom>
          <a:solidFill>
            <a:srgbClr val="FFF0F0"/>
          </a:solidFill>
          <a:ln>
            <a:solidFill>
              <a:srgbClr val="FF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37575" y="2688336"/>
            <a:ext cx="31729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80" b="1" i="0">
                <a:solidFill>
                  <a:srgbClr val="D94B45"/>
                </a:solidFill>
                <a:latin typeface="Aptos"/>
              </a:rPr>
              <a:t>Risk matritsasi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291840"/>
            <a:ext cx="3246120" cy="310896"/>
          </a:xfrm>
          <a:prstGeom prst="roundRect">
            <a:avLst/>
          </a:prstGeom>
          <a:solidFill>
            <a:srgbClr val="F2EDFF"/>
          </a:solidFill>
          <a:ln>
            <a:solidFill>
              <a:srgbClr val="F2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" y="3374136"/>
            <a:ext cx="31729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80" b="1" i="0">
                <a:solidFill>
                  <a:srgbClr val="6D46D9"/>
                </a:solidFill>
                <a:latin typeface="Aptos"/>
              </a:rPr>
              <a:t>Ustuvorlik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3291840"/>
            <a:ext cx="3246120" cy="310896"/>
          </a:xfrm>
          <a:prstGeom prst="roundRect">
            <a:avLst/>
          </a:prstGeom>
          <a:solidFill>
            <a:srgbClr val="EDF6FB"/>
          </a:solidFill>
          <a:ln>
            <a:solidFill>
              <a:srgbClr val="ED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79976" y="3374136"/>
            <a:ext cx="31729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80" b="1" i="0">
                <a:solidFill>
                  <a:srgbClr val="0B5C8E"/>
                </a:solidFill>
                <a:latin typeface="Aptos"/>
              </a:rPr>
              <a:t>Javob strategiyasi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0" y="3291840"/>
            <a:ext cx="3246120" cy="310896"/>
          </a:xfrm>
          <a:prstGeom prst="roundRect">
            <a:avLst/>
          </a:prstGeom>
          <a:solidFill>
            <a:srgbClr val="EDF7F1"/>
          </a:solidFill>
          <a:ln>
            <a:solidFill>
              <a:srgbClr val="ED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37575" y="3374136"/>
            <a:ext cx="31729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80" b="1" i="0">
                <a:solidFill>
                  <a:srgbClr val="2E8B57"/>
                </a:solidFill>
                <a:latin typeface="Aptos"/>
              </a:rPr>
              <a:t>Kamaytirish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3977639"/>
            <a:ext cx="3246120" cy="310896"/>
          </a:xfrm>
          <a:prstGeom prst="roundRect">
            <a:avLst/>
          </a:prstGeom>
          <a:solidFill>
            <a:srgbClr val="EAF3F9"/>
          </a:solidFill>
          <a:ln>
            <a:solidFill>
              <a:srgbClr val="EA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" y="4059935"/>
            <a:ext cx="31729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80" b="1" i="0">
                <a:solidFill>
                  <a:srgbClr val="1D6FB8"/>
                </a:solidFill>
                <a:latin typeface="Aptos"/>
              </a:rPr>
              <a:t>Transfer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3977639"/>
            <a:ext cx="3246120" cy="310896"/>
          </a:xfrm>
          <a:prstGeom prst="roundRect">
            <a:avLst/>
          </a:prstGeom>
          <a:solidFill>
            <a:srgbClr val="FFF4E6"/>
          </a:solidFill>
          <a:ln>
            <a:solidFill>
              <a:srgbClr val="FFF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9976" y="4059935"/>
            <a:ext cx="31729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80" b="1" i="0">
                <a:solidFill>
                  <a:srgbClr val="D97706"/>
                </a:solidFill>
                <a:latin typeface="Aptos"/>
              </a:rPr>
              <a:t>Qabul qilish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01000" y="3977639"/>
            <a:ext cx="3246120" cy="310896"/>
          </a:xfrm>
          <a:prstGeom prst="roundRect">
            <a:avLst/>
          </a:prstGeom>
          <a:solidFill>
            <a:srgbClr val="FFF0F0"/>
          </a:solidFill>
          <a:ln>
            <a:solidFill>
              <a:srgbClr val="FF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37575" y="4059935"/>
            <a:ext cx="31729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80" b="1" i="0">
                <a:solidFill>
                  <a:srgbClr val="D94B45"/>
                </a:solidFill>
                <a:latin typeface="Aptos"/>
              </a:rPr>
              <a:t>Trigger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4663440"/>
            <a:ext cx="3246120" cy="310896"/>
          </a:xfrm>
          <a:prstGeom prst="roundRect">
            <a:avLst/>
          </a:prstGeom>
          <a:solidFill>
            <a:srgbClr val="F2EDFF"/>
          </a:solidFill>
          <a:ln>
            <a:solidFill>
              <a:srgbClr val="F2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6" y="4745736"/>
            <a:ext cx="31729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80" b="1" i="0">
                <a:solidFill>
                  <a:srgbClr val="6D46D9"/>
                </a:solidFill>
                <a:latin typeface="Aptos"/>
              </a:rPr>
              <a:t>Monitoring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4663440"/>
            <a:ext cx="3246120" cy="310896"/>
          </a:xfrm>
          <a:prstGeom prst="roundRect">
            <a:avLst/>
          </a:prstGeom>
          <a:solidFill>
            <a:srgbClr val="EDF6FB"/>
          </a:solidFill>
          <a:ln>
            <a:solidFill>
              <a:srgbClr val="ED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79976" y="4745736"/>
            <a:ext cx="31729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80" b="1" i="0">
                <a:solidFill>
                  <a:srgbClr val="0B5C8E"/>
                </a:solidFill>
                <a:latin typeface="Aptos"/>
              </a:rPr>
              <a:t>Risk auditi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01000" y="4663440"/>
            <a:ext cx="3246120" cy="310896"/>
          </a:xfrm>
          <a:prstGeom prst="roundRect">
            <a:avLst/>
          </a:prstGeom>
          <a:solidFill>
            <a:srgbClr val="EDF7F1"/>
          </a:solidFill>
          <a:ln>
            <a:solidFill>
              <a:srgbClr val="ED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37575" y="4745736"/>
            <a:ext cx="31729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80" b="1" i="0">
                <a:solidFill>
                  <a:srgbClr val="2E8B57"/>
                </a:solidFill>
                <a:latin typeface="Aptos"/>
              </a:rPr>
              <a:t>Zaxira reja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Loyiha riski nima?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Noaniqlik ro‘yobga chiqqanda loyiha maqsadlariga ta’sir qiluvchi xavf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10.1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234440"/>
            <a:ext cx="32004" cy="1920240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335024"/>
            <a:ext cx="3246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D6FB8"/>
                </a:solidFill>
                <a:latin typeface="Aptos"/>
              </a:rPr>
              <a:t>Riskning mohiyati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664208"/>
            <a:ext cx="3246120" cy="1426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0364B"/>
                </a:solidFill>
                <a:latin typeface="Aptos"/>
              </a:rPr>
              <a:t>Loyiha davomida kutilgan natijaga erishmaslik ehtimoli. Risk ro‘yobga chiqsa, loyiha rejasida og‘ishlar paydo bo‘lishi mumkin.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2344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234440"/>
            <a:ext cx="32004" cy="192024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1335024"/>
            <a:ext cx="3246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Aptos"/>
              </a:rPr>
              <a:t>Asosiy salbiy oqibatlar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1664208"/>
            <a:ext cx="3246120" cy="1426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0364B"/>
                </a:solidFill>
                <a:latin typeface="Aptos"/>
              </a:rPr>
              <a:t>Vaqtning cho‘zilishi • xarajatlarning oshishi • sifatning pasayishi • rejalashtirilgan foydaning kamayishi.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2344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234440"/>
            <a:ext cx="32004" cy="192024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1335024"/>
            <a:ext cx="3246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Aptos"/>
              </a:rPr>
              <a:t>Boshqaruvning maqsadi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1664208"/>
            <a:ext cx="3246120" cy="1426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0364B"/>
                </a:solidFill>
                <a:latin typeface="Aptos"/>
              </a:rPr>
              <a:t>Risklarni oldindan aniqlash, baholash va tegishli choralarni ko‘rish orqali kutilmagan yo‘qotishlarni kamaytirish.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977639"/>
            <a:ext cx="10149840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900" b="1" i="0">
                <a:solidFill>
                  <a:srgbClr val="0B5C8E"/>
                </a:solidFill>
                <a:latin typeface="Aptos Display"/>
              </a:rPr>
              <a:t>Risklarni tizimli boshqarish → loyiha barqarorligi va ishonchliligini oshiradi.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Loyiha risklarini boshqarish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Noaniqlikni tizimli ravishda boshqarish jarayoni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10.1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2044598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93392"/>
            <a:ext cx="191658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D6FB8"/>
                </a:solidFill>
                <a:latin typeface="Aptos"/>
              </a:rPr>
              <a:t>1. Xavflarni aniqlash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712110" y="202996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49270" y="1828800"/>
            <a:ext cx="2044598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3278" y="1993392"/>
            <a:ext cx="191658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D97706"/>
                </a:solidFill>
                <a:latin typeface="Aptos"/>
              </a:rPr>
              <a:t>2. Tahlil qilish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21300" y="202996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58460" y="1828800"/>
            <a:ext cx="2044598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6D4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2468" y="1993392"/>
            <a:ext cx="191658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6D46D9"/>
                </a:solidFill>
                <a:latin typeface="Aptos"/>
              </a:rPr>
              <a:t>3. Choralarni rejalashtirish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30491" y="202996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67651" y="1828800"/>
            <a:ext cx="2044598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1659" y="1993392"/>
            <a:ext cx="191658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2E8B57"/>
                </a:solidFill>
                <a:latin typeface="Aptos"/>
              </a:rPr>
              <a:t>4. Amalga oshirish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339681" y="202996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76841" y="1828800"/>
            <a:ext cx="2044598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0849" y="1993392"/>
            <a:ext cx="191658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B5C8E"/>
                </a:solidFill>
                <a:latin typeface="Aptos"/>
              </a:rPr>
              <a:t>5. Monitoring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" y="3154680"/>
            <a:ext cx="9692640" cy="1463040"/>
          </a:xfrm>
          <a:prstGeom prst="roundRect">
            <a:avLst/>
          </a:prstGeom>
          <a:solidFill>
            <a:srgbClr val="EDF6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88720" y="3154680"/>
            <a:ext cx="32004" cy="146304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07592" y="3255264"/>
            <a:ext cx="9464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B5C8E"/>
                </a:solidFill>
                <a:latin typeface="Aptos"/>
              </a:rPr>
              <a:t>Mazmuni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07592" y="3584448"/>
            <a:ext cx="9464040" cy="9692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0" i="0">
                <a:solidFill>
                  <a:srgbClr val="20364B"/>
                </a:solidFill>
                <a:latin typeface="Aptos"/>
              </a:rPr>
              <a:t>Risklarni boshqarish — xavflarni aniqlash, sifat va zarur hollarda miqdoriy tahlil qilish, javob choralarini rejalashtirish va bajarish, so‘ng ularni doimiy kuzatish va nazorat qilishdir.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074920"/>
            <a:ext cx="100584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D94B45"/>
                </a:solidFill>
                <a:latin typeface="Aptos"/>
              </a:rPr>
              <a:t>Muhim tamoyil: risklarni boshqarish bir martalik emas, loyiha hayotiy sikli davomida takrorlanadigan jarayondir.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10.1-rasm. Loyiha risklarini boshqarish jarayoni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Identifikatsiya → tahlil → choralar →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10.1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6</a:t>
            </a:r>
          </a:p>
        </p:txBody>
      </p:sp>
      <p:pic>
        <p:nvPicPr>
          <p:cNvPr id="10" name="Picture 9" descr="rId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898" y="1143000"/>
            <a:ext cx="7609722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Risklarni aniqlashning maqsadi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“Nimalar noto‘g‘ri ketishi mumkin?” savoliga tizimli javob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10.1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5303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371600"/>
            <a:ext cx="32004" cy="1371600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472184"/>
            <a:ext cx="5074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1D6FB8"/>
                </a:solidFill>
                <a:latin typeface="Aptos"/>
              </a:rPr>
              <a:t>Maqsad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801368"/>
            <a:ext cx="5074920" cy="8778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0364B"/>
                </a:solidFill>
                <a:latin typeface="Aptos"/>
              </a:rPr>
              <a:t>Loyiha maqsadlariga tahdid solishi yoki ularga erishishni qiyinlashtirishi mumkin bo‘lgan barcha noaniq holatlar, voqealar va omillarni topish.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303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32004" cy="137160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472184"/>
            <a:ext cx="5074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2E8B57"/>
                </a:solidFill>
                <a:latin typeface="Aptos"/>
              </a:rPr>
              <a:t>Natija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1801368"/>
            <a:ext cx="5074920" cy="8778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0364B"/>
                </a:solidFill>
                <a:latin typeface="Aptos"/>
              </a:rPr>
              <a:t>Risklar ro‘yxati / risk reyestri shakllanadi. U keyingi sifat va miqdoriy tahlillar uchun boshlang‘ich axborot bazasi bo‘lib xizmat qiladi.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840480"/>
            <a:ext cx="99669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0B5C8E"/>
                </a:solidFill>
                <a:latin typeface="Aptos Display"/>
              </a:rPr>
              <a:t>Yaxshi identifikatsiya qilingan risklar — yaxshi boshqariladigan risklarning boshlanish nuqtasi.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Risklarni aniqlash usullari —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Jamoaviy va tajribaga asoslangan vositalar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10.1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325880"/>
            <a:ext cx="32004" cy="1920240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426464"/>
            <a:ext cx="3246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D6FB8"/>
                </a:solidFill>
                <a:latin typeface="Aptos"/>
              </a:rPr>
              <a:t>Brainstorming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55648"/>
            <a:ext cx="3246120" cy="1426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0" i="0">
                <a:solidFill>
                  <a:srgbClr val="20364B"/>
                </a:solidFill>
                <a:latin typeface="Aptos"/>
              </a:rPr>
              <a:t>Jamoa a’zolari va manfaatdor tomonlar barcha ehtimoliy xavflarni erkin taklif qiladi. Dastlab hech bir g‘oya rad etilmaydi.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32588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325880"/>
            <a:ext cx="32004" cy="192024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1426464"/>
            <a:ext cx="3246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Aptos"/>
              </a:rPr>
              <a:t>Ekspert intervyusi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1755648"/>
            <a:ext cx="3246120" cy="1426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0" i="0">
                <a:solidFill>
                  <a:srgbClr val="20364B"/>
                </a:solidFill>
                <a:latin typeface="Aptos"/>
              </a:rPr>
              <a:t>Tajribali mutaxassislar bilan suhbat o‘tkazilib, avvalgi loyihalarda uchragan muammolar, ularning sabablari va oqibatlari o‘rganiladi.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32588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325880"/>
            <a:ext cx="32004" cy="192024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1426464"/>
            <a:ext cx="3246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Aptos"/>
              </a:rPr>
              <a:t>Checklist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1755648"/>
            <a:ext cx="3246120" cy="1426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0" i="0">
                <a:solidFill>
                  <a:srgbClr val="20364B"/>
                </a:solidFill>
                <a:latin typeface="Aptos"/>
              </a:rPr>
              <a:t>Oldingi tajriba asosida tuzilgan xavflar ro‘yxatidan foydalaniladi. Eng ko‘p uchraydigan risklarni unutib qoldirmaslikka yordam beradi.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0" y="388620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68880" y="3886200"/>
            <a:ext cx="32004" cy="1508760"/>
          </a:xfrm>
          <a:prstGeom prst="rect">
            <a:avLst/>
          </a:prstGeom>
          <a:solidFill>
            <a:srgbClr val="6D46D9"/>
          </a:solidFill>
          <a:ln>
            <a:solidFill>
              <a:srgbClr val="6D4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87752" y="3986784"/>
            <a:ext cx="3246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70" b="1" i="0">
                <a:solidFill>
                  <a:srgbClr val="6D46D9"/>
                </a:solidFill>
                <a:latin typeface="Aptos"/>
              </a:rPr>
              <a:t>Hujjatlarni tahlil qilish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87752" y="4315968"/>
            <a:ext cx="3246120" cy="101498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60" b="0" i="0">
                <a:solidFill>
                  <a:srgbClr val="20364B"/>
                </a:solidFill>
                <a:latin typeface="Aptos"/>
              </a:rPr>
              <a:t>Texnik topshiriq, reja, taxminlar, cheklovlar va issue log kabi hujjatlardagi noaniqlik hamda xavf omillari aniqlanadi.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88620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886200"/>
            <a:ext cx="32004" cy="1508760"/>
          </a:xfrm>
          <a:prstGeom prst="rect">
            <a:avLst/>
          </a:prstGeom>
          <a:solidFill>
            <a:srgbClr val="D94B45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86784"/>
            <a:ext cx="3246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70" b="1" i="0">
                <a:solidFill>
                  <a:srgbClr val="D94B45"/>
                </a:solidFill>
                <a:latin typeface="Aptos"/>
              </a:rPr>
              <a:t>Ildiz sabablar tahlili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4315968"/>
            <a:ext cx="3246120" cy="101498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60" b="0" i="0">
                <a:solidFill>
                  <a:srgbClr val="20364B"/>
                </a:solidFill>
                <a:latin typeface="Aptos"/>
              </a:rPr>
              <a:t>“Nega? Nega? Nega?” kabi savollar orqali potensial muammoning tub sababi aniqlanadi.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Risklarni aniqlash usullari —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Tashqi muhit va kategoriyalar bo‘yicha tahlil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10.1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417320"/>
            <a:ext cx="32004" cy="1828800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517904"/>
            <a:ext cx="3246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D6FB8"/>
                </a:solidFill>
                <a:latin typeface="Aptos"/>
              </a:rPr>
              <a:t>SWOT-tahlil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847088"/>
            <a:ext cx="324612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0364B"/>
                </a:solidFill>
                <a:latin typeface="Aptos"/>
              </a:rPr>
              <a:t>Kuchli va zaif tomonlar, imkoniyatlar va tahdidlar tahlil qilinadi. “Tahdidlar” qismi tashqi risklarni aniqlashga xizmat qiladi.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1417320"/>
            <a:ext cx="32004" cy="18288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4" y="1517904"/>
            <a:ext cx="3246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Aptos"/>
              </a:rPr>
              <a:t>PEST-tahlil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1847088"/>
            <a:ext cx="324612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0364B"/>
                </a:solidFill>
                <a:latin typeface="Aptos"/>
              </a:rPr>
              <a:t>Siyosiy, iqtisodiy, ijtimoiy va texnologik omillar o‘rganiladi: qonunchilik, bozor tendensiyasi, jamiyatdagi va texnologiyadagi o‘zgarishlar.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417320"/>
            <a:ext cx="32004" cy="182880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2" y="1517904"/>
            <a:ext cx="3246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Aptos"/>
              </a:rPr>
              <a:t>Prompt-listlar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2" y="1847088"/>
            <a:ext cx="324612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20364B"/>
                </a:solidFill>
                <a:latin typeface="Aptos"/>
              </a:rPr>
              <a:t>Oldindan tuzilgan mavzu va kategoriyalar ro‘yxati xavf omillarini tizimli eslatadi. Misol: TEMAS — texnik, ekologik, moliyaviy, axborot, siyosiy.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51960"/>
            <a:ext cx="100584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0B5C8E"/>
                </a:solidFill>
                <a:latin typeface="Aptos Display"/>
              </a:rPr>
              <a:t>Bir nechta usulni birgalikda qo‘llash risklarni to‘liqroq qamrab olish imkonini beradi.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Risk reyestri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Aniqlangan risklarni hujjatlashtirish va kuzatish vositasi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10.1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325880"/>
            <a:ext cx="32004" cy="1828800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2646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D6FB8"/>
                </a:solidFill>
                <a:latin typeface="Aptos"/>
              </a:rPr>
              <a:t>Dastlabki tarkib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755648"/>
            <a:ext cx="315468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0364B"/>
                </a:solidFill>
                <a:latin typeface="Aptos"/>
              </a:rPr>
              <a:t>Har bir riskning nomi yoki qisqacha tavsifi. Zarur hollarda sabablar va kutilayotgan oqibatlar ham kiritiladi.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325880"/>
            <a:ext cx="32004" cy="182880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42646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Aptos"/>
              </a:rPr>
              <a:t>Loyiha davomida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1755648"/>
            <a:ext cx="315468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0364B"/>
                </a:solidFill>
                <a:latin typeface="Aptos"/>
              </a:rPr>
              <a:t>Reyestr doimiy yangilanadi: yangi risklar qo‘shiladi, eskirganlari chiqariladi, ehtimollik va ta’sir baholari qayta ko‘riladi.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325880"/>
            <a:ext cx="32004" cy="18288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142646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Aptos"/>
              </a:rPr>
              <a:t>Nima uchun kerak?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1755648"/>
            <a:ext cx="315468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0364B"/>
                </a:solidFill>
                <a:latin typeface="Aptos"/>
              </a:rPr>
              <a:t>Risklar bo‘yicha yagona axborot manbai bo‘lib, tahlil, javob chorasi, mas’uliyat va monitoringni bog‘lab turadi.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60520"/>
            <a:ext cx="166116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325112"/>
            <a:ext cx="15331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D6FB8"/>
                </a:solidFill>
                <a:latin typeface="Aptos"/>
              </a:rPr>
              <a:t>Risk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374391" y="436168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11552" y="4160520"/>
            <a:ext cx="166116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6D4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75560" y="4325112"/>
            <a:ext cx="15331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6D46D9"/>
                </a:solidFill>
                <a:latin typeface="Aptos"/>
              </a:rPr>
              <a:t>Sabab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200144" y="436168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37304" y="4160520"/>
            <a:ext cx="166116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01312" y="4325112"/>
            <a:ext cx="15331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D97706"/>
                </a:solidFill>
                <a:latin typeface="Aptos"/>
              </a:rPr>
              <a:t>Oqibat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025896" y="436168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63056" y="4160520"/>
            <a:ext cx="166116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27064" y="4325112"/>
            <a:ext cx="15331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D94B45"/>
                </a:solidFill>
                <a:latin typeface="Aptos"/>
              </a:rPr>
              <a:t>Ehtimol/Ta’sir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851647" y="436168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988808" y="4160520"/>
            <a:ext cx="166116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52816" y="4325112"/>
            <a:ext cx="15331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2E8B57"/>
                </a:solidFill>
                <a:latin typeface="Aptos"/>
              </a:rPr>
              <a:t>Javob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677399" y="436168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814560" y="4160520"/>
            <a:ext cx="166116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8568" y="4325112"/>
            <a:ext cx="15331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B5C8E"/>
                </a:solidFill>
                <a:latin typeface="Aptos"/>
              </a:rPr>
              <a:t>Mas’ul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Dasturiy loyiha misolida risklar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Identifikatsiya bosqichida aniqlanishi mumkin bo‘lgan xavflar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10.1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234440"/>
            <a:ext cx="32004" cy="1691640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33502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 i="0">
                <a:solidFill>
                  <a:srgbClr val="1D6FB8"/>
                </a:solidFill>
                <a:latin typeface="Aptos"/>
              </a:rPr>
              <a:t>Texnik yechim ishlamasligi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664208"/>
            <a:ext cx="3154680" cy="11978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60" b="0" i="0">
                <a:solidFill>
                  <a:srgbClr val="20364B"/>
                </a:solidFill>
                <a:latin typeface="Aptos"/>
              </a:rPr>
              <a:t>Yangi platforma yoki texnologiya kutilmaganda ishlamay qolishi mumkin.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3444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34440"/>
            <a:ext cx="32004" cy="169164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33502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 i="0">
                <a:solidFill>
                  <a:srgbClr val="D97706"/>
                </a:solidFill>
                <a:latin typeface="Aptos"/>
              </a:rPr>
              <a:t>Byudjet oshib ketishi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1664208"/>
            <a:ext cx="3154680" cy="11978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60" b="0" i="0">
                <a:solidFill>
                  <a:srgbClr val="20364B"/>
                </a:solidFill>
                <a:latin typeface="Aptos"/>
              </a:rPr>
              <a:t>Kutilmagan xarajatlar sabab ajratilgan moliyaviy mablag‘ yetishmasligi mumkin.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23444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234440"/>
            <a:ext cx="32004" cy="1691640"/>
          </a:xfrm>
          <a:prstGeom prst="rect">
            <a:avLst/>
          </a:prstGeom>
          <a:solidFill>
            <a:srgbClr val="6D46D9"/>
          </a:solidFill>
          <a:ln>
            <a:solidFill>
              <a:srgbClr val="6D4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2" y="133502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 i="0">
                <a:solidFill>
                  <a:srgbClr val="6D46D9"/>
                </a:solidFill>
                <a:latin typeface="Aptos"/>
              </a:rPr>
              <a:t>Jadvaldan orqada qolish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2" y="1664208"/>
            <a:ext cx="3154680" cy="11978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60" b="0" i="0">
                <a:solidFill>
                  <a:srgbClr val="20364B"/>
                </a:solidFill>
                <a:latin typeface="Aptos"/>
              </a:rPr>
              <a:t>Ish hajmi noto‘g‘ri baholanishi yoki qo‘shimcha talablar muddatni cho‘zishi mumkin.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42900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429000"/>
            <a:ext cx="32004" cy="169164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52958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 i="0">
                <a:solidFill>
                  <a:srgbClr val="2E8B57"/>
                </a:solidFill>
                <a:latin typeface="Aptos"/>
              </a:rPr>
              <a:t>Kadrlar yetishmasligi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858768"/>
            <a:ext cx="3154680" cy="11978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60" b="0" i="0">
                <a:solidFill>
                  <a:srgbClr val="20364B"/>
                </a:solidFill>
                <a:latin typeface="Aptos"/>
              </a:rPr>
              <a:t>Muhim mutaxassislarning yetishmasligi yoki jamoa a’zosining loyihani tark etishi.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42900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429000"/>
            <a:ext cx="32004" cy="1691640"/>
          </a:xfrm>
          <a:prstGeom prst="rect">
            <a:avLst/>
          </a:prstGeom>
          <a:solidFill>
            <a:srgbClr val="D94B45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6552" y="352958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 i="0">
                <a:solidFill>
                  <a:srgbClr val="D94B45"/>
                </a:solidFill>
                <a:latin typeface="Aptos"/>
              </a:rPr>
              <a:t>Talablar o‘zgarishi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6552" y="3858768"/>
            <a:ext cx="3154680" cy="11978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60" b="0" i="0">
                <a:solidFill>
                  <a:srgbClr val="20364B"/>
                </a:solidFill>
                <a:latin typeface="Aptos"/>
              </a:rPr>
              <a:t>Mijozning qo‘shimcha yoki o‘zgaruvchan talablari ish hajmini kengaytirishi mumkin.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10.1-jadval. Loyiha risklarining toifalari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Riskni toifalash uning tabiatini tushunish va tegishli mutaxassisni jalb qilishni osonlashtiradi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10.1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207008"/>
          <a:ext cx="10927080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9006840"/>
              </a:tblGrid>
              <a:tr h="708006">
                <a:tc>
                  <a:txBody>
                    <a:bodyPr/>
                    <a:lstStyle/>
                    <a:p>
                      <a:pPr algn="l">
                        <a:defRPr sz="8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 turi</a:t>
                      </a:r>
                    </a:p>
                  </a:txBody>
                  <a:tcPr marL="54864" marR="54864" marT="36576" marB="36576">
                    <a:solidFill>
                      <a:srgbClr val="0B5C8E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Qisqacha tavsif</a:t>
                      </a:r>
                    </a:p>
                  </a:txBody>
                  <a:tcPr marL="54864" marR="54864" marT="36576" marB="36576">
                    <a:solidFill>
                      <a:srgbClr val="0B5C8E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Moliyaviy risk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Byudjet, moliyaviy oqim, foiz stavkalari, kapital yetishmovchiligi.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Bozor riski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Talabning kamayishi, kuchli raqobat, bozorga chiqarish natijasining kutilgan foydani bermasligi.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Texnologik risk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Uskuna/texnologiya nosozligi, yangi texnologiyani joriy etishdagi xatolar.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Tashkiliy risk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Kadrlar yetishmasligi, tajriba kamligi, boshqaruv va muvofiqlashtirishdagi kamchiliklar.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Huquqiy risk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Litsenziya, ruxsatnoma, soliq siyosati va qonunchilikdagi o‘zgarishlar.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</a:tr>
              <a:tr h="708012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Tashqi risklar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Iqtisodiy/siyosiy o‘zgarishlar, tabiiy ofatlar, pandemiya, valyuta kursi tebranishi.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Risklarni aniqlash — doimiy jarayon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Identifikatsiya loyiha boshida tugamaydi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10.1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11680"/>
            <a:ext cx="2035454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176272"/>
            <a:ext cx="190743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D6FB8"/>
                </a:solidFill>
                <a:latin typeface="Aptos"/>
              </a:rPr>
              <a:t>Boshlanish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748686" y="221284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5846" y="2011680"/>
            <a:ext cx="2035454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9854" y="2176272"/>
            <a:ext cx="190743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D97706"/>
                </a:solidFill>
                <a:latin typeface="Aptos"/>
              </a:rPr>
              <a:t>Rejalashtirish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48732" y="221284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85892" y="2011680"/>
            <a:ext cx="2035454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9900" y="2176272"/>
            <a:ext cx="190743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2E8B57"/>
                </a:solidFill>
                <a:latin typeface="Aptos"/>
              </a:rPr>
              <a:t>Ijro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48779" y="221284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85939" y="2011680"/>
            <a:ext cx="2035454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6D4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9947" y="2176272"/>
            <a:ext cx="190743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6D46D9"/>
                </a:solidFill>
                <a:latin typeface="Aptos"/>
              </a:rPr>
              <a:t>Nazorat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348825" y="221284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85985" y="2011680"/>
            <a:ext cx="2035454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9993" y="2176272"/>
            <a:ext cx="190743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B5C8E"/>
                </a:solidFill>
                <a:latin typeface="Aptos"/>
              </a:rPr>
              <a:t>Yakunlash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33756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3337560"/>
            <a:ext cx="32004" cy="1508760"/>
          </a:xfrm>
          <a:prstGeom prst="rect">
            <a:avLst/>
          </a:prstGeom>
          <a:solidFill>
            <a:srgbClr val="D94B45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1" y="3438144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 i="0">
                <a:solidFill>
                  <a:srgbClr val="D94B45"/>
                </a:solidFill>
                <a:latin typeface="Aptos"/>
              </a:rPr>
              <a:t>Nega takrorlanadi?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1" y="3767328"/>
            <a:ext cx="4846320" cy="101498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0364B"/>
                </a:solidFill>
                <a:latin typeface="Aptos"/>
              </a:rPr>
              <a:t>Loyiha rivojlangan sari yangi xavflar paydo bo‘lishi, dastlab kichik ko‘ringan risklar jiddiylashishi yoki ayrim risklar dolzarbligini yo‘qotishi mumkin.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33756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337560"/>
            <a:ext cx="32004" cy="150876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3438144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 i="0">
                <a:solidFill>
                  <a:srgbClr val="2E8B57"/>
                </a:solidFill>
                <a:latin typeface="Aptos"/>
              </a:rPr>
              <a:t>Amaliy natija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3767328"/>
            <a:ext cx="4846320" cy="101498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0364B"/>
                </a:solidFill>
                <a:latin typeface="Aptos"/>
              </a:rPr>
              <a:t>Risk reyestri muntazam ravishda yangilanadi. Toifalash va qayta baholash orqali e’tibor va resurslar eng dolzarb xavflarga yo‘naltiriladi.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71800" cy="685800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10.2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148840" cy="1828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ptos Display"/>
              </a:rPr>
              <a:t>RISKLARNI
SIFAT TAHLILI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03320" y="2148840"/>
            <a:ext cx="7040880" cy="12801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Aptos Display"/>
              </a:rPr>
              <a:t>Qaysi riskga birinchi navbatda e’tibor berish kerak?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3520440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B7F91"/>
                </a:solidFill>
                <a:latin typeface="Aptos"/>
              </a:rPr>
              <a:t>Darslikdagi bo‘lim mazmuni asosida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Risklarni sifat tahlili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Aniqlangan xavflarni ustuvorlik darajasiga ko‘ra tartiblash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10.2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325880"/>
            <a:ext cx="32004" cy="1828800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2646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D6FB8"/>
                </a:solidFill>
                <a:latin typeface="Aptos"/>
              </a:rPr>
              <a:t>Ta’rif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755648"/>
            <a:ext cx="315468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0364B"/>
                </a:solidFill>
                <a:latin typeface="Aptos"/>
              </a:rPr>
              <a:t>Har bir riskning sodir bo‘lish ehtimoli va yuz bergandagi ta’siri taxminan baholanadi. Natija nisbiy kategoriyalarda ifodalanadi.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325880"/>
            <a:ext cx="32004" cy="182880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42646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Aptos"/>
              </a:rPr>
              <a:t>Asos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1755648"/>
            <a:ext cx="315468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0364B"/>
                </a:solidFill>
                <a:latin typeface="Aptos"/>
              </a:rPr>
              <a:t>Ekspert baholari, jamoaviy muhokamalar, avvalgi loyihalar tajribasi va “past–o‘rta–yuqori” kabi kategoriyalar.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325880"/>
            <a:ext cx="32004" cy="18288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142646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Aptos"/>
              </a:rPr>
              <a:t>Afzallik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1755648"/>
            <a:ext cx="315468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0364B"/>
                </a:solidFill>
                <a:latin typeface="Aptos"/>
              </a:rPr>
              <a:t>Tezkor, moslashuvchan va murakkab statistik hisob-kitoblarsiz asosiy xavflarni ajratib ko‘rsatadi.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60520"/>
            <a:ext cx="101498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0B5C8E"/>
                </a:solidFill>
                <a:latin typeface="Aptos Display"/>
              </a:rPr>
              <a:t>Asosiy vazifa: risklar ustuvorligini belgilash.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Sifat tahlilining ikki asosiy mezoni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Riskni baholash: ehtimollik + ta’sir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10.2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463040"/>
            <a:ext cx="48463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1463040"/>
            <a:ext cx="32004" cy="2057400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1563624"/>
            <a:ext cx="4617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D6FB8"/>
                </a:solidFill>
                <a:latin typeface="Aptos"/>
              </a:rPr>
              <a:t>Ehtimollik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1892808"/>
            <a:ext cx="4617720" cy="1563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0364B"/>
                </a:solidFill>
                <a:latin typeface="Aptos"/>
              </a:rPr>
              <a:t>Riskning sodir bo‘lish imkoniyati. Past / o‘rta / yuqori yoki foizlarda: 10%, 30%, 80% va hokazo.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48463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32004" cy="20574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1563624"/>
            <a:ext cx="4617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Aptos"/>
              </a:rPr>
              <a:t>Ta’sir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1892808"/>
            <a:ext cx="4617720" cy="1563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0364B"/>
                </a:solidFill>
                <a:latin typeface="Aptos"/>
              </a:rPr>
              <a:t>Risk sodir bo‘lganda loyiha maqsadlariga yetkazadigan zarar ko‘lami. Past / o‘rta / yuqori yoki balli mezonlarda baholanadi.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251960"/>
            <a:ext cx="81381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300" b="1" i="0">
                <a:solidFill>
                  <a:srgbClr val="D94B45"/>
                </a:solidFill>
                <a:latin typeface="Aptos Display"/>
              </a:rPr>
              <a:t>Ustuvorlik ≈ ehtimollik × ta’sir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10.2-rasm. Ehtimollik–ta’sir matritsasi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5×5 formatdagi vizual ustuvorlashtirish vositasi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10.2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17</a:t>
            </a:r>
          </a:p>
        </p:txBody>
      </p:sp>
      <p:pic>
        <p:nvPicPr>
          <p:cNvPr id="10" name="Picture 9" descr="rId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342" y="1078992"/>
            <a:ext cx="7746835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Risk matritsasini qanday o‘qish kerak?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Yashil → sariq → qizil zonalar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10.2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3337560" cy="2103120"/>
          </a:xfrm>
          <a:prstGeom prst="roundRect">
            <a:avLst/>
          </a:prstGeom>
          <a:solidFill>
            <a:srgbClr val="EDF7F1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417320"/>
            <a:ext cx="32004" cy="210312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517904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 i="0">
                <a:solidFill>
                  <a:srgbClr val="2E8B57"/>
                </a:solidFill>
                <a:latin typeface="Aptos"/>
              </a:rPr>
              <a:t>Yashil zona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847088"/>
            <a:ext cx="3108960" cy="160934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20364B"/>
                </a:solidFill>
                <a:latin typeface="Aptos"/>
              </a:rPr>
              <a:t>Ehtimolligi va/yoki ta’siri past. Jiddiy choralar talab qilmasligi mumkin, lekin monitoring davom etadi.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1417320"/>
            <a:ext cx="3337560" cy="2103120"/>
          </a:xfrm>
          <a:prstGeom prst="roundRect">
            <a:avLst/>
          </a:prstGeom>
          <a:solidFill>
            <a:srgbClr val="FFF4E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7408" y="1417320"/>
            <a:ext cx="32004" cy="210312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517904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 i="0">
                <a:solidFill>
                  <a:srgbClr val="D97706"/>
                </a:solidFill>
                <a:latin typeface="Aptos"/>
              </a:rPr>
              <a:t>Sariq zona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847088"/>
            <a:ext cx="3108960" cy="160934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20364B"/>
                </a:solidFill>
                <a:latin typeface="Aptos"/>
              </a:rPr>
              <a:t>O‘rta darajadagi xavf. Ehtiyot choralari, qo‘shimcha tahlil va tegishli nazorat talab qilinadi.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417320"/>
            <a:ext cx="3337560" cy="2103120"/>
          </a:xfrm>
          <a:prstGeom prst="roundRect">
            <a:avLst/>
          </a:prstGeom>
          <a:solidFill>
            <a:srgbClr val="FFF0F0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3296" y="1417320"/>
            <a:ext cx="32004" cy="2103120"/>
          </a:xfrm>
          <a:prstGeom prst="rect">
            <a:avLst/>
          </a:prstGeom>
          <a:solidFill>
            <a:srgbClr val="D94B45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1517904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 i="0">
                <a:solidFill>
                  <a:srgbClr val="D94B45"/>
                </a:solidFill>
                <a:latin typeface="Aptos"/>
              </a:rPr>
              <a:t>Qizil zona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1847088"/>
            <a:ext cx="3108960" cy="160934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20364B"/>
                </a:solidFill>
                <a:latin typeface="Aptos"/>
              </a:rPr>
              <a:t>Yuqori xavf. Eng avvalo ko‘rib chiqilishi va nazoratga olinishi lozim bo‘lgan ustuvor risklar.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251960"/>
            <a:ext cx="1014984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0B5C8E"/>
                </a:solidFill>
                <a:latin typeface="Aptos Display"/>
              </a:rPr>
              <a:t>Matritsa risklarni tezda vizual ravishda ustuvorlashtirish imkonini beradi.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Balli baholash usuli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1–5 ballik ehtimollik va ta’sir baholari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10.2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17320"/>
            <a:ext cx="3154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417320"/>
            <a:ext cx="32004" cy="1371600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517904"/>
            <a:ext cx="2926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D6FB8"/>
                </a:solidFill>
                <a:latin typeface="Aptos"/>
              </a:rPr>
              <a:t>1. Ehtimollik bali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1847088"/>
            <a:ext cx="2926080" cy="8778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0364B"/>
                </a:solidFill>
                <a:latin typeface="Aptos"/>
              </a:rPr>
              <a:t>1 — juda past, 5 — juda yuqori.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417320"/>
            <a:ext cx="3154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1417320"/>
            <a:ext cx="32004" cy="13716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517904"/>
            <a:ext cx="2926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Aptos"/>
              </a:rPr>
              <a:t>2. Ta’sir bali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1847088"/>
            <a:ext cx="2926080" cy="8778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0364B"/>
                </a:solidFill>
                <a:latin typeface="Aptos"/>
              </a:rPr>
              <a:t>1 — juda past, 5 — juda yuqori.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417320"/>
            <a:ext cx="3154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1417320"/>
            <a:ext cx="32004" cy="1371600"/>
          </a:xfrm>
          <a:prstGeom prst="rect">
            <a:avLst/>
          </a:prstGeom>
          <a:solidFill>
            <a:srgbClr val="D94B45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1517904"/>
            <a:ext cx="2926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D94B45"/>
                </a:solidFill>
                <a:latin typeface="Aptos"/>
              </a:rPr>
              <a:t>3. Risk darajasi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1847088"/>
            <a:ext cx="2926080" cy="8778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0364B"/>
                </a:solidFill>
                <a:latin typeface="Aptos"/>
              </a:rPr>
              <a:t>Risk bali = P × T. Minimum 1, maksimum 25.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794760"/>
            <a:ext cx="923544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0B5C8E"/>
                </a:solidFill>
                <a:latin typeface="Aptos Display"/>
              </a:rPr>
              <a:t>Misol: P = 4, T = 5 → Risk darajasi = 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800600"/>
            <a:ext cx="98755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0" i="0">
                <a:solidFill>
                  <a:srgbClr val="6B7F91"/>
                </a:solidFill>
                <a:latin typeface="Aptos"/>
              </a:rPr>
              <a:t>Balli tizim turli risklarni bir xil mezonda taqqoslash va ustuvorlashtirishga yordam beradi.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10.2-jadval. Risklarni balli baholash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Risk darajasi va dastlabki javob choralariga misol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10.2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20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" y="1280160"/>
          <a:ext cx="109728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97280"/>
                <a:gridCol w="1097280"/>
                <a:gridCol w="731520"/>
                <a:gridCol w="5303520"/>
              </a:tblGrid>
              <a:tr h="850392"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 nomi</a:t>
                      </a:r>
                    </a:p>
                  </a:txBody>
                  <a:tcPr marL="54864" marR="54864" marT="36576" marB="36576">
                    <a:solidFill>
                      <a:srgbClr val="0B5C8E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Ehtimol</a:t>
                      </a:r>
                    </a:p>
                    <a:p>
                      <a:pPr algn="l"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(1–5)</a:t>
                      </a:r>
                    </a:p>
                  </a:txBody>
                  <a:tcPr marL="54864" marR="54864" marT="36576" marB="36576">
                    <a:solidFill>
                      <a:srgbClr val="0B5C8E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Ta’sir</a:t>
                      </a:r>
                    </a:p>
                    <a:p>
                      <a:pPr algn="l"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(1–5)</a:t>
                      </a:r>
                    </a:p>
                  </a:txBody>
                  <a:tcPr marL="54864" marR="54864" marT="36576" marB="36576">
                    <a:solidFill>
                      <a:srgbClr val="0B5C8E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P×T</a:t>
                      </a:r>
                    </a:p>
                  </a:txBody>
                  <a:tcPr marL="54864" marR="54864" marT="36576" marB="36576">
                    <a:solidFill>
                      <a:srgbClr val="0B5C8E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Dastlabki javob chorasi</a:t>
                      </a:r>
                    </a:p>
                  </a:txBody>
                  <a:tcPr marL="54864" marR="54864" marT="36576" marB="36576">
                    <a:solidFill>
                      <a:srgbClr val="0B5C8E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Moliyaviy oqim uzilishi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20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Sug‘urta; zaxira moliyaviy fond.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Bozor talabi pasayishi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Marketing strategiyasini o‘zgartirish, moslashish.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Texnik nosozlik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Zaxira uskuna va texnologiyalarni tayyor saqlash.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Kadrlar yetishmasligi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20364B"/>
                          </a:solidFill>
                          <a:latin typeface="Aptos"/>
                        </a:defRPr>
                      </a:pPr>
                      <a:r>
                        <a:t>Qo‘shimcha mutaxassis tayyorlash; trening va motivatsiya.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6350">
                      <a:solidFill>
                        <a:srgbClr val="D7E0E8"/>
                      </a:solidFill>
                    </a:lnL>
                    <a:lnR w="6350">
                      <a:solidFill>
                        <a:srgbClr val="D7E0E8"/>
                      </a:solidFill>
                    </a:lnR>
                    <a:lnT w="6350">
                      <a:solidFill>
                        <a:srgbClr val="D7E0E8"/>
                      </a:solidFill>
                    </a:lnT>
                    <a:lnB w="6350">
                      <a:solidFill>
                        <a:srgbClr val="D7E0E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97280" y="5715000"/>
            <a:ext cx="9875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 i="0">
                <a:solidFill>
                  <a:srgbClr val="D94B45"/>
                </a:solidFill>
                <a:latin typeface="Aptos"/>
              </a:rPr>
              <a:t>Eng yuqori ball (20): moliyaviy oqim uzilishi → birinchi navbatda choralar ko‘riladi.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Sifat tahlilining cheklovi: subyektivlik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Baholar tajriba va qarashlarga bog‘liq bo‘lishi mumkin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10.2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417320"/>
            <a:ext cx="32004" cy="1828800"/>
          </a:xfrm>
          <a:prstGeom prst="rect">
            <a:avLst/>
          </a:prstGeom>
          <a:solidFill>
            <a:srgbClr val="D94B45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517904"/>
            <a:ext cx="4937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30" b="1" i="0">
                <a:solidFill>
                  <a:srgbClr val="D94B45"/>
                </a:solidFill>
                <a:latin typeface="Aptos"/>
              </a:rPr>
              <a:t>Muammo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847088"/>
            <a:ext cx="493776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80" b="0" i="0">
                <a:solidFill>
                  <a:srgbClr val="20364B"/>
                </a:solidFill>
                <a:latin typeface="Aptos"/>
              </a:rPr>
              <a:t>Jamoa a’zolari bir riskni turlicha baholashi mumkin. Tarafkashlik yoki haddan tashqari optimizm/pessimizm natijaga ta’sir qiladi.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32004" cy="182880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517904"/>
            <a:ext cx="4937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30" b="1" i="0">
                <a:solidFill>
                  <a:srgbClr val="2E8B57"/>
                </a:solidFill>
                <a:latin typeface="Aptos"/>
              </a:rPr>
              <a:t>Kamaytirish yo‘llari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847088"/>
            <a:ext cx="493776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40" b="0" i="0">
                <a:solidFill>
                  <a:srgbClr val="20364B"/>
                </a:solidFill>
                <a:latin typeface="Aptos"/>
              </a:rPr>
              <a:t>Bir nechta ekspert fikrini jalb qilish • muhokama o‘tkazish • mezonlarni oldindan kelishish • zarur bo‘lsa mustaqil fasilitator xizmatidan foydalanish.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60520"/>
            <a:ext cx="95097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0B5C8E"/>
                </a:solidFill>
                <a:latin typeface="Aptos Display"/>
              </a:rPr>
              <a:t>Sifat tahlili yakuni → ustuvor risklar ro‘yxati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029200"/>
            <a:ext cx="98755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80" b="0" i="0">
                <a:solidFill>
                  <a:srgbClr val="6B7F91"/>
                </a:solidFill>
                <a:latin typeface="Aptos"/>
              </a:rPr>
              <a:t>Faqat eng muhim risklar zarur hollarda miqdoriy tahlilga o‘tkaziladi; qolganlari reyestrda saqlanib, monitoring qilinadi.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71800" cy="685800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10.3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148840" cy="1828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ptos Display"/>
              </a:rPr>
              <a:t>RISKLARNI
MIQDORIY TAHLILI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03320" y="2148840"/>
            <a:ext cx="7040880" cy="12801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Aptos Display"/>
              </a:rPr>
              <a:t>Riskning loyiha muddatiga va xarajatiga aniq sonli ta’siri qancha?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3520440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B7F91"/>
                </a:solidFill>
                <a:latin typeface="Aptos"/>
              </a:rPr>
              <a:t>Darslikdagi bo‘lim mazmuni asosida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Miqdoriy risk tahlili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Risk ta’sirini raqamlar va statistik ko‘rsatkichlar orqali baholash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10.3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325880"/>
            <a:ext cx="32004" cy="1828800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42646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D6FB8"/>
                </a:solidFill>
                <a:latin typeface="Aptos"/>
              </a:rPr>
              <a:t>Nima baholanadi?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755648"/>
            <a:ext cx="315468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0364B"/>
                </a:solidFill>
                <a:latin typeface="Aptos"/>
              </a:rPr>
              <a:t>Kechikish muddati, qo‘shimcha xarajat, loyiha muvaffaqiyat ehtimoli va boshqa sonli ko‘rsatkichlar.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325880"/>
            <a:ext cx="32004" cy="18288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42646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Aptos"/>
              </a:rPr>
              <a:t>Qachon qo‘llanadi?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1755648"/>
            <a:ext cx="315468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0364B"/>
                </a:solidFill>
                <a:latin typeface="Aptos"/>
              </a:rPr>
              <a:t>Yirik, murakkab yoki yuqori riskli loyihalarda. Kichik loyihalarda resurs va vaqt sabab ixtiyoriy bo‘lishi mumkin.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325880"/>
            <a:ext cx="32004" cy="182880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142646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Aptos"/>
              </a:rPr>
              <a:t>Talablar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1755648"/>
            <a:ext cx="315468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0364B"/>
                </a:solidFill>
                <a:latin typeface="Aptos"/>
              </a:rPr>
              <a:t>Ko‘proq ma’lumot, vaqt, maxsus bilim va vositalar talab etadi. Natijasi boshqaruv qarorlarini dalillar bilan asoslaydi.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104241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50" b="1" i="0">
                <a:solidFill>
                  <a:srgbClr val="0B5C8E"/>
                </a:solidFill>
                <a:latin typeface="Aptos Display"/>
              </a:rPr>
              <a:t>Sifat tahlili — “qaysi risk muhim?”; miqdoriy tahlil — “uning ta’siri qancha?”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Miqdoriy tahlilning asosiy usullari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Loyihadagi noaniqliklarni sonli ifodalash vositalari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10.3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28016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280160"/>
            <a:ext cx="32004" cy="1645920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38074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60" b="1" i="0">
                <a:solidFill>
                  <a:srgbClr val="1D6FB8"/>
                </a:solidFill>
                <a:latin typeface="Aptos"/>
              </a:rPr>
              <a:t>EMV va ehtimollar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09928"/>
            <a:ext cx="3154680" cy="11521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0" i="0">
                <a:solidFill>
                  <a:srgbClr val="20364B"/>
                </a:solidFill>
                <a:latin typeface="Aptos"/>
              </a:rPr>
              <a:t>Kutilayotgan pul qiymati va statistik hisob-kitoblar.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28016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280160"/>
            <a:ext cx="32004" cy="164592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138074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60" b="1" i="0">
                <a:solidFill>
                  <a:srgbClr val="2E8B57"/>
                </a:solidFill>
                <a:latin typeface="Aptos"/>
              </a:rPr>
              <a:t>Monte-Karlo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1709928"/>
            <a:ext cx="3154680" cy="11521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0" i="0">
                <a:solidFill>
                  <a:srgbClr val="20364B"/>
                </a:solidFill>
                <a:latin typeface="Aptos"/>
              </a:rPr>
              <a:t>Minglab ssenariylarni kompyuterda simulyatsiya qilish.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28016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19" y="1280160"/>
            <a:ext cx="32004" cy="164592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138074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60" b="1" i="0">
                <a:solidFill>
                  <a:srgbClr val="D97706"/>
                </a:solidFill>
                <a:latin typeface="Aptos"/>
              </a:rPr>
              <a:t>Tornado diagrammasi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1709928"/>
            <a:ext cx="3154680" cy="11521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0" i="0">
                <a:solidFill>
                  <a:srgbClr val="20364B"/>
                </a:solidFill>
                <a:latin typeface="Aptos"/>
              </a:rPr>
              <a:t>Eng ta’sirchan risk omillarini aniqlash.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42900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429000"/>
            <a:ext cx="32004" cy="1645920"/>
          </a:xfrm>
          <a:prstGeom prst="rect">
            <a:avLst/>
          </a:prstGeom>
          <a:solidFill>
            <a:srgbClr val="6D46D9"/>
          </a:solidFill>
          <a:ln>
            <a:solidFill>
              <a:srgbClr val="6D4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52958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60" b="1" i="0">
                <a:solidFill>
                  <a:srgbClr val="6D46D9"/>
                </a:solidFill>
                <a:latin typeface="Aptos"/>
              </a:rPr>
              <a:t>Qarorlar daraxti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3858768"/>
            <a:ext cx="3154680" cy="11521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0" i="0">
                <a:solidFill>
                  <a:srgbClr val="20364B"/>
                </a:solidFill>
                <a:latin typeface="Aptos"/>
              </a:rPr>
              <a:t>Variantlar, ehtimollar va natijalarni tarmoqlangan grafikda tahlil qilish.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42900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429000"/>
            <a:ext cx="32004" cy="1645920"/>
          </a:xfrm>
          <a:prstGeom prst="rect">
            <a:avLst/>
          </a:prstGeom>
          <a:solidFill>
            <a:srgbClr val="D94B45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352958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60" b="1" i="0">
                <a:solidFill>
                  <a:srgbClr val="D94B45"/>
                </a:solidFill>
                <a:latin typeface="Aptos"/>
              </a:rPr>
              <a:t>Delphi / ekspert bahosi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3858768"/>
            <a:ext cx="3154680" cy="11521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70" b="0" i="0">
                <a:solidFill>
                  <a:srgbClr val="20364B"/>
                </a:solidFill>
                <a:latin typeface="Aptos"/>
              </a:rPr>
              <a:t>Statistika yetishmaganda bir nechta ekspertning sonli baholarini birlashtirish.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Kutilayotgan pul qiymati — EMV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Ehtimollik × zarar miqdori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10.3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417320"/>
            <a:ext cx="63093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 i="0">
                <a:solidFill>
                  <a:srgbClr val="0B5C8E"/>
                </a:solidFill>
                <a:latin typeface="Aptos Display"/>
              </a:rPr>
              <a:t>EMV = P × 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2560320"/>
            <a:ext cx="8321040" cy="1463040"/>
          </a:xfrm>
          <a:prstGeom prst="roundRect">
            <a:avLst/>
          </a:prstGeom>
          <a:solidFill>
            <a:srgbClr val="FFF4E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20240" y="2560320"/>
            <a:ext cx="32004" cy="146304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9112" y="2660903"/>
            <a:ext cx="80924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1" i="0">
                <a:solidFill>
                  <a:srgbClr val="D97706"/>
                </a:solidFill>
                <a:latin typeface="Aptos"/>
              </a:rPr>
              <a:t>Misol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9112" y="2990087"/>
            <a:ext cx="8092440" cy="9692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0364B"/>
                </a:solidFill>
                <a:latin typeface="Aptos"/>
              </a:rPr>
              <a:t>Risk sodir bo‘lish ehtimoli 50% va zarar 1 000 000 000 so‘m bo‘lsa: EMV = 0,5 × 1 000 000 000 = 500 000 000 so‘m.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572000"/>
            <a:ext cx="1010412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0" i="0">
                <a:solidFill>
                  <a:srgbClr val="20364B"/>
                </a:solidFill>
                <a:latin typeface="Aptos"/>
              </a:rPr>
              <a:t>Bir nechta risk mavjud bo‘lsa, ularning kutilayotgan ta’siri yig‘indisi loyiha bo‘yicha umumiy kutilayotgan yo‘qotishni baholashga yordam beradi.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Monte-Karlo simulyatsiyasi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Minglab ssenariylar orqali muddat va xarajat ehtimollarini baholash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10.3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2459736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993392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D6FB8"/>
                </a:solidFill>
                <a:latin typeface="Aptos"/>
              </a:rPr>
              <a:t>Kirish taqsimotlari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401568" y="202996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38728" y="1828800"/>
            <a:ext cx="2459736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6D4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1993392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6D46D9"/>
                </a:solidFill>
                <a:latin typeface="Aptos"/>
              </a:rPr>
              <a:t>Minglab simulyatsiya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25896" y="202996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63056" y="1828800"/>
            <a:ext cx="2459736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4" y="1993392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D97706"/>
                </a:solidFill>
                <a:latin typeface="Aptos"/>
              </a:rPr>
              <a:t>Natija taqsimoti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50224" y="202996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87384" y="1828800"/>
            <a:ext cx="2459736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51392" y="1993392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2E8B57"/>
                </a:solidFill>
                <a:latin typeface="Aptos"/>
              </a:rPr>
              <a:t>Qaror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3246120"/>
            <a:ext cx="9692640" cy="1417320"/>
          </a:xfrm>
          <a:prstGeom prst="roundRect">
            <a:avLst/>
          </a:prstGeom>
          <a:solidFill>
            <a:srgbClr val="EDF6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88720" y="3246120"/>
            <a:ext cx="32004" cy="1417320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07592" y="3346703"/>
            <a:ext cx="9464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80" b="1" i="0">
                <a:solidFill>
                  <a:srgbClr val="1D6FB8"/>
                </a:solidFill>
                <a:latin typeface="Aptos"/>
              </a:rPr>
              <a:t>Natija misoli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7592" y="3675887"/>
            <a:ext cx="9464040" cy="9235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10" b="0" i="0">
                <a:solidFill>
                  <a:srgbClr val="20364B"/>
                </a:solidFill>
                <a:latin typeface="Aptos"/>
              </a:rPr>
              <a:t>“Loyiha 10 oy ichida yakunlanish ehtimoli — 85%.” Bunday xulosa jadvalga zaxira vaqt qo‘shish yoki qo‘shimcha resurs jalb qilish qarorini asoslaydi.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166360"/>
            <a:ext cx="8046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6B7F91"/>
                </a:solidFill>
                <a:latin typeface="Aptos"/>
              </a:rPr>
              <a:t>Ko‘proq murakkab va yirik loyihalarda qo‘llanadi.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Tornado diagrammasi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Loyiha natijasiga eng katta ta’sir ko‘rsatuvchi omillarni aniqlash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10.3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4475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20364B"/>
                </a:solidFill>
                <a:latin typeface="Aptos"/>
              </a:rPr>
              <a:t>Talab o‘zgarishi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417320"/>
            <a:ext cx="6309359" cy="347472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55480" y="1490472"/>
            <a:ext cx="4572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B7F91"/>
                </a:solidFill>
                <a:latin typeface="Aptos"/>
              </a:rPr>
              <a:t>9.2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9456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20364B"/>
                </a:solidFill>
                <a:latin typeface="Aptos"/>
              </a:rPr>
              <a:t>Valyuta kursi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2167128"/>
            <a:ext cx="5074920" cy="34747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240280"/>
            <a:ext cx="4572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B7F91"/>
                </a:solidFill>
                <a:latin typeface="Aptos"/>
              </a:rPr>
              <a:t>7.4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944368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20364B"/>
                </a:solidFill>
                <a:latin typeface="Aptos"/>
              </a:rPr>
              <a:t>Texnik nosozlik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80" y="2916936"/>
            <a:ext cx="4046220" cy="34747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2340" y="2990088"/>
            <a:ext cx="4572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B7F91"/>
                </a:solidFill>
                <a:latin typeface="Aptos"/>
              </a:rPr>
              <a:t>5.9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94176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20364B"/>
                </a:solidFill>
                <a:latin typeface="Aptos"/>
              </a:rPr>
              <a:t>Kadrlar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3666744"/>
            <a:ext cx="2880360" cy="347472"/>
          </a:xfrm>
          <a:prstGeom prst="rect">
            <a:avLst/>
          </a:prstGeom>
          <a:solidFill>
            <a:srgbClr val="6D46D9"/>
          </a:solidFill>
          <a:ln>
            <a:solidFill>
              <a:srgbClr val="6D4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739896"/>
            <a:ext cx="4572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B7F91"/>
                </a:solidFill>
                <a:latin typeface="Aptos"/>
              </a:rPr>
              <a:t>4.2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443984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20364B"/>
                </a:solidFill>
                <a:latin typeface="Aptos"/>
              </a:rPr>
              <a:t>Ob-havo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4416552"/>
            <a:ext cx="1851660" cy="347472"/>
          </a:xfrm>
          <a:prstGeom prst="rect">
            <a:avLst/>
          </a:prstGeom>
          <a:solidFill>
            <a:srgbClr val="D94B45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97780" y="4489704"/>
            <a:ext cx="4572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B7F91"/>
                </a:solidFill>
                <a:latin typeface="Aptos"/>
              </a:rPr>
              <a:t>2.7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0B5C8E"/>
                </a:solidFill>
                <a:latin typeface="Aptos"/>
              </a:rPr>
              <a:t>Eng uzun bar → loyiha natijasiga eng kuchli ta’sir qiluvchi risk omili.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Qarorlar daraxti tahlili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Variantlar, ehtimollar va natijalarni birgalikda ko‘rish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10.3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34640"/>
            <a:ext cx="1600200" cy="640080"/>
          </a:xfrm>
          <a:prstGeom prst="roundRect">
            <a:avLst/>
          </a:prstGeom>
          <a:solidFill>
            <a:srgbClr val="EDF6FB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54096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0B5C8E"/>
                </a:solidFill>
                <a:latin typeface="Aptos"/>
              </a:rPr>
              <a:t>QAROR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325880"/>
            <a:ext cx="1645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517904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9" b="1" i="0">
                <a:solidFill>
                  <a:srgbClr val="1D6FB8"/>
                </a:solidFill>
                <a:latin typeface="Aptos"/>
              </a:rPr>
              <a:t>Variant A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423160" y="1609344"/>
            <a:ext cx="1234440" cy="1545336"/>
          </a:xfrm>
          <a:prstGeom prst="line">
            <a:avLst/>
          </a:prstGeom>
          <a:ln w="17780">
            <a:solidFill>
              <a:srgbClr val="6B7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0" y="1097280"/>
            <a:ext cx="19659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261872"/>
            <a:ext cx="187451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 i="0">
                <a:solidFill>
                  <a:srgbClr val="2E8B57"/>
                </a:solidFill>
                <a:latin typeface="Aptos"/>
              </a:rPr>
              <a:t>70% → foyda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303520" y="1335024"/>
            <a:ext cx="1097280" cy="274320"/>
          </a:xfrm>
          <a:prstGeom prst="line">
            <a:avLst/>
          </a:prstGeom>
          <a:ln w="15240">
            <a:solidFill>
              <a:srgbClr val="6B7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0800" y="2039112"/>
            <a:ext cx="19659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203704"/>
            <a:ext cx="187451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 i="0">
                <a:solidFill>
                  <a:srgbClr val="D94B45"/>
                </a:solidFill>
                <a:latin typeface="Aptos"/>
              </a:rPr>
              <a:t>30% → zarar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03520" y="1609344"/>
            <a:ext cx="1097280" cy="667512"/>
          </a:xfrm>
          <a:prstGeom prst="line">
            <a:avLst/>
          </a:prstGeom>
          <a:ln w="15240">
            <a:solidFill>
              <a:srgbClr val="6B7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657600" y="4069080"/>
            <a:ext cx="16459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4261104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9" b="1" i="0">
                <a:solidFill>
                  <a:srgbClr val="D97706"/>
                </a:solidFill>
                <a:latin typeface="Aptos"/>
              </a:rPr>
              <a:t>Variant 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23160" y="3154680"/>
            <a:ext cx="1234440" cy="1197864"/>
          </a:xfrm>
          <a:prstGeom prst="line">
            <a:avLst/>
          </a:prstGeom>
          <a:ln w="17780">
            <a:solidFill>
              <a:srgbClr val="6B7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0" y="3840480"/>
            <a:ext cx="19659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05072"/>
            <a:ext cx="187451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 i="0">
                <a:solidFill>
                  <a:srgbClr val="2E8B57"/>
                </a:solidFill>
                <a:latin typeface="Aptos"/>
              </a:rPr>
              <a:t>50% → foyda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5303520" y="4078224"/>
            <a:ext cx="1097280" cy="274320"/>
          </a:xfrm>
          <a:prstGeom prst="line">
            <a:avLst/>
          </a:prstGeom>
          <a:ln w="15240">
            <a:solidFill>
              <a:srgbClr val="6B7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400800" y="4782312"/>
            <a:ext cx="19659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946904"/>
            <a:ext cx="187451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 i="0">
                <a:solidFill>
                  <a:srgbClr val="D94B45"/>
                </a:solidFill>
                <a:latin typeface="Aptos"/>
              </a:rPr>
              <a:t>50% → zarar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03520" y="4352544"/>
            <a:ext cx="1097280" cy="667512"/>
          </a:xfrm>
          <a:prstGeom prst="line">
            <a:avLst/>
          </a:prstGeom>
          <a:ln w="15240">
            <a:solidFill>
              <a:srgbClr val="6B7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823960" y="2057400"/>
            <a:ext cx="2514600" cy="2148840"/>
          </a:xfrm>
          <a:prstGeom prst="roundRect">
            <a:avLst/>
          </a:prstGeom>
          <a:solidFill>
            <a:srgbClr val="EDF6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23960" y="2057400"/>
            <a:ext cx="32004" cy="214884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42832" y="2157984"/>
            <a:ext cx="2286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60" b="1" i="0">
                <a:solidFill>
                  <a:srgbClr val="0B5C8E"/>
                </a:solidFill>
                <a:latin typeface="Aptos"/>
              </a:rPr>
              <a:t>Maqsad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42832" y="2487168"/>
            <a:ext cx="2286000" cy="1655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0" b="0" i="0">
                <a:solidFill>
                  <a:srgbClr val="20364B"/>
                </a:solidFill>
                <a:latin typeface="Aptos"/>
              </a:rPr>
              <a:t>Har bir shoxlanishning ehtimoli va natijasi hisoblanib, kutilma qiymatlar taqqoslanadi. Bu qaysi variant xavf va samara nuqtayi nazaridan ma’qul ekanini asoslashga yordam beradi.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Ekspertlarning miqdoriy bahosi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Statistik ma’lumotlar yetishmaganda Delphi usulidan foydalanish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10.3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204459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993392"/>
            <a:ext cx="191658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D6FB8"/>
                </a:solidFill>
                <a:latin typeface="Aptos"/>
              </a:rPr>
              <a:t>Ekspert 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757830" y="202996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94990" y="1828800"/>
            <a:ext cx="204459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8998" y="1993392"/>
            <a:ext cx="191658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2E8B57"/>
                </a:solidFill>
                <a:latin typeface="Aptos"/>
              </a:rPr>
              <a:t>Ekspert 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67020" y="202996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04180" y="1828800"/>
            <a:ext cx="204459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8188" y="1993392"/>
            <a:ext cx="191658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D97706"/>
                </a:solidFill>
                <a:latin typeface="Aptos"/>
              </a:rPr>
              <a:t>Ekspert 3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76211" y="202996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3371" y="1828800"/>
            <a:ext cx="204459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6D4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7379" y="1993392"/>
            <a:ext cx="191658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6D46D9"/>
                </a:solidFill>
                <a:latin typeface="Aptos"/>
              </a:rPr>
              <a:t>Fikrlarni taqqoslash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385401" y="202996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22561" y="1828800"/>
            <a:ext cx="204459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86569" y="1993392"/>
            <a:ext cx="191658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B5C8E"/>
                </a:solidFill>
                <a:latin typeface="Aptos"/>
              </a:rPr>
              <a:t>Umumiy baho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337560"/>
            <a:ext cx="9966960" cy="1417320"/>
          </a:xfrm>
          <a:prstGeom prst="roundRect">
            <a:avLst/>
          </a:prstGeom>
          <a:solidFill>
            <a:srgbClr val="EDF6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0" y="3337560"/>
            <a:ext cx="32004" cy="1417320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16152" y="3438144"/>
            <a:ext cx="9738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80" b="1" i="0">
                <a:solidFill>
                  <a:srgbClr val="1D6FB8"/>
                </a:solidFill>
                <a:latin typeface="Aptos"/>
              </a:rPr>
              <a:t>Delphi yondashuvi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767328"/>
            <a:ext cx="9738360" cy="9235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0" i="0">
                <a:solidFill>
                  <a:srgbClr val="20364B"/>
                </a:solidFill>
                <a:latin typeface="Aptos"/>
              </a:rPr>
              <a:t>Bir nechta ekspert risk ehtimoli va zararini mustaqil sonli baholaydi. Baholar taqqoslanib, takroriy fikr almashish orqali umumiy xulosaga yaqinlashiladi.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074920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1" i="0">
                <a:solidFill>
                  <a:srgbClr val="6B7F91"/>
                </a:solidFill>
                <a:latin typeface="Aptos"/>
              </a:rPr>
              <a:t>Usul subyektiv bo‘lsa-da, bitta ekspert fikriga qaraganda ishonchliroq baho beradi.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Miqdoriy tahlil natijasida nimalar olinadi?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Qaror qabul qilish uchun aniq sonli ko‘rsatkichlar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10.3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325880"/>
            <a:ext cx="32004" cy="1645920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426464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30" b="1" i="0">
                <a:solidFill>
                  <a:srgbClr val="1D6FB8"/>
                </a:solidFill>
                <a:latin typeface="Aptos"/>
              </a:rPr>
              <a:t>Muddat riski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755648"/>
            <a:ext cx="3108960" cy="11521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60" b="0" i="0">
                <a:solidFill>
                  <a:srgbClr val="20364B"/>
                </a:solidFill>
                <a:latin typeface="Aptos"/>
              </a:rPr>
              <a:t>Masalan: loyiha 1 oyga kechikishi 30% ehtimol bilan mumkin.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132588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6552" y="1325880"/>
            <a:ext cx="32004" cy="164592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1426464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30" b="1" i="0">
                <a:solidFill>
                  <a:srgbClr val="D97706"/>
                </a:solidFill>
                <a:latin typeface="Aptos"/>
              </a:rPr>
              <a:t>Byudjet riski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1755648"/>
            <a:ext cx="3108960" cy="11521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60" b="0" i="0">
                <a:solidFill>
                  <a:srgbClr val="20364B"/>
                </a:solidFill>
                <a:latin typeface="Aptos"/>
              </a:rPr>
              <a:t>Masalan: qo‘shimcha xarajatlar 50 mln so‘mgacha bo‘lishi mumkin.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32588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3" y="1325880"/>
            <a:ext cx="32004" cy="164592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1426464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30" b="1" i="0">
                <a:solidFill>
                  <a:srgbClr val="2E8B57"/>
                </a:solidFill>
                <a:latin typeface="Aptos"/>
              </a:rPr>
              <a:t>Muvaffaqiyat ehtimoli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1755648"/>
            <a:ext cx="3108960" cy="11521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60" b="0" i="0">
                <a:solidFill>
                  <a:srgbClr val="20364B"/>
                </a:solidFill>
                <a:latin typeface="Aptos"/>
              </a:rPr>
              <a:t>Masalan: loyiha belgilangan vaqt va byudjetda tugash ehtimoli — 70%.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0" y="3886200"/>
            <a:ext cx="7269480" cy="1280160"/>
          </a:xfrm>
          <a:prstGeom prst="roundRect">
            <a:avLst/>
          </a:prstGeom>
          <a:solidFill>
            <a:srgbClr val="F2ED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68880" y="3886200"/>
            <a:ext cx="32004" cy="1280160"/>
          </a:xfrm>
          <a:prstGeom prst="rect">
            <a:avLst/>
          </a:prstGeom>
          <a:solidFill>
            <a:srgbClr val="6D46D9"/>
          </a:solidFill>
          <a:ln>
            <a:solidFill>
              <a:srgbClr val="6D4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87752" y="3986784"/>
            <a:ext cx="7040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6D46D9"/>
                </a:solidFill>
                <a:latin typeface="Aptos"/>
              </a:rPr>
              <a:t>Boshqaruv qarori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87752" y="4315968"/>
            <a:ext cx="7040880" cy="78638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40" b="0" i="0">
                <a:solidFill>
                  <a:srgbClr val="20364B"/>
                </a:solidFill>
                <a:latin typeface="Aptos"/>
              </a:rPr>
              <a:t>Natijaga qarab zaxira vaqt, zaxira byudjet, qo‘shimcha resurs yoki boshqa javob chorasi asoslanadi.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Miqdoriy tahlilning cheklovlari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Natijalarni to‘g‘ri talqin qilish zarur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10.3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325880"/>
            <a:ext cx="32004" cy="1600200"/>
          </a:xfrm>
          <a:prstGeom prst="rect">
            <a:avLst/>
          </a:prstGeom>
          <a:solidFill>
            <a:srgbClr val="D94B45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426464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90" b="1" i="0">
                <a:solidFill>
                  <a:srgbClr val="D94B45"/>
                </a:solidFill>
                <a:latin typeface="Aptos"/>
              </a:rPr>
              <a:t>1. Ma’lumot talabi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755648"/>
            <a:ext cx="3108960" cy="11064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0364B"/>
                </a:solidFill>
                <a:latin typeface="Aptos"/>
              </a:rPr>
              <a:t>Tarixiy ma’lumotlar va aniq statistik baholar yetarli bo‘lmasligi mumkin.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6552" y="1325880"/>
            <a:ext cx="32004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1426464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90" b="1" i="0">
                <a:solidFill>
                  <a:srgbClr val="D97706"/>
                </a:solidFill>
                <a:latin typeface="Aptos"/>
              </a:rPr>
              <a:t>2. Model soddalashtiradi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1755648"/>
            <a:ext cx="3108960" cy="11064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0364B"/>
                </a:solidFill>
                <a:latin typeface="Aptos"/>
              </a:rPr>
              <a:t>Har qanday model ayrim taxminlarga tayanadi va real loyihaning barcha jihatlarini to‘liq qamramasligi mumkin.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3258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3" y="1325880"/>
            <a:ext cx="32004" cy="1600200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1426464"/>
            <a:ext cx="3108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90" b="1" i="0">
                <a:solidFill>
                  <a:srgbClr val="1D6FB8"/>
                </a:solidFill>
                <a:latin typeface="Aptos"/>
              </a:rPr>
              <a:t>3. Resurs talab qiladi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1755648"/>
            <a:ext cx="3108960" cy="11064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0364B"/>
                </a:solidFill>
                <a:latin typeface="Aptos"/>
              </a:rPr>
              <a:t>Tahlil ko‘p vaqt, malaka, dasturiy vosita va tashkilot resurslarini talab etishi mumkin.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251960"/>
            <a:ext cx="97840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0B5C8E"/>
                </a:solidFill>
                <a:latin typeface="Aptos Display"/>
              </a:rPr>
              <a:t>Shuning uchun miqdoriy tahlil sifat tahlilini to‘ldiruvchi, zaruratga qarab qo‘llanadigan bosqichdir.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Amaliy misol: qurilish loyihasidagi kechikish riski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Sifat va miqdoriy tahlil qanday birlashadi?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10.3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37160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371600"/>
            <a:ext cx="32004" cy="1554480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472184"/>
            <a:ext cx="2880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 i="0">
                <a:solidFill>
                  <a:srgbClr val="1D6FB8"/>
                </a:solidFill>
                <a:latin typeface="Aptos"/>
              </a:rPr>
              <a:t>Sifat tahlili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1801368"/>
            <a:ext cx="2880360" cy="10607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20364B"/>
                </a:solidFill>
                <a:latin typeface="Aptos"/>
              </a:rPr>
              <a:t>Pudratchining muddatni buzish xavfi “yuqori” deb topildi.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37160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1371600"/>
            <a:ext cx="32004" cy="155448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472184"/>
            <a:ext cx="2880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 i="0">
                <a:solidFill>
                  <a:srgbClr val="D97706"/>
                </a:solidFill>
                <a:latin typeface="Aptos"/>
              </a:rPr>
              <a:t>Miqdoriy tahlil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1801368"/>
            <a:ext cx="2880360" cy="10607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20364B"/>
                </a:solidFill>
                <a:latin typeface="Aptos"/>
              </a:rPr>
              <a:t>Kechikish ehtimoli — 50%; zarar — 1 mlrd so‘m. EMV = 500 mln so‘m.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371600"/>
            <a:ext cx="31089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371600"/>
            <a:ext cx="32004" cy="155448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1472184"/>
            <a:ext cx="2880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 i="0">
                <a:solidFill>
                  <a:srgbClr val="2E8B57"/>
                </a:solidFill>
                <a:latin typeface="Aptos"/>
              </a:rPr>
              <a:t>Boshqaruv qarori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1801368"/>
            <a:ext cx="2880360" cy="10607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20364B"/>
                </a:solidFill>
                <a:latin typeface="Aptos"/>
              </a:rPr>
              <a:t>Qo‘shimcha pudratchi jalb qilish yoki ish smenasini ko‘paytirish variantlari ko‘rib chiqiladi.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97680"/>
            <a:ext cx="1005840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0B5C8E"/>
                </a:solidFill>
                <a:latin typeface="Aptos"/>
              </a:rPr>
              <a:t>Agar sonli tahlil risk ta’siri kichikligini ko‘rsatsa, katta resurs sarflamasdan riskni qabul qilish ham mumkin.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71800" cy="685800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10.4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148840" cy="1828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ptos Display"/>
              </a:rPr>
              <a:t>RISKLARGA QARSHI
CHORALARNI
REJALASHTIRISH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03320" y="2148840"/>
            <a:ext cx="7040880" cy="12801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Aptos Display"/>
              </a:rPr>
              <a:t>Har bir muhim risk uchun mos javob strategiyasi tanlanadi.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3520440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B7F91"/>
                </a:solidFill>
                <a:latin typeface="Aptos"/>
              </a:rPr>
              <a:t>Darslikdagi bo‘lim mazmuni asosida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Risklarga javob choralarini rejalashtirish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Xavf sodir bo‘lishidan oldin yoki sodir bo‘lganda zararini kamaytirish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10.4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325880"/>
            <a:ext cx="32004" cy="1828800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2646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30" b="1" i="0">
                <a:solidFill>
                  <a:srgbClr val="1D6FB8"/>
                </a:solidFill>
                <a:latin typeface="Aptos"/>
              </a:rPr>
              <a:t>Maqsad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755648"/>
            <a:ext cx="315468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0364B"/>
                </a:solidFill>
                <a:latin typeface="Aptos"/>
              </a:rPr>
              <a:t>Har bir muhim risk uchun tegishli strategiya va chora-tadbirlarni ishlab chiqish.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325880"/>
            <a:ext cx="32004" cy="1828800"/>
          </a:xfrm>
          <a:prstGeom prst="rect">
            <a:avLst/>
          </a:prstGeom>
          <a:solidFill>
            <a:srgbClr val="D94B45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42646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30" b="1" i="0">
                <a:solidFill>
                  <a:srgbClr val="D94B45"/>
                </a:solidFill>
                <a:latin typeface="Aptos"/>
              </a:rPr>
              <a:t>Tahdidlar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1755648"/>
            <a:ext cx="315468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70" b="0" i="0">
                <a:solidFill>
                  <a:srgbClr val="20364B"/>
                </a:solidFill>
                <a:latin typeface="Aptos"/>
              </a:rPr>
              <a:t>Salbiy risklar: oldini olish, kamaytirish, o‘tkazish/taqsimlash yoki qabul qilish.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325880"/>
            <a:ext cx="32004" cy="182880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142646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30" b="1" i="0">
                <a:solidFill>
                  <a:srgbClr val="2E8B57"/>
                </a:solidFill>
                <a:latin typeface="Aptos"/>
              </a:rPr>
              <a:t>Imkoniyatlar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1755648"/>
            <a:ext cx="315468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20364B"/>
                </a:solidFill>
                <a:latin typeface="Aptos"/>
              </a:rPr>
              <a:t>Ijobiy risklar: foydalanish, kuchaytirish, ulashish yoki qabul qilish/e’tiborsiz qoldirish.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343400"/>
            <a:ext cx="99669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0B5C8E"/>
                </a:solidFill>
                <a:latin typeface="Aptos Display"/>
              </a:rPr>
              <a:t>Javob strategiyasi riskning tabiati, ehtimoli, ta’siri va loyiha imkoniyatlariga mos bo‘lishi kerak.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Salbiy xavflar uchun strategiyalar —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Oldini olish va kamaytirish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10.4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17320"/>
            <a:ext cx="5120640" cy="2514600"/>
          </a:xfrm>
          <a:prstGeom prst="roundRect">
            <a:avLst/>
          </a:prstGeom>
          <a:solidFill>
            <a:srgbClr val="FFF0F0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417320"/>
            <a:ext cx="32004" cy="2514600"/>
          </a:xfrm>
          <a:prstGeom prst="rect">
            <a:avLst/>
          </a:prstGeom>
          <a:solidFill>
            <a:srgbClr val="D94B45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517904"/>
            <a:ext cx="4892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40" b="1" i="0">
                <a:solidFill>
                  <a:srgbClr val="D94B45"/>
                </a:solidFill>
                <a:latin typeface="Aptos"/>
              </a:rPr>
              <a:t>Oldini olish (Avoid)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1847088"/>
            <a:ext cx="4892040" cy="20208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20364B"/>
                </a:solidFill>
                <a:latin typeface="Aptos"/>
              </a:rPr>
              <a:t>Riskni butunlay yo‘q qilish yoki sodir bo‘lish ehtimolini nolga yaqinlashtirish. Misol: juda xavfli faoliyatni loyiha doirasidan chiqarish, texnologiyani soddalashtirish yoki noaniq talabni olib tashlash.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5120640" cy="2514600"/>
          </a:xfrm>
          <a:prstGeom prst="roundRect">
            <a:avLst/>
          </a:prstGeom>
          <a:solidFill>
            <a:srgbClr val="FFF4E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32004" cy="25146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517904"/>
            <a:ext cx="4892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40" b="1" i="0">
                <a:solidFill>
                  <a:srgbClr val="D97706"/>
                </a:solidFill>
                <a:latin typeface="Aptos"/>
              </a:rPr>
              <a:t>Kamaytirish (Mitigate)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847088"/>
            <a:ext cx="4892040" cy="20208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70" b="0" i="0">
                <a:solidFill>
                  <a:srgbClr val="20364B"/>
                </a:solidFill>
                <a:latin typeface="Aptos"/>
              </a:rPr>
              <a:t>Risk ehtimoli yoki ta’sirini pasaytirish. Misol: qo‘shimcha testlar, profilaktika, parallel zaxira tizim, oldindan tayyorgarlik.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617720"/>
            <a:ext cx="96012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0B5C8E"/>
                </a:solidFill>
                <a:latin typeface="Aptos"/>
              </a:rPr>
              <a:t>Kamaytirish strategiyasi ko‘pincha profilaktik choralarni o‘z ichiga oladi.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Salbiy xavflar uchun strategiyalar —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O‘tkazish/taqsimlash va qabul qilish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10.4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17320"/>
            <a:ext cx="5120640" cy="2514600"/>
          </a:xfrm>
          <a:prstGeom prst="roundRect">
            <a:avLst/>
          </a:prstGeom>
          <a:solidFill>
            <a:srgbClr val="EDF6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417320"/>
            <a:ext cx="32004" cy="2514600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517904"/>
            <a:ext cx="4892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40" b="1" i="0">
                <a:solidFill>
                  <a:srgbClr val="1D6FB8"/>
                </a:solidFill>
                <a:latin typeface="Aptos"/>
              </a:rPr>
              <a:t>O‘tkazish / taqsimlash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1847088"/>
            <a:ext cx="4892040" cy="20208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20364B"/>
                </a:solidFill>
                <a:latin typeface="Aptos"/>
              </a:rPr>
              <a:t>Riskga aloqador javobgarlikning bir qismini uchinchi tomonga topshirish. Misollar: sug‘urta, shartnomada riskni subpudratchiga yuklash, hamkor bilan bo‘lishish.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5120640" cy="2514600"/>
          </a:xfrm>
          <a:prstGeom prst="roundRect">
            <a:avLst/>
          </a:prstGeom>
          <a:solidFill>
            <a:srgbClr val="F2ED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32004" cy="2514600"/>
          </a:xfrm>
          <a:prstGeom prst="rect">
            <a:avLst/>
          </a:prstGeom>
          <a:solidFill>
            <a:srgbClr val="6D46D9"/>
          </a:solidFill>
          <a:ln>
            <a:solidFill>
              <a:srgbClr val="6D4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517904"/>
            <a:ext cx="4892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40" b="1" i="0">
                <a:solidFill>
                  <a:srgbClr val="6D46D9"/>
                </a:solidFill>
                <a:latin typeface="Aptos"/>
              </a:rPr>
              <a:t>Qabul qilish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847088"/>
            <a:ext cx="4892040" cy="20208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40" b="0" i="0">
                <a:solidFill>
                  <a:srgbClr val="20364B"/>
                </a:solidFill>
                <a:latin typeface="Aptos"/>
              </a:rPr>
              <a:t>Riskni bartaraf etish yoki kamaytirish iqtisodiy jihatdan maqsadga muvofiq bo‘lmaganda tanlanadi. Passiv qabul qilish — maxsus chorasiz; aktiv qabul qilish — zaxira reja va resurs tayyorlash.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09160"/>
            <a:ext cx="100584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D94B45"/>
                </a:solidFill>
                <a:latin typeface="Aptos"/>
              </a:rPr>
              <a:t>Qabul qilish “hech narsa qilmaslik” emas — risk ro‘y bersa qanday harakat qilish oldindan o‘ylab qo‘yiladi.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10.3-rasm. Ijobiy xavflar (imkoniyatlar) uchun strategiyalar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Imkoniyatdan foyda olishga qaratilgan yondashuvlar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10.4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37</a:t>
            </a:r>
          </a:p>
        </p:txBody>
      </p:sp>
      <p:pic>
        <p:nvPicPr>
          <p:cNvPr id="10" name="Picture 9" descr="rId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342" y="1078992"/>
            <a:ext cx="7746835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Ijobiy risklar uchun strategiyalar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Imkoniyatni boshqarish ham risk boshqaruvining bir qismidir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10.4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280160"/>
            <a:ext cx="26517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280160"/>
            <a:ext cx="32004" cy="20574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380744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 i="0">
                <a:solidFill>
                  <a:srgbClr val="D97706"/>
                </a:solidFill>
                <a:latin typeface="Aptos"/>
              </a:rPr>
              <a:t>Foydalanish (Exploit)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09928"/>
            <a:ext cx="2423160" cy="1563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40" b="0" i="0">
                <a:solidFill>
                  <a:srgbClr val="20364B"/>
                </a:solidFill>
                <a:latin typeface="Aptos"/>
              </a:rPr>
              <a:t>Imkoniyatni aniq ro‘yobga chiqarish uchun faol harakat qilish. Misol: muddatni qisqartiruvchi yangi texnologiyaga to‘liq o‘tish.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280160"/>
            <a:ext cx="26517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280160"/>
            <a:ext cx="32004" cy="2057400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1380744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 i="0">
                <a:solidFill>
                  <a:srgbClr val="1D6FB8"/>
                </a:solidFill>
                <a:latin typeface="Aptos"/>
              </a:rPr>
              <a:t>Kuchaytirish (Enhance)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1709928"/>
            <a:ext cx="2423160" cy="1563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40" b="0" i="0">
                <a:solidFill>
                  <a:srgbClr val="20364B"/>
                </a:solidFill>
                <a:latin typeface="Aptos"/>
              </a:rPr>
              <a:t>Imkoniyat sodir bo‘lish ehtimoli yoki foydasini oshirish. Misol: qo‘shimcha resurs ajratish.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280160"/>
            <a:ext cx="26517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280160"/>
            <a:ext cx="32004" cy="205740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1380744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 i="0">
                <a:solidFill>
                  <a:srgbClr val="2E8B57"/>
                </a:solidFill>
                <a:latin typeface="Aptos"/>
              </a:rPr>
              <a:t>Ulashish (Share)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1709928"/>
            <a:ext cx="2423160" cy="1563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 i="0">
                <a:solidFill>
                  <a:srgbClr val="20364B"/>
                </a:solidFill>
                <a:latin typeface="Aptos"/>
              </a:rPr>
              <a:t>Imkoniyatdan foyda olish uchun hamkorlik qilish va foydani bo‘lishish. Misol: yangi bozorga sherik bilan kirish.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1280160"/>
            <a:ext cx="25603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06840" y="1280160"/>
            <a:ext cx="32004" cy="2057400"/>
          </a:xfrm>
          <a:prstGeom prst="rect">
            <a:avLst/>
          </a:prstGeom>
          <a:solidFill>
            <a:srgbClr val="D94B45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1380744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30" b="1" i="0">
                <a:solidFill>
                  <a:srgbClr val="D94B45"/>
                </a:solidFill>
                <a:latin typeface="Aptos"/>
              </a:rPr>
              <a:t>Qabul qilish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1709928"/>
            <a:ext cx="2331720" cy="1563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 i="0">
                <a:solidFill>
                  <a:srgbClr val="20364B"/>
                </a:solidFill>
                <a:latin typeface="Aptos"/>
              </a:rPr>
              <a:t>Imkoniyat ahamiyatsiz yoki uni ta’qib qilish samarasiz bo‘lsa, maxsus harakat qilinmaydi; ro‘y bersa foyda olinadi.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343400"/>
            <a:ext cx="1033272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0B5C8E"/>
                </a:solidFill>
                <a:latin typeface="Aptos"/>
              </a:rPr>
              <a:t>Imkoniyatlarni boshqarish loyihaning faqat xavfdan himoyalanishi emas, balki qo‘shimcha qiymat yaratishiga ham xizmat qiladi.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Har bir risk uchun harakatlar rejasi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Strategiyani amaliy topshiriqlarga aylantirish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10.4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23444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234440"/>
            <a:ext cx="32004" cy="1645920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33502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60" b="1" i="0">
                <a:solidFill>
                  <a:srgbClr val="1D6FB8"/>
                </a:solidFill>
                <a:latin typeface="Aptos"/>
              </a:rPr>
              <a:t>Aniq choralar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664208"/>
            <a:ext cx="3154680" cy="11521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20364B"/>
                </a:solidFill>
                <a:latin typeface="Aptos"/>
              </a:rPr>
              <a:t>Tanlangan strategiyani amalga oshirish uchun bajariladigan konkret ishlar.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23444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234440"/>
            <a:ext cx="32004" cy="164592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133502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60" b="1" i="0">
                <a:solidFill>
                  <a:srgbClr val="2E8B57"/>
                </a:solidFill>
                <a:latin typeface="Aptos"/>
              </a:rPr>
              <a:t>Mas’ullar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1664208"/>
            <a:ext cx="3154680" cy="11521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20364B"/>
                </a:solidFill>
                <a:latin typeface="Aptos"/>
              </a:rPr>
              <a:t>Qaysi jamoa a’zosi yoki bo‘lim chora va monitoring uchun javobgar ekani.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23444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19" y="1234440"/>
            <a:ext cx="32004" cy="164592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133502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60" b="1" i="0">
                <a:solidFill>
                  <a:srgbClr val="D97706"/>
                </a:solidFill>
                <a:latin typeface="Aptos"/>
              </a:rPr>
              <a:t>Mablag‘ va resurslar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1664208"/>
            <a:ext cx="3154680" cy="11521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20364B"/>
                </a:solidFill>
                <a:latin typeface="Aptos"/>
              </a:rPr>
              <a:t>Sug‘urta, qo‘shimcha xodim, zaxira uskunalar va boshqa zarur resurslar.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38328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383280"/>
            <a:ext cx="32004" cy="1645920"/>
          </a:xfrm>
          <a:prstGeom prst="rect">
            <a:avLst/>
          </a:prstGeom>
          <a:solidFill>
            <a:srgbClr val="6D46D9"/>
          </a:solidFill>
          <a:ln>
            <a:solidFill>
              <a:srgbClr val="6D4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48386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60" b="1" i="0">
                <a:solidFill>
                  <a:srgbClr val="6D46D9"/>
                </a:solidFill>
                <a:latin typeface="Aptos"/>
              </a:rPr>
              <a:t>Zaxira rejalar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3813048"/>
            <a:ext cx="3154680" cy="11521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20364B"/>
                </a:solidFill>
                <a:latin typeface="Aptos"/>
              </a:rPr>
              <a:t>Risk ro‘y bersa darhol ishga tushiriladigan contingency plan.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38328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383280"/>
            <a:ext cx="32004" cy="1645920"/>
          </a:xfrm>
          <a:prstGeom prst="rect">
            <a:avLst/>
          </a:prstGeom>
          <a:solidFill>
            <a:srgbClr val="D94B45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348386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60" b="1" i="0">
                <a:solidFill>
                  <a:srgbClr val="D94B45"/>
                </a:solidFill>
                <a:latin typeface="Aptos"/>
              </a:rPr>
              <a:t>Triggerlar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3813048"/>
            <a:ext cx="3154680" cy="11521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0" i="0">
                <a:solidFill>
                  <a:srgbClr val="20364B"/>
                </a:solidFill>
                <a:latin typeface="Aptos"/>
              </a:rPr>
              <a:t>Risk yaqinlashayotganini bildiruvchi erta signal va belgilar.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Risklarni boshqarish rejasi yangilanadi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Rejalashtirish bosqichining hujjatli natijasi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10.4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371600"/>
            <a:ext cx="10241280" cy="1325880"/>
          </a:xfrm>
          <a:prstGeom prst="roundRect">
            <a:avLst/>
          </a:prstGeom>
          <a:solidFill>
            <a:srgbClr val="EDF6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371600"/>
            <a:ext cx="32004" cy="132588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472184"/>
            <a:ext cx="10012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B5C8E"/>
                </a:solidFill>
                <a:latin typeface="Aptos"/>
              </a:rPr>
              <a:t>Rejada aks etadi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1801368"/>
            <a:ext cx="10012680" cy="83210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0364B"/>
                </a:solidFill>
                <a:latin typeface="Aptos"/>
              </a:rPr>
              <a:t>Barcha muhim risklar • individual javob strategiyalari • chora-tadbirlar • mas’ullar • zaxira rejalar • triggerlar.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46120"/>
            <a:ext cx="16687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410712"/>
            <a:ext cx="15407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D6FB8"/>
                </a:solidFill>
                <a:latin typeface="Aptos"/>
              </a:rPr>
              <a:t>Risk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382012" y="344728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19172" y="3246120"/>
            <a:ext cx="16687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83179" y="3410712"/>
            <a:ext cx="15407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D97706"/>
                </a:solidFill>
                <a:latin typeface="Aptos"/>
              </a:rPr>
              <a:t>Strategiya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215384" y="344728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52544" y="3246120"/>
            <a:ext cx="16687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3410712"/>
            <a:ext cx="15407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2E8B57"/>
                </a:solidFill>
                <a:latin typeface="Aptos"/>
              </a:rPr>
              <a:t>Chora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048756" y="344728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85916" y="3246120"/>
            <a:ext cx="16687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6D4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9924" y="3410712"/>
            <a:ext cx="15407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6D46D9"/>
                </a:solidFill>
                <a:latin typeface="Aptos"/>
              </a:rPr>
              <a:t>Mas’ul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882127" y="344728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19288" y="3246120"/>
            <a:ext cx="16687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3296" y="3410712"/>
            <a:ext cx="15407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D94B45"/>
                </a:solidFill>
                <a:latin typeface="Aptos"/>
              </a:rPr>
              <a:t>Zaxira reja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715499" y="344728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852659" y="3246120"/>
            <a:ext cx="16687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16667" y="3410712"/>
            <a:ext cx="15407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0B5C8E"/>
                </a:solidFill>
                <a:latin typeface="Aptos"/>
              </a:rPr>
              <a:t>Trigger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800600"/>
            <a:ext cx="1033272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60" b="0" i="0">
                <a:solidFill>
                  <a:srgbClr val="20364B"/>
                </a:solidFill>
                <a:latin typeface="Aptos"/>
              </a:rPr>
              <a:t>Yangilangan risklarni boshqarish rejasi loyiha boshqaruvining umumiy rejasining bir qismi bo‘lib, 10.5-bosqichda choralarni amalda bajarish uchun asos bo‘ladi.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71800" cy="685800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10.5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148840" cy="1828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ptos Display"/>
              </a:rPr>
              <a:t>RISKLARGA QARSHI
CHORALARNI
AMALGA OSHIRISH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03320" y="2148840"/>
            <a:ext cx="7040880" cy="12801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Aptos Display"/>
              </a:rPr>
              <a:t>Qog‘ozdagi risk rejasi real harakatga aylantiriladi.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3520440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B7F91"/>
                </a:solidFill>
                <a:latin typeface="Aptos"/>
              </a:rPr>
              <a:t>Darslikdagi bo‘lim mazmuni asosida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Choralarni amalga oshirish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Rejalashtirilgan javob strategiyalarini loyiha davomida hayotga joriy etish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10.5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325880"/>
            <a:ext cx="32004" cy="1828800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2646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D6FB8"/>
                </a:solidFill>
                <a:latin typeface="Aptos"/>
              </a:rPr>
              <a:t>1. Rejalashtirilgan choralarni bajarish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755648"/>
            <a:ext cx="315468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0364B"/>
                </a:solidFill>
                <a:latin typeface="Aptos"/>
              </a:rPr>
              <a:t>Har bir risk bo‘yicha belgilangan ish o‘z vaqtida va to‘liq amalga oshiriladi.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325880"/>
            <a:ext cx="32004" cy="18288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42646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Aptos"/>
              </a:rPr>
              <a:t>2. Resurslar ta’minoti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1755648"/>
            <a:ext cx="315468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0364B"/>
                </a:solidFill>
                <a:latin typeface="Aptos"/>
              </a:rPr>
              <a:t>Risk choralari uchun zarur vaqt, pul, inson resurslari va asbob-uskunalar ajratiladi.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325880"/>
            <a:ext cx="32004" cy="182880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142646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Aptos"/>
              </a:rPr>
              <a:t>3. Jadvalga integratsiya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1755648"/>
            <a:ext cx="315468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20364B"/>
                </a:solidFill>
                <a:latin typeface="Aptos"/>
              </a:rPr>
              <a:t>Risk choralari loyiha vazifalari kabi muddat va mas’ul bilan ish rejasiga kiritiladi.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297680"/>
            <a:ext cx="97840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0B5C8E"/>
                </a:solidFill>
                <a:latin typeface="Aptos"/>
              </a:rPr>
              <a:t>Misol: “1-oktyabrgacha zaxira generator o‘rnatiladi — mas’ul: texnik bo‘lim”.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Ijroda jamoa, aloqa va muvofiqlashtirish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Risk choralari ko‘p hollarda bir nechta bo‘lim va tashqi tashkilotni bog‘laydi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10.5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325880"/>
            <a:ext cx="32004" cy="1874519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2646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D6FB8"/>
                </a:solidFill>
                <a:latin typeface="Aptos"/>
              </a:rPr>
              <a:t>Jamoa xabardorligi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755648"/>
            <a:ext cx="3154680" cy="138074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10" b="0" i="0">
                <a:solidFill>
                  <a:srgbClr val="20364B"/>
                </a:solidFill>
                <a:latin typeface="Aptos"/>
              </a:rPr>
              <a:t>Jamoa muhim risklar va ularga qarshi choralarni bilishi kerak. Risk reyestri yig‘ilishlarda muhokama qilinadi.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325880"/>
            <a:ext cx="32004" cy="1874519"/>
          </a:xfrm>
          <a:prstGeom prst="rect">
            <a:avLst/>
          </a:prstGeom>
          <a:solidFill>
            <a:srgbClr val="6D46D9"/>
          </a:solidFill>
          <a:ln>
            <a:solidFill>
              <a:srgbClr val="6D4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42646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6D46D9"/>
                </a:solidFill>
                <a:latin typeface="Aptos"/>
              </a:rPr>
              <a:t>Aloqa va muvofiqlashtirish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1755648"/>
            <a:ext cx="3154680" cy="138074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0364B"/>
                </a:solidFill>
                <a:latin typeface="Aptos"/>
              </a:rPr>
              <a:t>Sug‘urta kompaniyasi, yuridik bo‘lim, HR, pudratchi va boshqa tomonlar bilan kelishilgan harakatlar talab qilinadi.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32588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325880"/>
            <a:ext cx="32004" cy="1874519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142646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Aptos"/>
              </a:rPr>
              <a:t>Samaradorlikni kuzatish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1755648"/>
            <a:ext cx="3154680" cy="138074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0364B"/>
                </a:solidFill>
                <a:latin typeface="Aptos"/>
              </a:rPr>
              <a:t>Amalga oshirilgan chora risk ehtimoli yoki ta’sirini amalda kamaytiryaptimi — dastlabki natijalar muntazam kuzatiladi.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434840"/>
            <a:ext cx="99669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0B5C8E"/>
                </a:solidFill>
                <a:latin typeface="Aptos"/>
              </a:rPr>
              <a:t>Loyiha menejeri barcha manfaatdor tomonlar o‘rtasida axborot almashinuvini va choralarning bajarilishini muvofiqlashtiradi.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Chora o‘zi yangi risk tug‘dirishi mumkin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“Qarshi choralar risklari” — ikkilamchi risklar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10.5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2035454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039112"/>
            <a:ext cx="190743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D94B45"/>
                </a:solidFill>
                <a:latin typeface="Aptos"/>
              </a:rPr>
              <a:t>Asosiy risk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748686" y="207568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5846" y="1874519"/>
            <a:ext cx="2035454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9854" y="2039112"/>
            <a:ext cx="190743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D6FB8"/>
                </a:solidFill>
                <a:latin typeface="Aptos"/>
              </a:rPr>
              <a:t>Javob chorasi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48732" y="207568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85892" y="1874519"/>
            <a:ext cx="2035454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9900" y="2039112"/>
            <a:ext cx="190743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D97706"/>
                </a:solidFill>
                <a:latin typeface="Aptos"/>
              </a:rPr>
              <a:t>Yangi sharoit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48779" y="207568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85939" y="1874519"/>
            <a:ext cx="2035454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6D4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9947" y="2039112"/>
            <a:ext cx="190743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6D46D9"/>
                </a:solidFill>
                <a:latin typeface="Aptos"/>
              </a:rPr>
              <a:t>Ikkilamchi risk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348825" y="2075688"/>
            <a:ext cx="118872" cy="256032"/>
          </a:xfrm>
          <a:prstGeom prst="rightArrow">
            <a:avLst/>
          </a:prstGeom>
          <a:solidFill>
            <a:srgbClr val="6B7F91"/>
          </a:solidFill>
          <a:ln>
            <a:solidFill>
              <a:srgbClr val="6B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85985" y="1874519"/>
            <a:ext cx="2035454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9993" y="2039112"/>
            <a:ext cx="190743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2E8B57"/>
                </a:solidFill>
                <a:latin typeface="Aptos"/>
              </a:rPr>
              <a:t>Yangi javob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3383280"/>
            <a:ext cx="1005840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1560" y="3383280"/>
            <a:ext cx="32004" cy="1417320"/>
          </a:xfrm>
          <a:prstGeom prst="rect">
            <a:avLst/>
          </a:prstGeom>
          <a:solidFill>
            <a:srgbClr val="D94B45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1" y="3483864"/>
            <a:ext cx="9829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60" b="1" i="0">
                <a:solidFill>
                  <a:srgbClr val="D94B45"/>
                </a:solidFill>
                <a:latin typeface="Aptos"/>
              </a:rPr>
              <a:t>Misol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1" y="3813048"/>
            <a:ext cx="9829800" cy="9235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0364B"/>
                </a:solidFill>
                <a:latin typeface="Aptos"/>
              </a:rPr>
              <a:t>Texnologik riskni kamaytirish uchun tashqi ekspert jalb qilindi. Ammo ekspertning uslubi mavjud jamoa bilan kelishmovchilikni keltirib chiqarsa, yangi tashkiliy/kommunikatsion risk paydo bo‘ladi.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212080"/>
            <a:ext cx="99669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1" i="0">
                <a:solidFill>
                  <a:srgbClr val="0B5C8E"/>
                </a:solidFill>
                <a:latin typeface="Aptos"/>
              </a:rPr>
              <a:t>Shuning uchun amalga oshirilgan har bir javob chorasi yangi risklar nuqtayi nazaridan ham baholanadi.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71800" cy="685800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10.6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148840" cy="1828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ptos Display"/>
              </a:rPr>
              <a:t>RISKLARNI
MONITORING QILISH
VA NAZORAT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03320" y="2148840"/>
            <a:ext cx="7040880" cy="12801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Aptos Display"/>
              </a:rPr>
              <a:t>Risk boshqaruvi loyiha tugaguncha to‘xtamaydi.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3520440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B7F91"/>
                </a:solidFill>
                <a:latin typeface="Aptos"/>
              </a:rPr>
              <a:t>Darslikdagi bo‘lim mazmuni asosida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Risklarni monitoring qilish va nazorat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Risklarning holatini kuzatish va rejalarni yangilab borish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10.6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325880"/>
            <a:ext cx="32004" cy="1828800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42646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D6FB8"/>
                </a:solidFill>
                <a:latin typeface="Aptos"/>
              </a:rPr>
              <a:t>Mavjud risklarni qayta baholash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55648"/>
            <a:ext cx="315468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0364B"/>
                </a:solidFill>
                <a:latin typeface="Aptos"/>
              </a:rPr>
              <a:t>Risk ehtimoli va ta’siri vaqt o‘tishi bilan o‘zgaradi. Ustuvorliklar muntazam qayta ko‘rib chiqiladi.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1325880"/>
            <a:ext cx="32004" cy="182880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4" y="142646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2E8B57"/>
                </a:solidFill>
                <a:latin typeface="Aptos"/>
              </a:rPr>
              <a:t>Yangi xavflarni aniqlash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1755648"/>
            <a:ext cx="315468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0364B"/>
                </a:solidFill>
                <a:latin typeface="Aptos"/>
              </a:rPr>
              <a:t>Loyiha davomida yangi risklar paydo bo‘lishi tabiiy. Ochiq kommunikatsiya bunday signallarni erta olishga yordam beradi.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3" y="1325880"/>
            <a:ext cx="32004" cy="18288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1426464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Aptos"/>
              </a:rPr>
              <a:t>Triggerlarni kuzatish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1755648"/>
            <a:ext cx="3154680" cy="1335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0364B"/>
                </a:solidFill>
                <a:latin typeface="Aptos"/>
              </a:rPr>
              <a:t>Oldindan belgilangan trigger hodisa sodir bo‘lsa, tegishli zaxira yoki javob rejasi ishga tushiriladi.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97680"/>
            <a:ext cx="99669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D94B45"/>
                </a:solidFill>
                <a:latin typeface="Aptos"/>
              </a:rPr>
              <a:t>Misol: xomashyo narxi 10% dan ko‘p oshsa → alternativ yetkazib beruvchi rejasi ishga tushadi.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Monitoringning asosiy vositalari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Ijro, metrikalar, audit va hujjatlarni yangilash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10.6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280160"/>
            <a:ext cx="26517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280160"/>
            <a:ext cx="32004" cy="2103120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380744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1" i="0">
                <a:solidFill>
                  <a:srgbClr val="1D6FB8"/>
                </a:solidFill>
                <a:latin typeface="Aptos"/>
              </a:rPr>
              <a:t>Choralar ijrosini nazorat qilish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09928"/>
            <a:ext cx="2423160" cy="160934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30" b="0" i="0">
                <a:solidFill>
                  <a:srgbClr val="20364B"/>
                </a:solidFill>
                <a:latin typeface="Aptos"/>
              </a:rPr>
              <a:t>Chora belgilangan muddat va sifatda bajarildimi? Kutilgan samara beryaptimi? Zarur bo‘lsa strategiya o‘zgartiriladi.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280160"/>
            <a:ext cx="26517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280160"/>
            <a:ext cx="32004" cy="210312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1380744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1" i="0">
                <a:solidFill>
                  <a:srgbClr val="D97706"/>
                </a:solidFill>
                <a:latin typeface="Aptos"/>
              </a:rPr>
              <a:t>Risk ko‘rsatkichlari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1709928"/>
            <a:ext cx="2423160" cy="160934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0" b="0" i="0">
                <a:solidFill>
                  <a:srgbClr val="20364B"/>
                </a:solidFill>
                <a:latin typeface="Aptos"/>
              </a:rPr>
              <a:t>Kechikish kunlari, byudjet oshish foizi, defektlar soni kabi indikatorlar. Chegaradan oshsa risk holati yomonlashganini bildiradi.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280160"/>
            <a:ext cx="26517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280160"/>
            <a:ext cx="32004" cy="2103120"/>
          </a:xfrm>
          <a:prstGeom prst="rect">
            <a:avLst/>
          </a:prstGeom>
          <a:solidFill>
            <a:srgbClr val="6D46D9"/>
          </a:solidFill>
          <a:ln>
            <a:solidFill>
              <a:srgbClr val="6D4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1380744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1" i="0">
                <a:solidFill>
                  <a:srgbClr val="6D46D9"/>
                </a:solidFill>
                <a:latin typeface="Aptos"/>
              </a:rPr>
              <a:t>Risk auditi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1709928"/>
            <a:ext cx="2423160" cy="160934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19" b="0" i="0">
                <a:solidFill>
                  <a:srgbClr val="20364B"/>
                </a:solidFill>
                <a:latin typeface="Aptos"/>
              </a:rPr>
              <a:t>Ichki nazoratchi yoki tashqi ekspert risk reyestri, choralar va jarayonning standartlarga mosligini tekshiradi.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1280160"/>
            <a:ext cx="25603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06840" y="1280160"/>
            <a:ext cx="32004" cy="210312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1380744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1" i="0">
                <a:solidFill>
                  <a:srgbClr val="2E8B57"/>
                </a:solidFill>
                <a:latin typeface="Aptos"/>
              </a:rPr>
              <a:t>Hujjatlarni yangilash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1709928"/>
            <a:ext cx="2331720" cy="160934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30" b="0" i="0">
                <a:solidFill>
                  <a:srgbClr val="20364B"/>
                </a:solidFill>
                <a:latin typeface="Aptos"/>
              </a:rPr>
              <a:t>Risk reyestri, risk hisobotlari va holat ma’lumotlari doim aktual saqlanadi.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434840"/>
            <a:ext cx="99669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0B5C8E"/>
                </a:solidFill>
                <a:latin typeface="Aptos"/>
              </a:rPr>
              <a:t>Vizual ko‘rsatkichlar “yashil–sariq–qizil” trafik tizimida taqdim etilishi mumkin.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Risk ro‘y bersa nima qilinadi?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Zaxira reja va o‘rganilgan saboqlar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10.6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325880"/>
            <a:ext cx="5212080" cy="2148840"/>
          </a:xfrm>
          <a:prstGeom prst="roundRect">
            <a:avLst/>
          </a:prstGeom>
          <a:solidFill>
            <a:srgbClr val="FFF0F0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25880"/>
            <a:ext cx="32004" cy="2148840"/>
          </a:xfrm>
          <a:prstGeom prst="rect">
            <a:avLst/>
          </a:prstGeom>
          <a:solidFill>
            <a:srgbClr val="D94B45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426464"/>
            <a:ext cx="4983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 i="0">
                <a:solidFill>
                  <a:srgbClr val="D94B45"/>
                </a:solidFill>
                <a:latin typeface="Aptos"/>
              </a:rPr>
              <a:t>Zaxira reja ishga tushadi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1755648"/>
            <a:ext cx="4983480" cy="1655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40" b="0" i="0">
                <a:solidFill>
                  <a:srgbClr val="20364B"/>
                </a:solidFill>
                <a:latin typeface="Aptos"/>
              </a:rPr>
              <a:t>Risk voqeasi ro‘yobga chiqsa, 10.4-bosqichda tayyorlangan contingency plan darhol qo‘llanadi. Misol: asosiy dasturchi ketganda zaxira mutaxassisni jalb qilish.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25880"/>
            <a:ext cx="5212080" cy="2148840"/>
          </a:xfrm>
          <a:prstGeom prst="roundRect">
            <a:avLst/>
          </a:prstGeom>
          <a:solidFill>
            <a:srgbClr val="EDF7F1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325880"/>
            <a:ext cx="32004" cy="214884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426464"/>
            <a:ext cx="4983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20" b="1" i="0">
                <a:solidFill>
                  <a:srgbClr val="2E8B57"/>
                </a:solidFill>
                <a:latin typeface="Aptos"/>
              </a:rPr>
              <a:t>Lessons learned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755648"/>
            <a:ext cx="4983480" cy="1655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40" b="0" i="0">
                <a:solidFill>
                  <a:srgbClr val="20364B"/>
                </a:solidFill>
                <a:latin typeface="Aptos"/>
              </a:rPr>
              <a:t>Qaysi risklar eng kritik bo‘ldi? Qaysi chora ishladi? Nima boshqacha qilinishi kerak edi? Xulosalar kelgusi loyihalar uchun tashkilot aktiviga aylanadi.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434840"/>
            <a:ext cx="98755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0B5C8E"/>
                </a:solidFill>
                <a:latin typeface="Aptos"/>
              </a:rPr>
              <a:t>Risk boshqaruvi natijalari keyingi loyihalarda risklarni tezroq aniqlash va samaraliroq javob berishga xizmat qiladi.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10-bob bo‘yicha yakuniy xulosa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Risklarni boshqarish — proaktiv va uzluksiz boshqaruv jarayoni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XULOSA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49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1143000"/>
            <a:ext cx="384048" cy="384048"/>
          </a:xfrm>
          <a:prstGeom prst="ellipse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261872"/>
            <a:ext cx="256032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133856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7324D"/>
                </a:solidFill>
                <a:latin typeface="Aptos"/>
              </a:rPr>
              <a:t>Risklarni erta aniqlash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1133856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 i="0">
                <a:solidFill>
                  <a:srgbClr val="20364B"/>
                </a:solidFill>
                <a:latin typeface="Aptos"/>
              </a:rPr>
              <a:t>Kutilmagan to‘siqlar va yo‘qotishlarni kamaytiradi.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011680"/>
            <a:ext cx="384048" cy="384048"/>
          </a:xfrm>
          <a:prstGeom prst="ellipse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130552"/>
            <a:ext cx="256032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002536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7324D"/>
                </a:solidFill>
                <a:latin typeface="Aptos"/>
              </a:rPr>
              <a:t>Sifat tahlili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2002536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 i="0">
                <a:solidFill>
                  <a:srgbClr val="20364B"/>
                </a:solidFill>
                <a:latin typeface="Aptos"/>
              </a:rPr>
              <a:t>Ehtimollik va ta’sir orqali ustuvor xavflarni ajratadi.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2880360"/>
            <a:ext cx="384048" cy="384048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2999232"/>
            <a:ext cx="256032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871216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7324D"/>
                </a:solidFill>
                <a:latin typeface="Aptos"/>
              </a:rPr>
              <a:t>Miqdoriy tahlil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2871216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 i="0">
                <a:solidFill>
                  <a:srgbClr val="20364B"/>
                </a:solidFill>
                <a:latin typeface="Aptos"/>
              </a:rPr>
              <a:t>Muhim risklarni sonli dalillar bilan chuqur baholaydi.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3749040"/>
            <a:ext cx="384048" cy="384048"/>
          </a:xfrm>
          <a:prstGeom prst="ellipse">
            <a:avLst/>
          </a:prstGeom>
          <a:solidFill>
            <a:srgbClr val="6D46D9"/>
          </a:solidFill>
          <a:ln>
            <a:solidFill>
              <a:srgbClr val="6D4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867912"/>
            <a:ext cx="256032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739896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7324D"/>
                </a:solidFill>
                <a:latin typeface="Aptos"/>
              </a:rPr>
              <a:t>Javob strategiyasi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3739896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 i="0">
                <a:solidFill>
                  <a:srgbClr val="20364B"/>
                </a:solidFill>
                <a:latin typeface="Aptos"/>
              </a:rPr>
              <a:t>Tahdidlarni kamaytiradi, imkoniyatlardan foyda olishga yordam beradi.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4617720"/>
            <a:ext cx="384048" cy="384048"/>
          </a:xfrm>
          <a:prstGeom prst="ellipse">
            <a:avLst/>
          </a:prstGeom>
          <a:solidFill>
            <a:srgbClr val="D94B45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4736592"/>
            <a:ext cx="256032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608576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7324D"/>
                </a:solidFill>
                <a:latin typeface="Aptos"/>
              </a:rPr>
              <a:t>Ijro va monitoring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4608576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 i="0">
                <a:solidFill>
                  <a:srgbClr val="20364B"/>
                </a:solidFill>
                <a:latin typeface="Aptos"/>
              </a:rPr>
              <a:t>Rejani real harakatga aylantiradi va risk holatini loyiha tugaguncha nazorat qiladi.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23560"/>
            <a:ext cx="10332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0B5C8E"/>
                </a:solidFill>
                <a:latin typeface="Aptos"/>
              </a:rPr>
              <a:t>Riskni “muammo chiqsa hal qilamiz” emas, “muammo chiqishidan oldin tayyorlanamiz” tamoyili asosida boshqarish kerak.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Nazorat savollari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10-bob bo‘yicha o‘zlashtirishni tekshirish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NAZORAT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097280"/>
            <a:ext cx="525780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097280"/>
            <a:ext cx="36576" cy="758952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197864"/>
            <a:ext cx="496519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 i="0">
                <a:solidFill>
                  <a:srgbClr val="20364B"/>
                </a:solidFill>
                <a:latin typeface="Aptos"/>
              </a:rPr>
              <a:t>1. Loyiha riski deganda nima tushuniladi va qanday salbiy oqibatlar bo‘lishi mumkin?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097280"/>
            <a:ext cx="525780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097280"/>
            <a:ext cx="36576" cy="7589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197864"/>
            <a:ext cx="496519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 i="0">
                <a:solidFill>
                  <a:srgbClr val="20364B"/>
                </a:solidFill>
                <a:latin typeface="Aptos"/>
              </a:rPr>
              <a:t>2. Risklarni boshqarish qaysi asosiy bosqichlarni o‘z ichiga oladi?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084832"/>
            <a:ext cx="525780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2084832"/>
            <a:ext cx="36576" cy="75895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185416"/>
            <a:ext cx="496519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 i="0">
                <a:solidFill>
                  <a:srgbClr val="20364B"/>
                </a:solidFill>
                <a:latin typeface="Aptos"/>
              </a:rPr>
              <a:t>3. Risklarni aniqlash bosqichining maqsadi va “Nimalar noto‘g‘ri ketishi mumkin?” savolining mazmuni?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084832"/>
            <a:ext cx="525780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2084832"/>
            <a:ext cx="36576" cy="758952"/>
          </a:xfrm>
          <a:prstGeom prst="rect">
            <a:avLst/>
          </a:prstGeom>
          <a:solidFill>
            <a:srgbClr val="6D46D9"/>
          </a:solidFill>
          <a:ln>
            <a:solidFill>
              <a:srgbClr val="6D4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185416"/>
            <a:ext cx="496519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 i="0">
                <a:solidFill>
                  <a:srgbClr val="20364B"/>
                </a:solidFill>
                <a:latin typeface="Aptos"/>
              </a:rPr>
              <a:t>4. Brainstorming, ekspert intervyusi va checklist usullarining vazifasi nimadan iborat?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072384"/>
            <a:ext cx="525780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072384"/>
            <a:ext cx="36576" cy="758952"/>
          </a:xfrm>
          <a:prstGeom prst="rect">
            <a:avLst/>
          </a:prstGeom>
          <a:solidFill>
            <a:srgbClr val="D94B45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172968"/>
            <a:ext cx="496519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 i="0">
                <a:solidFill>
                  <a:srgbClr val="20364B"/>
                </a:solidFill>
                <a:latin typeface="Aptos"/>
              </a:rPr>
              <a:t>5. SWOT va PEST tahlillari risklarni aniqlashga qanday yordam beradi?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072384"/>
            <a:ext cx="525780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3072384"/>
            <a:ext cx="36576" cy="75895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172968"/>
            <a:ext cx="496519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 i="0">
                <a:solidFill>
                  <a:srgbClr val="20364B"/>
                </a:solidFill>
                <a:latin typeface="Aptos"/>
              </a:rPr>
              <a:t>6. Risk reyestri nima va nima sababdan doimiy yangilanadi?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059936"/>
            <a:ext cx="525780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4059936"/>
            <a:ext cx="36576" cy="758952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160520"/>
            <a:ext cx="496519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 i="0">
                <a:solidFill>
                  <a:srgbClr val="20364B"/>
                </a:solidFill>
                <a:latin typeface="Aptos"/>
              </a:rPr>
              <a:t>7. Sifat tahlilining vazifasi va ehtimollik–ta’sir mezonlari nimalardan iborat?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4059936"/>
            <a:ext cx="525780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4059936"/>
            <a:ext cx="36576" cy="758952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4160520"/>
            <a:ext cx="496519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 i="0">
                <a:solidFill>
                  <a:srgbClr val="20364B"/>
                </a:solidFill>
                <a:latin typeface="Aptos"/>
              </a:rPr>
              <a:t>8. Risk matritsasidagi yashil, sariq va qizil zonalar nimani anglatadi?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047488"/>
            <a:ext cx="525780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" y="5047488"/>
            <a:ext cx="36576" cy="75895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148072"/>
            <a:ext cx="496519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 i="0">
                <a:solidFill>
                  <a:srgbClr val="20364B"/>
                </a:solidFill>
                <a:latin typeface="Aptos"/>
              </a:rPr>
              <a:t>9. Miqdoriy tahlil sifat tahlilidan nimasi bilan farq qiladi va qachon qo‘llanadi?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0" y="5047488"/>
            <a:ext cx="5257800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26480" y="5047488"/>
            <a:ext cx="36576" cy="758952"/>
          </a:xfrm>
          <a:prstGeom prst="rect">
            <a:avLst/>
          </a:prstGeom>
          <a:solidFill>
            <a:srgbClr val="6D46D9"/>
          </a:solidFill>
          <a:ln>
            <a:solidFill>
              <a:srgbClr val="6D4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5148072"/>
            <a:ext cx="496519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 i="0">
                <a:solidFill>
                  <a:srgbClr val="20364B"/>
                </a:solidFill>
                <a:latin typeface="Aptos"/>
              </a:rPr>
              <a:t>10. Rejalashtirish, amalga oshirish, monitoring va nazorat bosqichlarida qanday ishlar bajariladi?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Glossariy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Asosiy tushunchalar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GLOSSARIY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078992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078992"/>
            <a:ext cx="32004" cy="914400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179576"/>
            <a:ext cx="5029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1" i="0">
                <a:solidFill>
                  <a:srgbClr val="1D6FB8"/>
                </a:solidFill>
                <a:latin typeface="Aptos"/>
              </a:rPr>
              <a:t>Loyiha risklari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508760"/>
            <a:ext cx="5029200" cy="4206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 i="0">
                <a:solidFill>
                  <a:srgbClr val="20364B"/>
                </a:solidFill>
                <a:latin typeface="Aptos"/>
              </a:rPr>
              <a:t>Kutilgan natijaga erishmaslik ehtimoli; ro‘yobga chiqsa vaqt, xarajat, sifat yoki foydaga salbiy ta’sir qilishi mumkin.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078992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078992"/>
            <a:ext cx="32004" cy="91440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1179576"/>
            <a:ext cx="5029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1" i="0">
                <a:solidFill>
                  <a:srgbClr val="2E8B57"/>
                </a:solidFill>
                <a:latin typeface="Aptos"/>
              </a:rPr>
              <a:t>Noaniqlik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1508760"/>
            <a:ext cx="5029200" cy="4206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 i="0">
                <a:solidFill>
                  <a:srgbClr val="20364B"/>
                </a:solidFill>
                <a:latin typeface="Aptos"/>
              </a:rPr>
              <a:t>Oldindan to‘liq aniq bo‘lmagan, loyiha natijalariga ta’sir qilishi mumkin bo‘lgan holat va omillar.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267712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267712"/>
            <a:ext cx="32004" cy="9144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2368296"/>
            <a:ext cx="5029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1" i="0">
                <a:solidFill>
                  <a:srgbClr val="D97706"/>
                </a:solidFill>
                <a:latin typeface="Aptos"/>
              </a:rPr>
              <a:t>Risklarni boshqarish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2697480"/>
            <a:ext cx="5029200" cy="4206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 i="0">
                <a:solidFill>
                  <a:srgbClr val="20364B"/>
                </a:solidFill>
                <a:latin typeface="Aptos"/>
              </a:rPr>
              <a:t>Risklarni aniqlash, tahlil qilish, javob choralarini rejalashtirish va amalga oshirish, monitoring va nazorat qilish jarayoni.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267712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2267712"/>
            <a:ext cx="32004" cy="914400"/>
          </a:xfrm>
          <a:prstGeom prst="rect">
            <a:avLst/>
          </a:prstGeom>
          <a:solidFill>
            <a:srgbClr val="6D46D9"/>
          </a:solidFill>
          <a:ln>
            <a:solidFill>
              <a:srgbClr val="6D4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2368296"/>
            <a:ext cx="5029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1" i="0">
                <a:solidFill>
                  <a:srgbClr val="6D46D9"/>
                </a:solidFill>
                <a:latin typeface="Aptos"/>
              </a:rPr>
              <a:t>Risklarni aniqlash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2697480"/>
            <a:ext cx="5029200" cy="4206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 i="0">
                <a:solidFill>
                  <a:srgbClr val="20364B"/>
                </a:solidFill>
                <a:latin typeface="Aptos"/>
              </a:rPr>
              <a:t>Loyiha maqsadlariga tahdid solishi mumkin bo‘lgan xavflarni topish va ro‘yxatga olish.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456432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456432"/>
            <a:ext cx="32004" cy="914400"/>
          </a:xfrm>
          <a:prstGeom prst="rect">
            <a:avLst/>
          </a:prstGeom>
          <a:solidFill>
            <a:srgbClr val="D94B45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557016"/>
            <a:ext cx="5029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1" i="0">
                <a:solidFill>
                  <a:srgbClr val="D94B45"/>
                </a:solidFill>
                <a:latin typeface="Aptos"/>
              </a:rPr>
              <a:t>Risklar ro‘yxati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3886200"/>
            <a:ext cx="5029200" cy="4206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 i="0">
                <a:solidFill>
                  <a:srgbClr val="20364B"/>
                </a:solidFill>
                <a:latin typeface="Aptos"/>
              </a:rPr>
              <a:t>Aniqlangan risklarning dastlabki umumiy ro‘yxati.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456432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3456432"/>
            <a:ext cx="32004" cy="91440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3557016"/>
            <a:ext cx="5029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1" i="0">
                <a:solidFill>
                  <a:srgbClr val="0B5C8E"/>
                </a:solidFill>
                <a:latin typeface="Aptos"/>
              </a:rPr>
              <a:t>Risk reyestri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3886200"/>
            <a:ext cx="5029200" cy="4206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 i="0">
                <a:solidFill>
                  <a:srgbClr val="20364B"/>
                </a:solidFill>
                <a:latin typeface="Aptos"/>
              </a:rPr>
              <a:t>Risklar haqidagi ma’lumotlar jamlanadigan va loyiha davomida yangilanadigan hujjat.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645152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4645152"/>
            <a:ext cx="32004" cy="914400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952" y="4745736"/>
            <a:ext cx="5029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1" i="0">
                <a:solidFill>
                  <a:srgbClr val="1D6FB8"/>
                </a:solidFill>
                <a:latin typeface="Aptos"/>
              </a:rPr>
              <a:t>Sifat tahlili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5074920"/>
            <a:ext cx="5029200" cy="4206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 i="0">
                <a:solidFill>
                  <a:srgbClr val="20364B"/>
                </a:solidFill>
                <a:latin typeface="Aptos"/>
              </a:rPr>
              <a:t>Risklarni ehtimollik va ta’sir darajasiga ko‘ra baholab, ustuvorlik bo‘yicha tartiblash.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4645152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4645152"/>
            <a:ext cx="32004" cy="91440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1072" y="4745736"/>
            <a:ext cx="5029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1" i="0">
                <a:solidFill>
                  <a:srgbClr val="2E8B57"/>
                </a:solidFill>
                <a:latin typeface="Aptos"/>
              </a:rPr>
              <a:t>Miqdoriy tahlil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5074920"/>
            <a:ext cx="5029200" cy="4206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 i="0">
                <a:solidFill>
                  <a:srgbClr val="20364B"/>
                </a:solidFill>
                <a:latin typeface="Aptos"/>
              </a:rPr>
              <a:t>Risklarning muddat, xarajat yoki natijalarga sonli ta’sirini chuqur baholash.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Glossariy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Baholash va javob tushunchalari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GLOSSARIY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078992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078992"/>
            <a:ext cx="32004" cy="9144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179576"/>
            <a:ext cx="5029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1" i="0">
                <a:solidFill>
                  <a:srgbClr val="D97706"/>
                </a:solidFill>
                <a:latin typeface="Aptos"/>
              </a:rPr>
              <a:t>Ehtimollik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508760"/>
            <a:ext cx="5029200" cy="4206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 i="0">
                <a:solidFill>
                  <a:srgbClr val="20364B"/>
                </a:solidFill>
                <a:latin typeface="Aptos"/>
              </a:rPr>
              <a:t>Risk sodir bo‘lish imkoniyati: kategoriyada yoki foizlarda.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078992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078992"/>
            <a:ext cx="32004" cy="914400"/>
          </a:xfrm>
          <a:prstGeom prst="rect">
            <a:avLst/>
          </a:prstGeom>
          <a:solidFill>
            <a:srgbClr val="6D46D9"/>
          </a:solidFill>
          <a:ln>
            <a:solidFill>
              <a:srgbClr val="6D4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1179576"/>
            <a:ext cx="5029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1" i="0">
                <a:solidFill>
                  <a:srgbClr val="6D46D9"/>
                </a:solidFill>
                <a:latin typeface="Aptos"/>
              </a:rPr>
              <a:t>Ta’sir darajasi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1508760"/>
            <a:ext cx="5029200" cy="4206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 i="0">
                <a:solidFill>
                  <a:srgbClr val="20364B"/>
                </a:solidFill>
                <a:latin typeface="Aptos"/>
              </a:rPr>
              <a:t>Risk sodir bo‘lganda loyiha maqsadlariga yetkazadigan zarar ko‘lami.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267712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267712"/>
            <a:ext cx="32004" cy="914400"/>
          </a:xfrm>
          <a:prstGeom prst="rect">
            <a:avLst/>
          </a:prstGeom>
          <a:solidFill>
            <a:srgbClr val="D94B45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2368296"/>
            <a:ext cx="5029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1" i="0">
                <a:solidFill>
                  <a:srgbClr val="D94B45"/>
                </a:solidFill>
                <a:latin typeface="Aptos"/>
              </a:rPr>
              <a:t>Ehtimollik–ta’sir matritsasi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2697480"/>
            <a:ext cx="5029200" cy="4206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 i="0">
                <a:solidFill>
                  <a:srgbClr val="20364B"/>
                </a:solidFill>
                <a:latin typeface="Aptos"/>
              </a:rPr>
              <a:t>Risklarni ehtimollik va ta’sir kesishmasida joylashtirib, vizual ustuvorlashtirish vositasi.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267712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2267712"/>
            <a:ext cx="32004" cy="91440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2368296"/>
            <a:ext cx="5029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1" i="0">
                <a:solidFill>
                  <a:srgbClr val="0B5C8E"/>
                </a:solidFill>
                <a:latin typeface="Aptos"/>
              </a:rPr>
              <a:t>Ustuvorlik darajasi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2697480"/>
            <a:ext cx="5029200" cy="4206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 i="0">
                <a:solidFill>
                  <a:srgbClr val="20364B"/>
                </a:solidFill>
                <a:latin typeface="Aptos"/>
              </a:rPr>
              <a:t>Riskning qanchalik muhimligini bildiruvchi, odatda ehtimollik va ta’sirga asoslangan ko‘rsatkich.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456432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456432"/>
            <a:ext cx="32004" cy="914400"/>
          </a:xfrm>
          <a:prstGeom prst="rect">
            <a:avLst/>
          </a:prstGeom>
          <a:solidFill>
            <a:srgbClr val="1D6FB8"/>
          </a:solidFill>
          <a:ln>
            <a:solidFill>
              <a:srgbClr val="1D6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557016"/>
            <a:ext cx="5029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1" i="0">
                <a:solidFill>
                  <a:srgbClr val="1D6FB8"/>
                </a:solidFill>
                <a:latin typeface="Aptos"/>
              </a:rPr>
              <a:t>Javob choralarini rejalashtirish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3886200"/>
            <a:ext cx="5029200" cy="4206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 i="0">
                <a:solidFill>
                  <a:srgbClr val="20364B"/>
                </a:solidFill>
                <a:latin typeface="Aptos"/>
              </a:rPr>
              <a:t>Har bir muhim risk uchun strategiya va aniq chora-tadbirlarni belgilash.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456432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3456432"/>
            <a:ext cx="32004" cy="91440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3557016"/>
            <a:ext cx="5029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1" i="0">
                <a:solidFill>
                  <a:srgbClr val="2E8B57"/>
                </a:solidFill>
                <a:latin typeface="Aptos"/>
              </a:rPr>
              <a:t>Risklarni kamaytirish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3886200"/>
            <a:ext cx="5029200" cy="4206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 i="0">
                <a:solidFill>
                  <a:srgbClr val="20364B"/>
                </a:solidFill>
                <a:latin typeface="Aptos"/>
              </a:rPr>
              <a:t>Risk ehtimoli yoki ta’sirini pasaytirishga qaratilgan harakatlar.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645152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4645152"/>
            <a:ext cx="32004" cy="9144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952" y="4745736"/>
            <a:ext cx="5029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1" i="0">
                <a:solidFill>
                  <a:srgbClr val="D97706"/>
                </a:solidFill>
                <a:latin typeface="Aptos"/>
              </a:rPr>
              <a:t>Choralarni amalga oshirish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5074920"/>
            <a:ext cx="5029200" cy="4206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 i="0">
                <a:solidFill>
                  <a:srgbClr val="20364B"/>
                </a:solidFill>
                <a:latin typeface="Aptos"/>
              </a:rPr>
              <a:t>Risklarga qarshi rejalashtirilgan harakatlarni real loyiha jarayonida bajarish.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4645152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4645152"/>
            <a:ext cx="32004" cy="914400"/>
          </a:xfrm>
          <a:prstGeom prst="rect">
            <a:avLst/>
          </a:prstGeom>
          <a:solidFill>
            <a:srgbClr val="6D46D9"/>
          </a:solidFill>
          <a:ln>
            <a:solidFill>
              <a:srgbClr val="6D4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1072" y="4745736"/>
            <a:ext cx="5029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1" i="0">
                <a:solidFill>
                  <a:srgbClr val="6D46D9"/>
                </a:solidFill>
                <a:latin typeface="Aptos"/>
              </a:rPr>
              <a:t>Monitoring va nazorat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2" y="5074920"/>
            <a:ext cx="5029200" cy="42062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80" b="0" i="0">
                <a:solidFill>
                  <a:srgbClr val="20364B"/>
                </a:solidFill>
                <a:latin typeface="Aptos"/>
              </a:rPr>
              <a:t>Risklar holatini kuzatish, yangi risklarni aniqlash, trigger va choralarni tekshirish, hujjatlarni yangilash.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45720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155448"/>
            <a:ext cx="10881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B5C8E"/>
                </a:solidFill>
                <a:latin typeface="Aptos Display"/>
              </a:rPr>
              <a:t>Glossariy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521207"/>
            <a:ext cx="106984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30" b="0" i="0">
                <a:solidFill>
                  <a:srgbClr val="6B7F91"/>
                </a:solidFill>
                <a:latin typeface="Aptos"/>
              </a:rPr>
              <a:t>Monitoring tushunchalari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786384"/>
            <a:ext cx="987552" cy="228600"/>
          </a:xfrm>
          <a:prstGeom prst="round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82296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FFFFFF"/>
                </a:solidFill>
                <a:latin typeface="Aptos"/>
              </a:rPr>
              <a:t>GLOSSARIY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6601968"/>
            <a:ext cx="10927080" cy="164592"/>
          </a:xfrm>
          <a:prstGeom prst="rect">
            <a:avLst/>
          </a:prstGeom>
          <a:solidFill>
            <a:srgbClr val="0B5C8E"/>
          </a:solidFill>
          <a:ln>
            <a:solidFill>
              <a:srgbClr val="0B5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6336792"/>
            <a:ext cx="6766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6B7F91"/>
                </a:solidFill>
                <a:latin typeface="Aptos"/>
              </a:rPr>
              <a:t>D.R. Najmiddinov • “Loyihalarni boshqarish” darsligi,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45936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7F91"/>
                </a:solidFill>
                <a:latin typeface="Aptos"/>
              </a:rPr>
              <a:t>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417320"/>
            <a:ext cx="48463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417320"/>
            <a:ext cx="32004" cy="146304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517904"/>
            <a:ext cx="4617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Aptos"/>
              </a:rPr>
              <a:t>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1847088"/>
            <a:ext cx="4617720" cy="9692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0364B"/>
                </a:solidFill>
                <a:latin typeface="Aptos"/>
              </a:rPr>
              <a:t>Risk yuzaga kelishi mumkinligini erta bildiruvchi belgi yoki hodisa.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417320"/>
            <a:ext cx="48463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417320"/>
            <a:ext cx="32004" cy="1463040"/>
          </a:xfrm>
          <a:prstGeom prst="rect">
            <a:avLst/>
          </a:prstGeom>
          <a:solidFill>
            <a:srgbClr val="6D46D9"/>
          </a:solidFill>
          <a:ln>
            <a:solidFill>
              <a:srgbClr val="6D4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1517904"/>
            <a:ext cx="4617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6D46D9"/>
                </a:solidFill>
                <a:latin typeface="Aptos"/>
              </a:rPr>
              <a:t>Risk auditi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1847088"/>
            <a:ext cx="4617720" cy="9692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60" b="0" i="0">
                <a:solidFill>
                  <a:srgbClr val="20364B"/>
                </a:solidFill>
                <a:latin typeface="Aptos"/>
              </a:rPr>
              <a:t>Risklarni boshqarish ishlari va hujjatlarini mustaqil tekshirish hamda takomillashtirish bo‘yicha tavsiyalar berish jarayoni.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611880"/>
            <a:ext cx="48463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611880"/>
            <a:ext cx="32004" cy="1463040"/>
          </a:xfrm>
          <a:prstGeom prst="rect">
            <a:avLst/>
          </a:prstGeom>
          <a:solidFill>
            <a:srgbClr val="D94B45"/>
          </a:solidFill>
          <a:ln>
            <a:solidFill>
              <a:srgbClr val="D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3712464"/>
            <a:ext cx="4617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D94B45"/>
                </a:solidFill>
                <a:latin typeface="Aptos"/>
              </a:rPr>
              <a:t>Zaxira reja (contingency plan)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4041648"/>
            <a:ext cx="4617720" cy="9692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60" b="0" i="0">
                <a:solidFill>
                  <a:srgbClr val="20364B"/>
                </a:solidFill>
                <a:latin typeface="Aptos"/>
              </a:rPr>
              <a:t>Risk ro‘yobga chiqqanda tezda ishga tushiriladigan oldindan tayyorlangan amaliy harakatlar rejasi.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611880"/>
            <a:ext cx="48463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611880"/>
            <a:ext cx="32004" cy="1463040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3712464"/>
            <a:ext cx="4617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E8B57"/>
                </a:solidFill>
                <a:latin typeface="Aptos"/>
              </a:rPr>
              <a:t>O‘rganilgan saboqlar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4041648"/>
            <a:ext cx="4617720" cy="9692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60" b="0" i="0">
                <a:solidFill>
                  <a:srgbClr val="20364B"/>
                </a:solidFill>
                <a:latin typeface="Aptos"/>
              </a:rPr>
              <a:t>Risklar, javob choralarining natijadorligi va takomillashtirish yo‘llari bo‘yicha loyiha oxirida hujjatlashtirilgan tajriba.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