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</p:sldIdLst>
  <p:notesMasterIdLst>
    <p:notesMasterId r:id="rId4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notesMaster" Target="notesMasters/notesMaster1.xml"/><Relationship Id="rId47" Type="http://schemas.openxmlformats.org/officeDocument/2006/relationships/presProps" Target="presProps.xml"/><Relationship Id="rId48" Type="http://schemas.openxmlformats.org/officeDocument/2006/relationships/viewProps" Target="viewProps.xml"/><Relationship Id="rId49" Type="http://schemas.openxmlformats.org/officeDocument/2006/relationships/theme" Target="theme/theme1.xml"/><Relationship Id="rId5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528816"/>
            <a:ext cx="6583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2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D.R. Najmiddinov • Loyihalarni boshqarish • 9-bob</a:t>
            </a:r>
            <a:endParaRPr lang="en-US" sz="720" dirty="0"/>
          </a:p>
        </p:txBody>
      </p:sp>
      <p:sp>
        <p:nvSpPr>
          <p:cNvPr id="4" name="Text 2"/>
          <p:cNvSpPr/>
          <p:nvPr/>
        </p:nvSpPr>
        <p:spPr>
          <a:xfrm>
            <a:off x="10835640" y="6528816"/>
            <a:ext cx="822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2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2026</a:t>
            </a:r>
            <a:endParaRPr lang="en-US" sz="7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80360" cy="6858000"/>
          </a:xfrm>
          <a:prstGeom prst="rect">
            <a:avLst/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9144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9-BOB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02920" y="1481328"/>
            <a:ext cx="2084832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LOYIHA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KOMMUNIKATSIYASINI</a:t>
            </a:r>
            <a:endParaRPr lang="en-US" sz="1900" dirty="0"/>
          </a:p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BOSHQARISH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502920" y="3803904"/>
            <a:ext cx="2121408" cy="9601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D9ECF7"/>
                </a:solidFill>
              </a:rPr>
              <a:t>Axborot • fikr-mulohaza • hisobot • kommunikatsiya rejasi</a:t>
            </a:r>
            <a:endParaRPr lang="en-US" sz="860" dirty="0"/>
          </a:p>
        </p:txBody>
      </p:sp>
      <p:sp>
        <p:nvSpPr>
          <p:cNvPr id="6" name="Shape 4"/>
          <p:cNvSpPr/>
          <p:nvPr/>
        </p:nvSpPr>
        <p:spPr>
          <a:xfrm>
            <a:off x="6812280" y="2606040"/>
            <a:ext cx="1828800" cy="1828800"/>
          </a:xfrm>
          <a:prstGeom prst="ellipse">
            <a:avLst/>
          </a:prstGeom>
          <a:solidFill>
            <a:srgbClr val="EDF6FB"/>
          </a:solidFill>
          <a:ln w="25400">
            <a:solidFill>
              <a:srgbClr val="0B5C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114032" y="3154680"/>
            <a:ext cx="1234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5C8E"/>
                </a:solidFill>
              </a:rPr>
              <a:t>AXBOROT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B5C8E"/>
                </a:solidFill>
              </a:rPr>
              <a:t>ALMASHINUVI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325880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6510">
            <a:solidFill>
              <a:srgbClr val="1D6FB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46320" y="15270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D6FB8"/>
                </a:solidFill>
              </a:rPr>
              <a:t>Jo‘natuvchi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9052560" y="1325880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651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152704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D97706"/>
                </a:solidFill>
              </a:rPr>
              <a:t>Qabul qiluvchi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572000" y="4846320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6510">
            <a:solidFill>
              <a:srgbClr val="2F8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504748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855A"/>
                </a:solidFill>
              </a:rPr>
              <a:t>Xabar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9144000" y="4800600"/>
            <a:ext cx="15544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6510">
            <a:solidFill>
              <a:srgbClr val="6B4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235440" y="5001768"/>
            <a:ext cx="137160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B46C1"/>
                </a:solidFill>
              </a:rPr>
              <a:t>Fikr-mulohaza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309360" y="1783080"/>
            <a:ext cx="1005840" cy="914400"/>
          </a:xfrm>
          <a:prstGeom prst="line">
            <a:avLst/>
          </a:prstGeom>
          <a:noFill/>
          <a:ln w="17780">
            <a:solidFill>
              <a:srgbClr val="8BA8BB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8732520" y="2788920"/>
            <a:ext cx="868680" cy="-914400"/>
          </a:xfrm>
          <a:prstGeom prst="line">
            <a:avLst/>
          </a:prstGeom>
          <a:noFill/>
          <a:ln w="17780">
            <a:solidFill>
              <a:srgbClr val="8BA8BB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315200" y="4297680"/>
            <a:ext cx="-1188720" cy="822960"/>
          </a:xfrm>
          <a:prstGeom prst="line">
            <a:avLst/>
          </a:prstGeom>
          <a:noFill/>
          <a:ln w="17780">
            <a:solidFill>
              <a:srgbClr val="8BA8B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458200" y="4160520"/>
            <a:ext cx="914400" cy="731520"/>
          </a:xfrm>
          <a:prstGeom prst="line">
            <a:avLst/>
          </a:prstGeom>
          <a:noFill/>
          <a:ln w="17780">
            <a:solidFill>
              <a:srgbClr val="8BA8BB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703320" y="6080760"/>
            <a:ext cx="7132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67788"/>
                </a:solidFill>
              </a:rPr>
              <a:t>D.R. Najmiddinov • “Loyihalarni boshqarish” darsligi, 2026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Mavzu tuzilishi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9-bob doirasidagi asosiy bo‘limlar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9-BOB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1097280" y="1609344"/>
            <a:ext cx="101041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61872" y="1746504"/>
            <a:ext cx="713232" cy="365760"/>
          </a:xfrm>
          <a:prstGeom prst="roundRect">
            <a:avLst>
              <a:gd name="adj" fmla="val 12500"/>
            </a:avLst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61872" y="1856232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9.1</a:t>
            </a:r>
            <a:endParaRPr lang="en-US" sz="720" dirty="0"/>
          </a:p>
        </p:txBody>
      </p:sp>
      <p:sp>
        <p:nvSpPr>
          <p:cNvPr id="9" name="Text 7"/>
          <p:cNvSpPr/>
          <p:nvPr/>
        </p:nvSpPr>
        <p:spPr>
          <a:xfrm>
            <a:off x="2267712" y="1783080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313F"/>
                </a:solidFill>
              </a:rPr>
              <a:t>Loyiha kommunikatsiyasini boshqarish tushunchasi va uning ahamiyati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097280" y="2670048"/>
            <a:ext cx="101041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261872" y="2807208"/>
            <a:ext cx="713232" cy="365760"/>
          </a:xfrm>
          <a:prstGeom prst="roundRect">
            <a:avLst>
              <a:gd name="adj" fmla="val 125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61872" y="2916936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9.2</a:t>
            </a:r>
            <a:endParaRPr lang="en-US" sz="720" dirty="0"/>
          </a:p>
        </p:txBody>
      </p:sp>
      <p:sp>
        <p:nvSpPr>
          <p:cNvPr id="13" name="Text 11"/>
          <p:cNvSpPr/>
          <p:nvPr/>
        </p:nvSpPr>
        <p:spPr>
          <a:xfrm>
            <a:off x="2267712" y="2843784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313F"/>
                </a:solidFill>
              </a:rPr>
              <a:t>Kommunikatsiyani rejalashtirish va modellarni qo‘llash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1097280" y="3730752"/>
            <a:ext cx="101041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61872" y="3867912"/>
            <a:ext cx="713232" cy="365760"/>
          </a:xfrm>
          <a:prstGeom prst="roundRect">
            <a:avLst>
              <a:gd name="adj" fmla="val 12500"/>
            </a:avLst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3977640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9.3</a:t>
            </a:r>
            <a:endParaRPr lang="en-US" sz="720" dirty="0"/>
          </a:p>
        </p:txBody>
      </p:sp>
      <p:sp>
        <p:nvSpPr>
          <p:cNvPr id="17" name="Text 15"/>
          <p:cNvSpPr/>
          <p:nvPr/>
        </p:nvSpPr>
        <p:spPr>
          <a:xfrm>
            <a:off x="2267712" y="3904488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313F"/>
                </a:solidFill>
              </a:rPr>
              <a:t>Ma’lumot tarqatish va fikr-mulohaza almashish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97280" y="4791456"/>
            <a:ext cx="10104120" cy="658368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261872" y="4928616"/>
            <a:ext cx="713232" cy="365760"/>
          </a:xfrm>
          <a:prstGeom prst="roundRect">
            <a:avLst>
              <a:gd name="adj" fmla="val 12500"/>
            </a:avLst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1872" y="5038344"/>
            <a:ext cx="713232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</a:rPr>
              <a:t>9.4</a:t>
            </a:r>
            <a:endParaRPr lang="en-US" sz="720" dirty="0"/>
          </a:p>
        </p:txBody>
      </p:sp>
      <p:sp>
        <p:nvSpPr>
          <p:cNvPr id="21" name="Text 19"/>
          <p:cNvSpPr/>
          <p:nvPr/>
        </p:nvSpPr>
        <p:spPr>
          <a:xfrm>
            <a:off x="2267712" y="4965192"/>
            <a:ext cx="8595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24313F"/>
                </a:solidFill>
              </a:rPr>
              <a:t>Bajarilish hisobotlarini boshqarish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Tayanch iboralar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Mavzuni o‘zlashtirish uchun asosiy tushunchalar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TAYANCH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49808" y="1664208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EAF3F9"/>
          </a:solidFill>
          <a:ln w="12700">
            <a:solidFill>
              <a:srgbClr val="EAF3F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773936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5C8E"/>
                </a:solidFill>
              </a:rPr>
              <a:t>Loyiha kommunikatsiyasi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3520440" y="1664208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93592" y="1773936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</a:rPr>
              <a:t>Axborot oqimi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6291072" y="1664208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64224" y="1773936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Manfaatdor tomonlar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9061704" y="1664208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F2ECFB"/>
          </a:solidFill>
          <a:ln w="12700">
            <a:solidFill>
              <a:srgbClr val="F2ECF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134856" y="1773936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46C1"/>
                </a:solidFill>
              </a:rPr>
              <a:t>Kommunikatsiya rejasi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749808" y="2414016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EAF3F9"/>
          </a:solidFill>
          <a:ln w="12700">
            <a:solidFill>
              <a:srgbClr val="EAF3F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523744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5C8E"/>
                </a:solidFill>
              </a:rPr>
              <a:t>Kommunikatsiya modeli</a:t>
            </a:r>
            <a:endParaRPr lang="en-US" sz="750" dirty="0"/>
          </a:p>
        </p:txBody>
      </p:sp>
      <p:sp>
        <p:nvSpPr>
          <p:cNvPr id="16" name="Shape 14"/>
          <p:cNvSpPr/>
          <p:nvPr/>
        </p:nvSpPr>
        <p:spPr>
          <a:xfrm>
            <a:off x="3520440" y="2414016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2523744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</a:rPr>
              <a:t>Jo‘natuvchi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6291072" y="2414016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64224" y="2523744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Qabul qiluvchi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9061704" y="2414016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F2ECFB"/>
          </a:solidFill>
          <a:ln w="12700">
            <a:solidFill>
              <a:srgbClr val="F2ECF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34856" y="2523744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46C1"/>
                </a:solidFill>
              </a:rPr>
              <a:t>Xabar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49808" y="3163824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EAF3F9"/>
          </a:solidFill>
          <a:ln w="12700">
            <a:solidFill>
              <a:srgbClr val="EAF3F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22960" y="3273552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5C8E"/>
                </a:solidFill>
              </a:rPr>
              <a:t>Fikr-mulohaza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3520440" y="3163824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93592" y="3273552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</a:rPr>
              <a:t>Axborot kanali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6291072" y="3163824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64224" y="3273552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Ma’lumot tarqatish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9061704" y="3163824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F2ECFB"/>
          </a:solidFill>
          <a:ln w="12700">
            <a:solidFill>
              <a:srgbClr val="F2ECF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134856" y="3273552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46C1"/>
                </a:solidFill>
              </a:rPr>
              <a:t>Bajarilish hisoboti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749808" y="3913632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EAF3F9"/>
          </a:solidFill>
          <a:ln w="12700">
            <a:solidFill>
              <a:srgbClr val="EAF3F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22960" y="4023360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5C8E"/>
                </a:solidFill>
              </a:rPr>
              <a:t>Axborot ehtiyoji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3520440" y="3913632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93592" y="4023360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</a:rPr>
              <a:t>Ochiq muloqot</a:t>
            </a:r>
            <a:endParaRPr lang="en-US" sz="750" dirty="0"/>
          </a:p>
        </p:txBody>
      </p:sp>
      <p:sp>
        <p:nvSpPr>
          <p:cNvPr id="34" name="Shape 32"/>
          <p:cNvSpPr/>
          <p:nvPr/>
        </p:nvSpPr>
        <p:spPr>
          <a:xfrm>
            <a:off x="6291072" y="3913632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FFF4E6"/>
          </a:solidFill>
          <a:ln w="12700">
            <a:solidFill>
              <a:srgbClr val="FFF4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64224" y="4023360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D97706"/>
                </a:solidFill>
              </a:rPr>
              <a:t>Kommunikatsiya samaradorligi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9061704" y="3913632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F2ECFB"/>
          </a:solidFill>
          <a:ln w="12700">
            <a:solidFill>
              <a:srgbClr val="F2ECF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134856" y="4023360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B46C1"/>
                </a:solidFill>
              </a:rPr>
              <a:t>Monitoring axboroti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749808" y="4663440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EAF3F9"/>
          </a:solidFill>
          <a:ln w="12700">
            <a:solidFill>
              <a:srgbClr val="EAF3F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22960" y="4773168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B5C8E"/>
                </a:solidFill>
              </a:rPr>
              <a:t>Axborot yuklamasi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3520440" y="4663440"/>
            <a:ext cx="2331720" cy="365760"/>
          </a:xfrm>
          <a:prstGeom prst="roundRect">
            <a:avLst>
              <a:gd name="adj" fmla="val 20000"/>
            </a:avLst>
          </a:prstGeom>
          <a:solidFill>
            <a:srgbClr val="EDF7F1"/>
          </a:solidFill>
          <a:ln w="12700">
            <a:solidFill>
              <a:srgbClr val="EDF7F1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93592" y="4773168"/>
            <a:ext cx="218541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F855A"/>
                </a:solidFill>
              </a:rPr>
              <a:t>Risklarni kamaytirish</a:t>
            </a:r>
            <a:endParaRPr lang="en-US" sz="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Loyiha kommunikatsiyasini boshqarish nima?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Axborot oqimlarini tartibga soluvchi va qarorlarni ishonchli ma’lumot bilan ta’minlovchi tizim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9.1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691640"/>
            <a:ext cx="3429000" cy="324612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91640"/>
            <a:ext cx="45720" cy="324612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56232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To‘g‘ri axborot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212848"/>
            <a:ext cx="3081528" cy="2587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Kerakli ma’lumot mazmunan aniq, ishonchli va noto‘g‘ri talqinga yo‘l qo‘ymaydigan shaklda bo‘lishi kerak.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389120" y="1691640"/>
            <a:ext cx="3429000" cy="324612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0" y="1691640"/>
            <a:ext cx="45720" cy="3246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1856232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O‘z vaqtida yetkazish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0" y="2212848"/>
            <a:ext cx="3081528" cy="2587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Axborot qaror qabul qilinishi va ish bajarilishi uchun kerak bo‘lgan paytda manfaatdor tomonga yetib boradi.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001000" y="1691640"/>
            <a:ext cx="3429000" cy="324612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01000" y="1691640"/>
            <a:ext cx="45720" cy="32461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83880" y="1856232"/>
            <a:ext cx="30815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Kerakli shakl va auditoriya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183880" y="2212848"/>
            <a:ext cx="3081528" cy="25877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Bir xil ma’lumot ham loyiha jamoasi, rahbariyat va buyurtmachi uchun turlicha darajada batafsil va turlicha formatda taqdim etiladi.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Kommunikatsiya — xabar yuborish emas; yaratish → qayta ishlash → uzatish → qabul qilish → talqin → fikr-mulohaza jarayonidir.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Nega kommunikatsiya markaziy mexanizm?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Rejalashtirish, ijro va nazorat samaradorligi axborot almashinuviga bog‘liq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9.1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1005840" y="2057400"/>
            <a:ext cx="278892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9050">
            <a:solidFill>
              <a:srgbClr val="1D6F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57400" y="1527048"/>
            <a:ext cx="685800" cy="685800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57400" y="176479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80160" y="2578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D6FB8"/>
                </a:solidFill>
              </a:rPr>
              <a:t>REJALASHTIRISH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298448" y="3127248"/>
            <a:ext cx="219456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Maqsad, hajm, muddat, byudjet va sifat talablarini kelishtirish.</a:t>
            </a:r>
            <a:endParaRPr lang="en-US" sz="920" dirty="0"/>
          </a:p>
        </p:txBody>
      </p:sp>
      <p:sp>
        <p:nvSpPr>
          <p:cNvPr id="11" name="Shape 9"/>
          <p:cNvSpPr/>
          <p:nvPr/>
        </p:nvSpPr>
        <p:spPr>
          <a:xfrm>
            <a:off x="4187952" y="2057400"/>
            <a:ext cx="278892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39512" y="1527048"/>
            <a:ext cx="685800" cy="685800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39512" y="176479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4462272" y="2578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F855A"/>
                </a:solidFill>
              </a:rPr>
              <a:t>IJRO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480560" y="3127248"/>
            <a:ext cx="219456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Jamoa vazifalari, resurslar va bog‘liq ishlarni muvofiqlashtirish.</a:t>
            </a:r>
            <a:endParaRPr lang="en-US" sz="920" dirty="0"/>
          </a:p>
        </p:txBody>
      </p:sp>
      <p:sp>
        <p:nvSpPr>
          <p:cNvPr id="16" name="Shape 14"/>
          <p:cNvSpPr/>
          <p:nvPr/>
        </p:nvSpPr>
        <p:spPr>
          <a:xfrm>
            <a:off x="7370064" y="2057400"/>
            <a:ext cx="278892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905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21624" y="1527048"/>
            <a:ext cx="685800" cy="68580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21624" y="1764792"/>
            <a:ext cx="685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7644384" y="2578608"/>
            <a:ext cx="2240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97706"/>
                </a:solidFill>
              </a:rPr>
              <a:t>NAZORAT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662672" y="3127248"/>
            <a:ext cx="2194560" cy="6858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Monitoring natijalari, og‘ishlar va tuzatish choralarini kelishtirish.</a:t>
            </a:r>
            <a:endParaRPr lang="en-US" sz="920" dirty="0"/>
          </a:p>
        </p:txBody>
      </p:sp>
      <p:sp>
        <p:nvSpPr>
          <p:cNvPr id="21" name="Shape 19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Axborot uzilishi — bog‘langan vazifalar zanjiridagi uzilishdir.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Rejalashtirish bosqichida kommunikatsiya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“Umumiy tushuncha maydoni”ni shakllantirish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9.1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645920"/>
            <a:ext cx="3246120" cy="329184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45920"/>
            <a:ext cx="45720" cy="329184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10512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Kelishiladigan elementlar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167128"/>
            <a:ext cx="2898648" cy="2633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• loyiha maqsadlari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• loyiha hajmi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• muddatlar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• byudjet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• sifat talablari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462272" y="1645920"/>
            <a:ext cx="3246120" cy="329184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2272" y="1645920"/>
            <a:ext cx="45720" cy="32918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810512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Asosiy boshqaruv savollari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45152" y="2167128"/>
            <a:ext cx="2898648" cy="2633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Kimga?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Qachon?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Qaysi formatda?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Qanday mazmunda?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Kim yuboradi?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138160" y="1645920"/>
            <a:ext cx="3246120" cy="329184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645920"/>
            <a:ext cx="45720" cy="32918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810512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Oldini olinadigan ziddiyatlar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0" y="2167128"/>
            <a:ext cx="2898648" cy="2633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“Biz bunday kelishmagandik.”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“Boshqa natija kutgandik.”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“Bu vazifa kimga tegishli?”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“Qachon topshirish kerak edi?”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Dastlabki kommunikatsiya — manfaatdor tomonlar kutilmalarini boshqarishning asosiy vositasi.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Bajarish bosqichida kommunikatsiya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Jamoaning kundalik hamkorligi va vazifalar zanjirini birlashtiradi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9.1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58368" y="1783080"/>
            <a:ext cx="251460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1783080"/>
            <a:ext cx="45720" cy="20574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947672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Texnik yechim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41248" y="2304288"/>
            <a:ext cx="2167128" cy="1399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Texnik vazifalar va yechimlar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520440" y="1783080"/>
            <a:ext cx="251460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520440" y="1783080"/>
            <a:ext cx="45720" cy="20574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703320" y="1947672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Hujjatlash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703320" y="2304288"/>
            <a:ext cx="2167128" cy="1399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Hujjatlar, protokollar, versiyalar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382512" y="1783080"/>
            <a:ext cx="251460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82512" y="1783080"/>
            <a:ext cx="45720" cy="2057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65392" y="1947672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Moliya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65392" y="2304288"/>
            <a:ext cx="2167128" cy="1399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Xarajatlar va moliyaviy ma’lumotlar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244584" y="1783080"/>
            <a:ext cx="2514600" cy="20574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44584" y="1783080"/>
            <a:ext cx="45720" cy="205740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27464" y="1947672"/>
            <a:ext cx="21671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Ta’minot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427464" y="2304288"/>
            <a:ext cx="2167128" cy="1399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Resurs va xarid ehtiyojlari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051560" y="4389120"/>
            <a:ext cx="10012680" cy="777240"/>
          </a:xfrm>
          <a:prstGeom prst="chevron">
            <a:avLst/>
          </a:prstGeom>
          <a:solidFill>
            <a:srgbClr val="E7EEF4"/>
          </a:solidFill>
          <a:ln w="12700">
            <a:solidFill>
              <a:srgbClr val="B9C9D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600200" y="4636008"/>
            <a:ext cx="8915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5C8E"/>
                </a:solidFill>
              </a:rPr>
              <a:t>Bir yo‘nalishdagi to‘g‘ri ish ham axborot almashinuvi bo‘lmasa umumiy natijani ta’minlamaydi.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Axborot uzilishi → kechikish → takroriy ish → noto‘g‘ri qaror → xarajat oshishi.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Nazorat bosqichida kommunikatsiya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Monitoring axborotini qarorga aylantirish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9.1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58368" y="1874520"/>
            <a:ext cx="2514600" cy="260604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7780">
            <a:solidFill>
              <a:srgbClr val="1D6FB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572768" y="1481328"/>
            <a:ext cx="658368" cy="658368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72768" y="170078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914400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D6FB8"/>
                </a:solidFill>
              </a:rPr>
              <a:t>Monitoring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950976" y="3063240"/>
            <a:ext cx="1938528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788"/>
                </a:solidFill>
              </a:rPr>
              <a:t>Haqiqiy holat bo‘yicha ma’lumot yig‘iladi.</a:t>
            </a:r>
            <a:endParaRPr lang="en-US" sz="870" dirty="0"/>
          </a:p>
        </p:txBody>
      </p:sp>
      <p:sp>
        <p:nvSpPr>
          <p:cNvPr id="11" name="Shape 9"/>
          <p:cNvSpPr/>
          <p:nvPr/>
        </p:nvSpPr>
        <p:spPr>
          <a:xfrm>
            <a:off x="3529584" y="1874520"/>
            <a:ext cx="2514600" cy="260604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43984" y="1481328"/>
            <a:ext cx="658368" cy="65836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443984" y="170078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785616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D97706"/>
                </a:solidFill>
              </a:rPr>
              <a:t>Og‘ishni aniqlash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822192" y="3063240"/>
            <a:ext cx="1938528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788"/>
                </a:solidFill>
              </a:rPr>
              <a:t>Reja va haqiqiy natija solishtiriladi.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6400800" y="1874520"/>
            <a:ext cx="2514600" cy="260604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7780">
            <a:solidFill>
              <a:srgbClr val="6B46C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15200" y="1481328"/>
            <a:ext cx="658368" cy="658368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0" y="170078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56832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B46C1"/>
                </a:solidFill>
              </a:rPr>
              <a:t>Sababni izohlash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693408" y="3063240"/>
            <a:ext cx="1938528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788"/>
                </a:solidFill>
              </a:rPr>
              <a:t>Og‘ishning sababi manfaatdor tomonlarga tushuntiriladi.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9272016" y="1874520"/>
            <a:ext cx="2514600" cy="2606040"/>
          </a:xfrm>
          <a:prstGeom prst="roundRect">
            <a:avLst>
              <a:gd name="adj" fmla="val 2182"/>
            </a:avLst>
          </a:prstGeom>
          <a:solidFill>
            <a:srgbClr val="FFFFFF"/>
          </a:solidFill>
          <a:ln w="17780">
            <a:solidFill>
              <a:srgbClr val="2F855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186416" y="1481328"/>
            <a:ext cx="658368" cy="658368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186416" y="1700784"/>
            <a:ext cx="658368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9528048" y="246888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55A"/>
                </a:solidFill>
              </a:rPr>
              <a:t>Tuzatish chorasi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9564624" y="3063240"/>
            <a:ext cx="1938528" cy="65836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870" dirty="0">
                <a:solidFill>
                  <a:srgbClr val="667788"/>
                </a:solidFill>
              </a:rPr>
              <a:t>Kelishilgan korrektiv harakat amalga oshiriladi.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Muammo erta xabar qilinsa — kichik resurs bilan bartaraf etiladi; kechiksa — inqiroz darajasiga chiqishi mumkin.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Kommunikatsiya muammolari qanday oqibat beradi?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Ko‘pincha texnik nuqson emas, axborot almashinuvidagi xato loyihani sekinlashtiradi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9.1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68096" y="1600200"/>
            <a:ext cx="5074920" cy="1691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68096" y="1600200"/>
            <a:ext cx="45720" cy="169164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50976" y="1764792"/>
            <a:ext cx="4727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Kech axborot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50976" y="2121408"/>
            <a:ext cx="4727448" cy="10332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Jamoa eski yoki noto‘g‘ri yo‘nalishda ishlaydi.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300216" y="1600200"/>
            <a:ext cx="5074920" cy="1691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0216" y="1600200"/>
            <a:ext cx="45720" cy="16916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83096" y="1764792"/>
            <a:ext cx="4727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Noto‘liq axborot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83096" y="2121408"/>
            <a:ext cx="4727448" cy="10332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Vazifa talablari to‘liq tushunilmaydi.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68096" y="3685032"/>
            <a:ext cx="5074920" cy="1691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3685032"/>
            <a:ext cx="45720" cy="169164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50976" y="3849624"/>
            <a:ext cx="4727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Tushunarsiz ifoda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50976" y="4206240"/>
            <a:ext cx="4727448" cy="10332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Bir xil topshiriq turlicha talqin qilinadi.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300216" y="3685032"/>
            <a:ext cx="5074920" cy="1691640"/>
          </a:xfrm>
          <a:prstGeom prst="roundRect">
            <a:avLst>
              <a:gd name="adj" fmla="val 2162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300216" y="3685032"/>
            <a:ext cx="45720" cy="16916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83096" y="3849624"/>
            <a:ext cx="4727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Qayta ishlash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83096" y="4206240"/>
            <a:ext cx="4727448" cy="10332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Xatolarni tuzatish vaqt va xarajatni oshiradi.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Qayta ishlash (rework) vaqt, xarajat va sifatga bir vaqtning o‘zida salbiy ta’sir qiladi.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Kommunikatsiya — ikki tomonlama jarayon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“Axborot yuborildi” ≠ “axborot qabul qilindi va to‘g‘ri tushunildi”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9.1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1051560" y="1874520"/>
            <a:ext cx="2743200" cy="1143000"/>
          </a:xfrm>
          <a:prstGeom prst="roundRect">
            <a:avLst>
              <a:gd name="adj" fmla="val 5600"/>
            </a:avLst>
          </a:prstGeom>
          <a:solidFill>
            <a:srgbClr val="EAF3F9"/>
          </a:solidFill>
          <a:ln w="19050">
            <a:solidFill>
              <a:srgbClr val="1D6F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325880" y="233172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D6FB8"/>
                </a:solidFill>
              </a:rPr>
              <a:t>JO‘NATUVCHI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33088" y="2148840"/>
            <a:ext cx="1828800" cy="566928"/>
          </a:xfrm>
          <a:prstGeom prst="chevron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434840" y="2350008"/>
            <a:ext cx="11887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XABAR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2743200" cy="1143000"/>
          </a:xfrm>
          <a:prstGeom prst="roundRect">
            <a:avLst>
              <a:gd name="adj" fmla="val 5600"/>
            </a:avLst>
          </a:prstGeom>
          <a:solidFill>
            <a:srgbClr val="EDF7F1"/>
          </a:solidFill>
          <a:ln w="1905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2331720"/>
            <a:ext cx="21945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F855A"/>
                </a:solidFill>
              </a:rPr>
              <a:t>QABUL QILUVCHI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rot="10800000">
            <a:off x="5257800" y="3703320"/>
            <a:ext cx="-1828800" cy="566928"/>
          </a:xfrm>
          <a:prstGeom prst="chevron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543800" y="3977640"/>
            <a:ext cx="-4846320" cy="0"/>
          </a:xfrm>
          <a:prstGeom prst="line">
            <a:avLst/>
          </a:prstGeom>
          <a:noFill/>
          <a:ln w="25400">
            <a:solidFill>
              <a:srgbClr val="6B46C1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4251960" y="3675888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6C1"/>
                </a:solidFill>
              </a:rPr>
              <a:t>FIKR-MULOHAZA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Fikr-mulohaza xabarni aniqlashtiradi, xatoni erta aniqlaydi va noto‘g‘ri qaror ehtimolini kamaytiradi.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Og‘zaki va yozma kommunikatsiya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Tezkorlik va rasmiylik o‘rtasida muvozanat zarur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9.1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868680" y="1664208"/>
            <a:ext cx="4892040" cy="3383280"/>
          </a:xfrm>
          <a:prstGeom prst="roundRect">
            <a:avLst>
              <a:gd name="adj" fmla="val 1081"/>
            </a:avLst>
          </a:prstGeom>
          <a:solidFill>
            <a:srgbClr val="FFF8E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664208"/>
            <a:ext cx="45720" cy="33832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28800"/>
            <a:ext cx="4544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Og‘zaki muloqot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2185416"/>
            <a:ext cx="4544568" cy="2724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USTUNLIK: tezkor muhokama, savol-javob, darhol aniqlashtirish.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XAVF: hujjatlashtirilmasa unutish, inkor etish yoki turlicha eslab qolish ehtimoli oshadi.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446520" y="1664208"/>
            <a:ext cx="4892040" cy="3383280"/>
          </a:xfrm>
          <a:prstGeom prst="roundRect">
            <a:avLst>
              <a:gd name="adj" fmla="val 1081"/>
            </a:avLst>
          </a:prstGeom>
          <a:solidFill>
            <a:srgbClr val="F2F7FB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46520" y="1664208"/>
            <a:ext cx="45720" cy="338328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629400" y="1828800"/>
            <a:ext cx="4544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Yozma kommunikatsiya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629400" y="2185416"/>
            <a:ext cx="4544568" cy="27249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USTUNLIK: izchillik, rasmiylik, isbotlanuvchanlik va keyin qayta ko‘rish imkoniyati.</a:t>
            </a:r>
            <a:endParaRPr lang="en-US" sz="920" dirty="0"/>
          </a:p>
          <a:p>
            <a:pPr indent="0" marL="0">
              <a:buNone/>
            </a:pP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XAVF: ortiqcha byurokratiya jarayonni sekinlashtirishi va axborot yuklamasini oshirishi mumkin.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Eng samarali kombinatsiya: tezkor muhokama → aniq kelishuv → muhim qarorni rasmiylashtirish.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52928" cy="6858000"/>
          </a:xfrm>
          <a:prstGeom prst="rect">
            <a:avLst/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0789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9.2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12064" y="1719072"/>
            <a:ext cx="1965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KOMMUNIKATSIYANI REJALASHTIRISH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0" y="1828800"/>
            <a:ext cx="75895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5C8E"/>
                </a:solidFill>
              </a:rPr>
              <a:t>Kimga qanday ma’lumot kerak? Qachon? Qaysi shaklda? Kim tayyorlaydi?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0" y="3749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Darslikning 9-bobi asosida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Kommunikatsiyani rejalashtirishning asosiy savollari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Axborot tartibsiz emas, oldindan belgilangan tizim asosida harakat qiladi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9.2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13232" y="1554480"/>
            <a:ext cx="3401568" cy="1664208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13232" y="1554480"/>
            <a:ext cx="45720" cy="1664208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1719072"/>
            <a:ext cx="3054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Kimga?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96112" y="2075688"/>
            <a:ext cx="3054096" cy="1005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Qaysi manfaatdor tomon axborotni oladi?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498848" y="1554480"/>
            <a:ext cx="3401568" cy="1664208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98848" y="1554480"/>
            <a:ext cx="45720" cy="1664208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81728" y="1719072"/>
            <a:ext cx="3054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Nima?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81728" y="2075688"/>
            <a:ext cx="3054096" cy="1005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Qanday mazmundagi axborot kerak?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284464" y="1554480"/>
            <a:ext cx="3401568" cy="1664208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84464" y="1554480"/>
            <a:ext cx="45720" cy="1664208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67344" y="1719072"/>
            <a:ext cx="3054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Qachon?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67344" y="2075688"/>
            <a:ext cx="3054096" cy="1005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Qanday davriylikda yetkaziladi?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13232" y="3639312"/>
            <a:ext cx="3401568" cy="1664208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13232" y="3639312"/>
            <a:ext cx="45720" cy="1664208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3803904"/>
            <a:ext cx="3054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Qaysi kanal?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896112" y="4160520"/>
            <a:ext cx="3054096" cy="1005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Uchrashuv, telefon, email, messenjer, platforma?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498848" y="3639312"/>
            <a:ext cx="3401568" cy="1664208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98848" y="3639312"/>
            <a:ext cx="45720" cy="1664208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81728" y="3803904"/>
            <a:ext cx="3054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Kim tayyorlaydi?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681728" y="4160520"/>
            <a:ext cx="3054096" cy="1005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Mas’ul shaxs kim?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284464" y="3639312"/>
            <a:ext cx="3401568" cy="1664208"/>
          </a:xfrm>
          <a:prstGeom prst="roundRect">
            <a:avLst>
              <a:gd name="adj" fmla="val 219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284464" y="3639312"/>
            <a:ext cx="45720" cy="1664208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467344" y="3803904"/>
            <a:ext cx="30540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Qaysi shaklda?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467344" y="4160520"/>
            <a:ext cx="3054096" cy="100584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Xulosa, jadval, grafik, rasmiy hisobot?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Kommunikatsiya rejasi bo‘lmasa muhim axborot yo‘qoladi yoki keraksiz axborot ortiqcha yuklama yaratadi.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9.1-rasm. Kommunikatsiya modeli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Darslikdagi original chizma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9.2</a:t>
            </a:r>
            <a:endParaRPr lang="en-US" sz="680" dirty="0"/>
          </a:p>
        </p:txBody>
      </p:sp>
      <p:pic>
        <p:nvPicPr>
          <p:cNvPr id="6" name="Image 0" descr="/mnt/data/ch9_media/image3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5871" y="1444752"/>
            <a:ext cx="7335499" cy="4892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Kommunikatsiya modelining elementlari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Jo‘natuvchi → xabar → qabul qiluvchi → fikr-mulohaza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9.2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600200"/>
            <a:ext cx="338328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600200"/>
            <a:ext cx="45720" cy="150876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764792"/>
            <a:ext cx="3035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Jo‘natuvchi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121408"/>
            <a:ext cx="3035808" cy="850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Axborotni shakllantiradi va uzatadi.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453128" y="1600200"/>
            <a:ext cx="338328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53128" y="1600200"/>
            <a:ext cx="45720" cy="15087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36008" y="1764792"/>
            <a:ext cx="3035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Xabar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36008" y="2121408"/>
            <a:ext cx="3035808" cy="850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Uzatilayotgan mazmun va topshiriq.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220456" y="1600200"/>
            <a:ext cx="338328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20456" y="1600200"/>
            <a:ext cx="45720" cy="15087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03336" y="1764792"/>
            <a:ext cx="30358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Qabul qiluvchi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403336" y="2121408"/>
            <a:ext cx="3035808" cy="850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Xabarni qabul qiladi va talqin etadi.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2514600" y="3886200"/>
            <a:ext cx="379476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14600" y="3886200"/>
            <a:ext cx="45720" cy="150876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97480" y="4050792"/>
            <a:ext cx="3447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Fikr-mulohaza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697480" y="4407408"/>
            <a:ext cx="3447288" cy="850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Xabar qanday tushunilganini ko‘rsatadi.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766560" y="3886200"/>
            <a:ext cx="3794760" cy="150876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766560" y="3886200"/>
            <a:ext cx="45720" cy="15087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4050792"/>
            <a:ext cx="34472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Shovqin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949440" y="4407408"/>
            <a:ext cx="3447288" cy="8503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Axborotni buzuvchi, susaytiruvchi yoki chalg‘ituvchi omillar.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Modeldan amaliy foydalanish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Muammo ijrochida emas, xabarni yetkazish shaklida bo‘lishi mumkin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9.2</a:t>
            </a:r>
            <a:endParaRPr lang="en-US" sz="68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600200"/>
          <a:ext cx="10698480" cy="4251960"/>
        </p:xfrm>
        <a:graphic>
          <a:graphicData uri="http://schemas.openxmlformats.org/drawingml/2006/table">
            <a:tbl>
              <a:tblPr/>
              <a:tblGrid>
                <a:gridCol w="2743200"/>
                <a:gridCol w="3794760"/>
                <a:gridCol w="41605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Kuzatilayotgan holat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Ehtimoliy kommunikatsion sabab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Boshqaruv yechimi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Topshiriq doim noto‘g‘ri bajariladi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Xabar noaniq yoki yetarlicha konkret emas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Vazifani mezonlar bilan qayta ifodalash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Jamoa turlicha natija tayyorlaydi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Bir xil xabar turlicha talqin qilinadi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Fikr-mulohaza va tasdiqlash talab qilish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Qaror kechikadi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Axborot kerakli shaxsga kech yetadi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Kanal va davriylikni qayta belgilash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Ko‘p qayta ishlash mavjud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Muhim o‘zgarishlar hujjatlashtirilmagan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Versiya va qarorlarni qayd etish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49808" y="1600200"/>
            <a:ext cx="274320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95528" y="1709928"/>
            <a:ext cx="2651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Kuzatilayotgan holat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3493008" y="1600200"/>
            <a:ext cx="379476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538728" y="1709928"/>
            <a:ext cx="37033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Ehtimoliy kommunikatsion sabab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7287768" y="1600200"/>
            <a:ext cx="416052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33488" y="1709928"/>
            <a:ext cx="4069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Boshqaruv yechimi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Kommunikatsiya jarayoni doimiy tahlil va moslashtirishni talab qiladi.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52928" cy="6858000"/>
          </a:xfrm>
          <a:prstGeom prst="rect">
            <a:avLst/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0789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9.3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12064" y="1719072"/>
            <a:ext cx="1965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MA’LUMOT TARQATISH VA FIKR-MULOHAZA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0" y="1828800"/>
            <a:ext cx="75895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5C8E"/>
                </a:solidFill>
              </a:rPr>
              <a:t>Har bir manfaatdor tomonning axborot ehtiyoji va qaror qabul qilish roli turlicha.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0" y="3749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Darslikning 9-bobi asosida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Axborot ehtiyoji hamma uchun bir xil emas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Mazmun, tafsilot darajasi va format auditoriyaga moslashtiriladi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9.3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664208"/>
            <a:ext cx="3246120" cy="342900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64208"/>
            <a:ext cx="45720" cy="34290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828800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Loyiha jamoasi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185416"/>
            <a:ext cx="2898648" cy="2770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Batafsil va tezkor operativ ma’lumot: ish hajmi, muddatlar, resurslar, risklar, joriy muammolar.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462272" y="1664208"/>
            <a:ext cx="3246120" cy="342900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62272" y="1664208"/>
            <a:ext cx="45720" cy="342900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45152" y="1828800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Rahbariyat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45152" y="2185416"/>
            <a:ext cx="2898648" cy="2770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Umumlashtirilgan va tahliliy axborot: asosiy ko‘rsatkichlar, byudjet, muddatlar, muhim risklar.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138160" y="1664208"/>
            <a:ext cx="3246120" cy="342900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664208"/>
            <a:ext cx="45720" cy="3429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828800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Buyurtmachi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0" y="2185416"/>
            <a:ext cx="2898648" cy="27706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Natijaga yo‘naltirilgan axborot: tayyor mahsulot, sifat, kelishilgan talablar va muddatga rioya.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Axborot filtrlanadi: qaror uchun zarur bo‘lgan ma’lumot yetkaziladi, ortiqcha yuklama kamaytiriladi.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Loyiha jamoasi uchun axborot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Kundalik ishni bajarishga yordam beradigan operativ tafsilotlar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9.3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31520" y="1572768"/>
            <a:ext cx="3410712" cy="1673352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72768"/>
            <a:ext cx="45720" cy="1673352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37360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Ish hajmi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093976"/>
            <a:ext cx="3063240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Qaysi vazifalar bajariladi?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526280" y="1572768"/>
            <a:ext cx="3410712" cy="1673352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572768"/>
            <a:ext cx="45720" cy="167335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737360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Muddatlar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09160" y="2093976"/>
            <a:ext cx="3063240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Qachon tugallanishi kerak?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321040" y="1572768"/>
            <a:ext cx="3410712" cy="1673352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1572768"/>
            <a:ext cx="45720" cy="16733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03920" y="1737360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Resurslar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503920" y="2093976"/>
            <a:ext cx="3063240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Nima va kim mavjud?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31520" y="3657600"/>
            <a:ext cx="3410712" cy="1673352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31520" y="3657600"/>
            <a:ext cx="45720" cy="167335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3822192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Risklar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14400" y="4178808"/>
            <a:ext cx="3063240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Qanday xavflar joriy ishga ta’sir qilmoqda?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4526280" y="3657600"/>
            <a:ext cx="3410712" cy="1673352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26280" y="3657600"/>
            <a:ext cx="45720" cy="1673352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9160" y="3822192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Muammolar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709160" y="4178808"/>
            <a:ext cx="3063240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Qanday to‘siqlar tezkor yechim talab qiladi?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8321040" y="3657600"/>
            <a:ext cx="3410712" cy="1673352"/>
          </a:xfrm>
          <a:prstGeom prst="roundRect">
            <a:avLst>
              <a:gd name="adj" fmla="val 218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321040" y="3657600"/>
            <a:ext cx="45720" cy="167335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503920" y="3822192"/>
            <a:ext cx="3063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O‘zgarishlar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8503920" y="4178808"/>
            <a:ext cx="3063240" cy="101498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Talab yoki ustuvorlikda nima o‘zgardi?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Kechiktirilgan yoki haddan tashqari umumiy axborot — xatolar va takroriy ishlar manbai.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Rahbariyat uchun axborot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Tafsilot emas, boshqaruv qarori uchun konsentrlangan ko‘rsatkichlar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9.3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31520" y="1847088"/>
            <a:ext cx="1993392" cy="288036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847088"/>
            <a:ext cx="45720" cy="288036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201168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Loyiha holati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14400" y="2368296"/>
            <a:ext cx="1645920" cy="2221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Umumiy holat: reja bo‘yicha / og‘ish mavjud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017520" y="1847088"/>
            <a:ext cx="1993392" cy="288036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17520" y="1847088"/>
            <a:ext cx="45720" cy="2880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201168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Byudjet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200400" y="2368296"/>
            <a:ext cx="1645920" cy="2221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Reja–haqiqat va asosiy xarajat og‘ishlari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303520" y="1847088"/>
            <a:ext cx="1993392" cy="288036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303520" y="1847088"/>
            <a:ext cx="45720" cy="28803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0" y="201168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Muddat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0" y="2368296"/>
            <a:ext cx="1645920" cy="2221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Kritik kechikishlar va jadval holati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589520" y="1847088"/>
            <a:ext cx="1993392" cy="288036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0" y="1847088"/>
            <a:ext cx="45720" cy="28803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0" y="201168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Risklar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0" y="2368296"/>
            <a:ext cx="1645920" cy="2221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Yuqori ta’sirli asosiy xavflar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875520" y="1847088"/>
            <a:ext cx="1993392" cy="2880360"/>
          </a:xfrm>
          <a:prstGeom prst="roundRect">
            <a:avLst>
              <a:gd name="adj" fmla="val 183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75520" y="1847088"/>
            <a:ext cx="45720" cy="288036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58400" y="2011680"/>
            <a:ext cx="16459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Qarorlar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058400" y="2368296"/>
            <a:ext cx="1645920" cy="2221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Rahbariyat tasdig‘ini talab qiluvchi masalalar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“Axborotni filtrlash” tamoyili — ortiqcha tafsilot emas, qaror uchun zarur signal.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Buyurtmachi uchun axborot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Asosiy e’tibor — natija, sifat va muddat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9.3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841248" y="1691640"/>
            <a:ext cx="3154680" cy="320040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691640"/>
            <a:ext cx="45720" cy="32004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24128" y="1856232"/>
            <a:ext cx="2807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Natija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24128" y="2212848"/>
            <a:ext cx="2807208" cy="2542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Loyiha mahsuloti yoki xizmatida nimalar tayyor bo‘ldi? Kelishilgan natijaga qanchalik yaqinlashildi?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526280" y="1691640"/>
            <a:ext cx="3154680" cy="320040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691640"/>
            <a:ext cx="45720" cy="32004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856232"/>
            <a:ext cx="2807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Sifat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09160" y="2212848"/>
            <a:ext cx="2807208" cy="2542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Natija kelishilgan sifat talablari va qabul mezonlariga mosmi?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211312" y="1691640"/>
            <a:ext cx="3154680" cy="320040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211312" y="1691640"/>
            <a:ext cx="45720" cy="32004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94192" y="1856232"/>
            <a:ext cx="2807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Muddat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94192" y="2212848"/>
            <a:ext cx="2807208" cy="2542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Topshirish sanalari va bosqichlar reja bo‘yicha bajarilmoqdami?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Haddan tashqari texnik tafsilot buyurtmachida chalkashlik yoki ishonchsizlik keltirib chiqarishi mumkin.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Manfaatdor tomonlar bo‘yicha axborot profili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Auditoriyaga mos kommunikatsiya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9.3</a:t>
            </a:r>
            <a:endParaRPr lang="en-US" sz="68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" y="1572768"/>
          <a:ext cx="10899648" cy="4297680"/>
        </p:xfrm>
        <a:graphic>
          <a:graphicData uri="http://schemas.openxmlformats.org/drawingml/2006/table">
            <a:tbl>
              <a:tblPr/>
              <a:tblGrid>
                <a:gridCol w="2011680"/>
                <a:gridCol w="3749040"/>
                <a:gridCol w="1920240"/>
                <a:gridCol w="321868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Tomon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Asosiy ehtiyoj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Tafsilot darajasi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Mos format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Loyiha jamoasi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Vazifa, muddat, resurs, risk, muammo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Yuqori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Tezkor xabar, task-board, qisqa yig‘ilish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Rahbariyat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Holat, KPI, byudjet, jadval, muhim risk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O‘rta / umumlashtirilgan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Dashboard, qisqa hisobot, taqdimot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Buyurtmachi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Natija, sifat, muddat, kelishuvlar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Soddalashtirilgan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Natijaviy hisobot, demo, rasmiy xat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58368" y="1572768"/>
            <a:ext cx="201168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04088" y="1682496"/>
            <a:ext cx="19202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Tomon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2670048" y="1572768"/>
            <a:ext cx="374904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15768" y="1682496"/>
            <a:ext cx="36576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Asosiy ehtiyoj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6419088" y="1572768"/>
            <a:ext cx="192024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464808" y="168249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Tafsilot darajasi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8339328" y="1572768"/>
            <a:ext cx="3218688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385048" y="1682496"/>
            <a:ext cx="312724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Mos format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Bir xil axborotni hamma uchun bir xil shaklda yuborish — samarali kommunikatsiya emas.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Fikr-mulohaza nima uchun zarur?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Bir tomonlama uzatish xabarning to‘g‘ri tushunilganini kafolatlamaydi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9.3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94944" y="2057400"/>
            <a:ext cx="19385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1D6F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59536" y="251460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D6FB8"/>
                </a:solidFill>
              </a:rPr>
              <a:t>Xabar yuboriladi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42616" y="2423160"/>
            <a:ext cx="320040" cy="502920"/>
          </a:xfrm>
          <a:prstGeom prst="chevron">
            <a:avLst/>
          </a:prstGeom>
          <a:solidFill>
            <a:srgbClr val="C9D5DF"/>
          </a:solidFill>
          <a:ln w="12700">
            <a:solidFill>
              <a:srgbClr val="C9D5D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980944" y="2057400"/>
            <a:ext cx="19385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2F855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45536" y="251460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F855A"/>
                </a:solidFill>
              </a:rPr>
              <a:t>Qabul qilinadi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28616" y="2423160"/>
            <a:ext cx="320040" cy="502920"/>
          </a:xfrm>
          <a:prstGeom prst="chevron">
            <a:avLst/>
          </a:prstGeom>
          <a:solidFill>
            <a:srgbClr val="C9D5DF"/>
          </a:solidFill>
          <a:ln w="12700">
            <a:solidFill>
              <a:srgbClr val="C9D5D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66944" y="2057400"/>
            <a:ext cx="19385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31536" y="251460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D97706"/>
                </a:solidFill>
              </a:rPr>
              <a:t>Talqin qilinadi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214616" y="2423160"/>
            <a:ext cx="320040" cy="502920"/>
          </a:xfrm>
          <a:prstGeom prst="chevron">
            <a:avLst/>
          </a:prstGeom>
          <a:solidFill>
            <a:srgbClr val="C9D5DF"/>
          </a:solidFill>
          <a:ln w="12700">
            <a:solidFill>
              <a:srgbClr val="C9D5D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52944" y="2057400"/>
            <a:ext cx="19385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6B4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17536" y="251460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46C1"/>
                </a:solidFill>
              </a:rPr>
              <a:t>Javob qaytariladi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0616" y="2423160"/>
            <a:ext cx="320040" cy="502920"/>
          </a:xfrm>
          <a:prstGeom prst="chevron">
            <a:avLst/>
          </a:prstGeom>
          <a:solidFill>
            <a:srgbClr val="C9D5DF"/>
          </a:solidFill>
          <a:ln w="12700">
            <a:solidFill>
              <a:srgbClr val="C9D5D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38944" y="2057400"/>
            <a:ext cx="19385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7780">
            <a:solidFill>
              <a:srgbClr val="C5303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003536" y="251460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53030"/>
                </a:solidFill>
              </a:rPr>
              <a:t>Aniqlashtirish kiritiladi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Fikr-mulohaza xatoni aniqlaydi, tushunmovchilikni bartaraf etadi va axborot oqimini takomillashtiradi.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Fikr-mulohaza almashish shakllari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Vosita maqsad va auditoriyaga mos tanlanadi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9.3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49808" y="1609344"/>
            <a:ext cx="507492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09344"/>
            <a:ext cx="45720" cy="173736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73936"/>
            <a:ext cx="4727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Yig‘ilishlar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2688" y="2130552"/>
            <a:ext cx="472744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Haftalik, oylik yoki bosqich yakuni bo‘yicha bevosita muhokama.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263640" y="1609344"/>
            <a:ext cx="507492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609344"/>
            <a:ext cx="45720" cy="17373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73936"/>
            <a:ext cx="4727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Hisobot va yozma aloqa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46520" y="2130552"/>
            <a:ext cx="472744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Axborotni rasmiylashtirish, hujjatlashtirish va keyin tekshirish imkoniyati.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49808" y="3730752"/>
            <a:ext cx="507492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730752"/>
            <a:ext cx="45720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895344"/>
            <a:ext cx="4727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Muhokamalar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" y="4251960"/>
            <a:ext cx="472744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Muammo, g‘oya va o‘zgarishlarni birgalikda ko‘rib chiqish.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263640" y="3730752"/>
            <a:ext cx="507492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730752"/>
            <a:ext cx="45720" cy="173736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895344"/>
            <a:ext cx="4727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Elektron vositalar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46520" y="4251960"/>
            <a:ext cx="472744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Email, messenjer va loyiha platformalari orqali tezkor fikr almashish.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Vositalar rejalashtirilgan, aniq maqsadli va auditoriyaga mos qo‘llanishi kerak.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Kommunikatsiya kanalini tanlash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Tezkorlik, rasmiylik va qayd etish ehtiyoji bo‘yicha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9.3</a:t>
            </a:r>
            <a:endParaRPr lang="en-US" sz="68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508760"/>
          <a:ext cx="11064240" cy="4526280"/>
        </p:xfrm>
        <a:graphic>
          <a:graphicData uri="http://schemas.openxmlformats.org/drawingml/2006/table">
            <a:tbl>
              <a:tblPr/>
              <a:tblGrid>
                <a:gridCol w="1874520"/>
                <a:gridCol w="2834640"/>
                <a:gridCol w="2880360"/>
                <a:gridCol w="34747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Kanal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Qachon ma’qul?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Kuchli tomoni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Ehtiyot bo‘lish kerak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Uchrashuv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Murakkab muhokama, kelishuv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Savol-javob va aniqlashtirish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Protokolsiz qaror yo‘qolishi mumkin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Telefon / messenjer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Tezkor ish masalalari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Juda tezkor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Muhim qarorni keyin rasmiylashtirish kerak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Email / rasmiy xat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Tasdiq, kelishuv, muhim xabar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Qayd va izchillik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Haddan ortiq yozishma yuklama beradi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Platforma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Vazifa va hujjat aylanishi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Markazlashgan kuzatuv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Tartibli foydalanish qoidasi zarur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1508760"/>
            <a:ext cx="187452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12648" y="1618488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Kanal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2441448" y="1508760"/>
            <a:ext cx="283464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487168" y="1618488"/>
            <a:ext cx="2743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Qachon ma’qul?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5276088" y="1508760"/>
            <a:ext cx="288036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321808" y="1618488"/>
            <a:ext cx="27889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Kuchli tomoni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8156448" y="1508760"/>
            <a:ext cx="347472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02168" y="1618488"/>
            <a:ext cx="3383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Ehtiyot bo‘lish kerak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852928" cy="6858000"/>
          </a:xfrm>
          <a:prstGeom prst="rect">
            <a:avLst/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12064" y="1078992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9.4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512064" y="1719072"/>
            <a:ext cx="1965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</a:rPr>
              <a:t>BAJARILISH HISOBOTLARINI BOSHQARISH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3657600" y="1828800"/>
            <a:ext cx="7589520" cy="1645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B5C8E"/>
                </a:solidFill>
              </a:rPr>
              <a:t>Hisobot — ma’lumot yig‘indisi emas, boshqaruv qarorini qo‘llab-quvvatlovchi vosita.</a:t>
            </a:r>
            <a:endParaRPr lang="en-US" sz="2100" dirty="0"/>
          </a:p>
        </p:txBody>
      </p:sp>
      <p:sp>
        <p:nvSpPr>
          <p:cNvPr id="6" name="Text 4"/>
          <p:cNvSpPr/>
          <p:nvPr/>
        </p:nvSpPr>
        <p:spPr>
          <a:xfrm>
            <a:off x="3657600" y="37490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7788"/>
                </a:solidFill>
              </a:rPr>
              <a:t>Darslikning 9-bobi asosida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Bajarilish hisoboti nima?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Loyiha holati va og‘ishlar haqidagi boshqaruv axboroti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9.4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783080"/>
            <a:ext cx="20116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1783080"/>
            <a:ext cx="45720" cy="301752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68680" y="1947672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Jadval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68680" y="2304288"/>
            <a:ext cx="1664208" cy="2359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Muddatlar va reja bajarilishi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2971800" y="1783080"/>
            <a:ext cx="20116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971800" y="1783080"/>
            <a:ext cx="45720" cy="30175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1947672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Xarajatlar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154680" y="2304288"/>
            <a:ext cx="1664208" cy="2359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Byudjet va xarajat og‘ishlari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5257800" y="1783080"/>
            <a:ext cx="20116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57800" y="1783080"/>
            <a:ext cx="45720" cy="301752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40680" y="1947672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Bajarilgan ish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40680" y="2304288"/>
            <a:ext cx="1664208" cy="2359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Natijalar va tayyor ish hajmi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7543800" y="1783080"/>
            <a:ext cx="20116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43800" y="1783080"/>
            <a:ext cx="45720" cy="301752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26680" y="1947672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Muammolar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26680" y="2304288"/>
            <a:ext cx="1664208" cy="2359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Hal qilinishi kerak bo‘lgan to‘siqlar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9829800" y="1783080"/>
            <a:ext cx="2011680" cy="301752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829800" y="1783080"/>
            <a:ext cx="45720" cy="301752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012680" y="1947672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Risklar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0012680" y="2304288"/>
            <a:ext cx="1664208" cy="23591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Ehtimoliy salbiy hodisalar va javob choralari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Hisobotning vazifasi — “nima bo‘ldi?”ni emas, “qanday qaror kerak?”ni ko‘rsatish.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Samarali hisobot xususiyatlari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Axborot hajmi va qaror qiymati o‘rtasidagi muvozanat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9.4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868680" y="1691640"/>
            <a:ext cx="3154680" cy="315468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68680" y="1691640"/>
            <a:ext cx="45720" cy="315468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51560" y="1856232"/>
            <a:ext cx="2807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Aniq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51560" y="2212848"/>
            <a:ext cx="2807208" cy="2496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Faktlar, ko‘rsatkichlar va og‘ishlar tushunarli hamda bir ma’noli ifodalangan.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526280" y="1691640"/>
            <a:ext cx="3154680" cy="315468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26280" y="1691640"/>
            <a:ext cx="45720" cy="315468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856232"/>
            <a:ext cx="2807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Tushunarli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709160" y="2212848"/>
            <a:ext cx="2807208" cy="2496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Auditoriya tilida, ortiqcha texnik terminlarsiz va mantiqiy tuzilmada taqdim etilgan.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183880" y="1691640"/>
            <a:ext cx="3154680" cy="3154680"/>
          </a:xfrm>
          <a:prstGeom prst="roundRect">
            <a:avLst>
              <a:gd name="adj" fmla="val 1159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83880" y="1691640"/>
            <a:ext cx="45720" cy="3154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66760" y="1856232"/>
            <a:ext cx="2807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Yetarli darajada batafsil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66760" y="2212848"/>
            <a:ext cx="2807208" cy="249631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Qaror uchun zarur tafsilot bor, lekin axborot yuklamasini oshiruvchi keraksiz detallar yo‘q.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Ortiqcha tafsilot — axborot yuklamasi; yetarli ma’lumotning yo‘qligi — noto‘g‘ri xulosa xavfi.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Bajarilish hisobotining tavsiya etiladigan tuzilishi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Darslikdagi mazmunga asoslangan amaliy shablon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9.4</a:t>
            </a:r>
            <a:endParaRPr lang="en-US" sz="68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60120" y="1426464"/>
          <a:ext cx="10241280" cy="4617720"/>
        </p:xfrm>
        <a:graphic>
          <a:graphicData uri="http://schemas.openxmlformats.org/drawingml/2006/table">
            <a:tbl>
              <a:tblPr/>
              <a:tblGrid>
                <a:gridCol w="2468880"/>
                <a:gridCol w="777240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Bo‘lim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Hisobotda nimalar ko‘rsatiladi?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1. Umumiy holat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Loyiha statusi va qisqa xulosa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2. Jadval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Reja, amaldagi holat, kechikishlar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3. Xarajat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Byudjet, real sarf, og‘ishlar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4. Bajarilgan ish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Bosqichlar, tayyor deliverable va natijalar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5. Muammolar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Sabab, ta’sir, javobgar, yechim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6. Risklar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Muhim risklar va rejalashtirilgan choralar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7. Qarorlar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Manfaatdor tomonlardan talab qilinadigan tasdiq yoki qaror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960120" y="1426464"/>
            <a:ext cx="246888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536192"/>
            <a:ext cx="2377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Bo‘lim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3429000" y="1426464"/>
            <a:ext cx="777240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0" y="1536192"/>
            <a:ext cx="7680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Hisobotda nimalar ko‘rsatiladi?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Manfaatdor tomonlar uchun kommunikatsiya rejasi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Axborot almashinuvini “o‘z-o‘zidan” jarayondan boshqariladigan tizimga aylantiradi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9.4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4709160" y="2011680"/>
            <a:ext cx="2743200" cy="2743200"/>
          </a:xfrm>
          <a:prstGeom prst="ellipse">
            <a:avLst/>
          </a:prstGeom>
          <a:solidFill>
            <a:srgbClr val="EAF3F9"/>
          </a:solidFill>
          <a:ln w="25400">
            <a:solidFill>
              <a:srgbClr val="0B5C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212080" y="28986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5C8E"/>
                </a:solidFill>
              </a:rPr>
              <a:t>KOMMUNIKATSIYA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0B5C8E"/>
                </a:solidFill>
              </a:rPr>
              <a:t>REJASI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914400" y="150876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97280" y="176479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D97706"/>
                </a:solidFill>
              </a:rPr>
              <a:t>Buyurtmachi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9052560" y="150876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6B4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35440" y="176479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B46C1"/>
                </a:solidFill>
              </a:rPr>
              <a:t>Rahbariyat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777240" y="448056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1D6F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60120" y="473659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6FB8"/>
                </a:solidFill>
              </a:rPr>
              <a:t>Loyiha jamoasi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9144000" y="4480560"/>
            <a:ext cx="2011680" cy="6858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7780">
            <a:solidFill>
              <a:srgbClr val="2F85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0" y="4736592"/>
            <a:ext cx="1645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F855A"/>
                </a:solidFill>
              </a:rPr>
              <a:t>Hamkorlar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Reja “hamma uchun bir xil ma’lumot” emas, har bir tomonning ehtiyoji va qaror roliga mos axborotni belgilaydi.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Nega kommunikatsiya rejasi zarur?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Axborotdagi 4 asosiy nosozlikni tizimli ravishda kamaytiradi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9.4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77240" y="1627632"/>
            <a:ext cx="502920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77240" y="1627632"/>
            <a:ext cx="45720" cy="17373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1792224"/>
            <a:ext cx="4681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Kech yetib borishi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60120" y="2148840"/>
            <a:ext cx="468172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Qaror va ishlar kechikadi.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02920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63640" y="1627632"/>
            <a:ext cx="45720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46520" y="1792224"/>
            <a:ext cx="4681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Noto‘liq bo‘lishi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46520" y="2148840"/>
            <a:ext cx="468172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Vazifa noto‘g‘ri tushuniladi.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77240" y="3749040"/>
            <a:ext cx="502920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749040"/>
            <a:ext cx="45720" cy="173736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" y="3913632"/>
            <a:ext cx="4681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Noto‘g‘ri tushunilishi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60120" y="4270248"/>
            <a:ext cx="468172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Bir xabar turlicha talqin qilinadi.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263640" y="3749040"/>
            <a:ext cx="502920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3749040"/>
            <a:ext cx="45720" cy="173736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3913632"/>
            <a:ext cx="468172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Umuman yetkazilmasligi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46520" y="4270248"/>
            <a:ext cx="468172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Manfaatdor tomon qarordan chetda qoladi.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Kommunikatsiya rejasi axborot almashinuvini “qoidaga” aylantiradi.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Kommunikatsiya xatosi → loyiha oqibati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Darslikdagi amaliy vaziyatlar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9.4</a:t>
            </a:r>
            <a:endParaRPr lang="en-US" sz="68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" y="1572768"/>
          <a:ext cx="10835640" cy="4251960"/>
        </p:xfrm>
        <a:graphic>
          <a:graphicData uri="http://schemas.openxmlformats.org/drawingml/2006/table">
            <a:tbl>
              <a:tblPr/>
              <a:tblGrid>
                <a:gridCol w="3246120"/>
                <a:gridCol w="3657600"/>
                <a:gridCol w="39319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Vaziyat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Kommunikatsion muammo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Oqibat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Buyurtmachi o‘zgarishdan vaqtida xabardor emas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O‘zgarish kech yetkazildi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Keyinchalik e’tiroz va qayta ishlash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Jamoa vazifa ustuvorligini tushunmaydi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Ustuvorlik aniq berilmagan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Eng muhim ishlar kechikadi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Rahbariyat loyiha holatini aniq bilmaydi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Hisobot yetarli emas yoki kech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Noto‘g‘ri boshqaruv qarori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685800" y="1572768"/>
            <a:ext cx="324612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731520" y="1682496"/>
            <a:ext cx="3154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Vaziyat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3931920" y="1572768"/>
            <a:ext cx="365760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977640" y="1682496"/>
            <a:ext cx="3566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Kommunikatsion muammo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7589520" y="1572768"/>
            <a:ext cx="393192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635240" y="1682496"/>
            <a:ext cx="3840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Oqibat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Reja nafaqat xabar almashinuvini, balki axborot yuklamasini ham boshqaradi.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9.2-rasm. Kommunikatsiya rejasini tuzish jarayoni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Darslikdagi original chizma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9.4</a:t>
            </a:r>
            <a:endParaRPr lang="en-US" sz="680" dirty="0"/>
          </a:p>
        </p:txBody>
      </p:sp>
      <p:pic>
        <p:nvPicPr>
          <p:cNvPr id="6" name="Image 0" descr="/mnt/data/ch9_media/image3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98759" y="1335024"/>
            <a:ext cx="7609723" cy="507492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Yaxshi kommunikatsiya rejasi nimani aniq belgilaydi?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7 ta amaliy savol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9.4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17904"/>
            <a:ext cx="2560320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17904"/>
            <a:ext cx="45720" cy="1627632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68249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1. Kim?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039112"/>
            <a:ext cx="2212848" cy="9692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Axborotni qaysi manfaatdor tomon oladi?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474720" y="1517904"/>
            <a:ext cx="2560320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74720" y="1517904"/>
            <a:ext cx="45720" cy="1627632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168249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2. Nima?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57600" y="2039112"/>
            <a:ext cx="2212848" cy="9692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Qanday mazmundagi axborot yetkaziladi?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355080" y="1517904"/>
            <a:ext cx="2560320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55080" y="1517904"/>
            <a:ext cx="45720" cy="162763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168249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3. Qachon?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37960" y="2039112"/>
            <a:ext cx="2212848" cy="9692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Davriylik: har kuni, haftada, oyda, bosqichda?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235440" y="1517904"/>
            <a:ext cx="2560320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235440" y="1517904"/>
            <a:ext cx="45720" cy="162763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418320" y="1682496"/>
            <a:ext cx="22128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4. Qanday kanal?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418320" y="2039112"/>
            <a:ext cx="2212848" cy="9692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Uchrashuv, telefon, email, messenjer, platforma?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645920" y="3703320"/>
            <a:ext cx="2606040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45920" y="3703320"/>
            <a:ext cx="45720" cy="1627632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828800" y="3867912"/>
            <a:ext cx="2258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5. Kim tomonidan?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828800" y="4224528"/>
            <a:ext cx="2258568" cy="9692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Kim tayyorlaydi, tekshiradi va yuboradi?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572000" y="3703320"/>
            <a:ext cx="2606040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3703320"/>
            <a:ext cx="45720" cy="1627632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54880" y="3867912"/>
            <a:ext cx="2258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6. Qaysi shaklda?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754880" y="4224528"/>
            <a:ext cx="2258568" cy="9692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Xulosa, jadval, grafik yoki rasmiy hisobot?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498080" y="3703320"/>
            <a:ext cx="2606040" cy="1627632"/>
          </a:xfrm>
          <a:prstGeom prst="roundRect">
            <a:avLst>
              <a:gd name="adj" fmla="val 224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498080" y="3703320"/>
            <a:ext cx="45720" cy="1627632"/>
          </a:xfrm>
          <a:prstGeom prst="rect">
            <a:avLst/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80960" y="3867912"/>
            <a:ext cx="22585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7. Qanday qayd etiladi?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680960" y="4224528"/>
            <a:ext cx="2258568" cy="96926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Protokol, jurnal, fayl arxivi va versiya boshqaruvi?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Kommunikatsiya rejasi tarkibi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Darslik tavsiya etgan asosiy bo‘limlar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9.4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594360" y="1572768"/>
            <a:ext cx="2578608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94360" y="1572768"/>
            <a:ext cx="45720" cy="160020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737360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Manfaatdor tomonlar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77240" y="2093976"/>
            <a:ext cx="2231136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Ro‘yxat, loyiha roli va axborot ehtiyoji.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3456432" y="1572768"/>
            <a:ext cx="2578608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56432" y="1572768"/>
            <a:ext cx="45720" cy="16002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39312" y="1737360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Axborot turlari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3639312" y="2093976"/>
            <a:ext cx="2231136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Holat, jadval, xarajat, risk, sifat, o‘zgarish, muammo.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318504" y="1572768"/>
            <a:ext cx="2578608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18504" y="1572768"/>
            <a:ext cx="45720" cy="16002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01384" y="1737360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Kanallar va formatlar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6501384" y="2093976"/>
            <a:ext cx="2231136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Rasmiy hujjat va tezkor xabar qaysi holatda ishlatiladi.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9180576" y="1572768"/>
            <a:ext cx="2578608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80576" y="1572768"/>
            <a:ext cx="45720" cy="16002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363456" y="1737360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Davriylik va vaqt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9363456" y="2093976"/>
            <a:ext cx="2231136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Har kuni, haftada, oyda yoki bosqich yakunida.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1508760" y="3767328"/>
            <a:ext cx="278892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508760" y="3767328"/>
            <a:ext cx="45720" cy="160020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691640" y="3931920"/>
            <a:ext cx="2441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Mas’ullar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691640" y="4288536"/>
            <a:ext cx="2441448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Kim tayyorlaydi, tekshiradi va yuboradi.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636008" y="3767328"/>
            <a:ext cx="278892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36008" y="3767328"/>
            <a:ext cx="45720" cy="1600200"/>
          </a:xfrm>
          <a:prstGeom prst="rect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3931920"/>
            <a:ext cx="2441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Fikr-mulohaza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18888" y="4288536"/>
            <a:ext cx="2441448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Tasdiqlash, e’tiroz va aniqlashtirish tartibi.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7763256" y="3767328"/>
            <a:ext cx="2788920" cy="16002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7763256" y="3767328"/>
            <a:ext cx="45720" cy="1600200"/>
          </a:xfrm>
          <a:prstGeom prst="rect">
            <a:avLst/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946136" y="3931920"/>
            <a:ext cx="2441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Saqlash qoidalari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946136" y="4288536"/>
            <a:ext cx="2441448" cy="9418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Fayl joyi, versiya, arxiv va maxfiylik.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Kommunikatsiya rejasi qanday ishlab chiqiladi?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7 bosqichli amaliy ketma-ketlik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9.4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1005840" y="1408176"/>
            <a:ext cx="10012680" cy="457200"/>
          </a:xfrm>
          <a:prstGeom prst="roundRect">
            <a:avLst>
              <a:gd name="adj" fmla="val 10000"/>
            </a:avLst>
          </a:prstGeom>
          <a:solidFill>
            <a:srgbClr val="F0F5F9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88720" y="1472184"/>
            <a:ext cx="329184" cy="329184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1572768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737360" y="1554480"/>
            <a:ext cx="8823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24313F"/>
                </a:solidFill>
              </a:rPr>
              <a:t>Manfaatdor tomonlarni aniqlash</a:t>
            </a:r>
            <a:endParaRPr lang="en-US" sz="940" dirty="0"/>
          </a:p>
        </p:txBody>
      </p:sp>
      <p:sp>
        <p:nvSpPr>
          <p:cNvPr id="10" name="Shape 8"/>
          <p:cNvSpPr/>
          <p:nvPr/>
        </p:nvSpPr>
        <p:spPr>
          <a:xfrm>
            <a:off x="1005840" y="2029968"/>
            <a:ext cx="10012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188720" y="2093976"/>
            <a:ext cx="329184" cy="329184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194560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2</a:t>
            </a:r>
            <a:endParaRPr lang="en-US" sz="680" dirty="0"/>
          </a:p>
        </p:txBody>
      </p:sp>
      <p:sp>
        <p:nvSpPr>
          <p:cNvPr id="13" name="Text 11"/>
          <p:cNvSpPr/>
          <p:nvPr/>
        </p:nvSpPr>
        <p:spPr>
          <a:xfrm>
            <a:off x="1737360" y="2176272"/>
            <a:ext cx="8823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24313F"/>
                </a:solidFill>
              </a:rPr>
              <a:t>Axborot ehtiyojini aniqlash</a:t>
            </a:r>
            <a:endParaRPr lang="en-US" sz="940" dirty="0"/>
          </a:p>
        </p:txBody>
      </p:sp>
      <p:sp>
        <p:nvSpPr>
          <p:cNvPr id="14" name="Shape 12"/>
          <p:cNvSpPr/>
          <p:nvPr/>
        </p:nvSpPr>
        <p:spPr>
          <a:xfrm>
            <a:off x="1005840" y="2651760"/>
            <a:ext cx="10012680" cy="457200"/>
          </a:xfrm>
          <a:prstGeom prst="roundRect">
            <a:avLst>
              <a:gd name="adj" fmla="val 10000"/>
            </a:avLst>
          </a:prstGeom>
          <a:solidFill>
            <a:srgbClr val="F0F5F9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88720" y="2715768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88720" y="2816352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3</a:t>
            </a:r>
            <a:endParaRPr lang="en-US" sz="680" dirty="0"/>
          </a:p>
        </p:txBody>
      </p:sp>
      <p:sp>
        <p:nvSpPr>
          <p:cNvPr id="17" name="Text 15"/>
          <p:cNvSpPr/>
          <p:nvPr/>
        </p:nvSpPr>
        <p:spPr>
          <a:xfrm>
            <a:off x="1737360" y="2798064"/>
            <a:ext cx="8823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24313F"/>
                </a:solidFill>
              </a:rPr>
              <a:t>Axborot muhimligini ajratish</a:t>
            </a:r>
            <a:endParaRPr lang="en-US" sz="940" dirty="0"/>
          </a:p>
        </p:txBody>
      </p:sp>
      <p:sp>
        <p:nvSpPr>
          <p:cNvPr id="18" name="Shape 16"/>
          <p:cNvSpPr/>
          <p:nvPr/>
        </p:nvSpPr>
        <p:spPr>
          <a:xfrm>
            <a:off x="1005840" y="3273552"/>
            <a:ext cx="10012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88720" y="3337560"/>
            <a:ext cx="329184" cy="329184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88720" y="3438144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4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737360" y="3419856"/>
            <a:ext cx="8823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24313F"/>
                </a:solidFill>
              </a:rPr>
              <a:t>Kanal tanlash</a:t>
            </a:r>
            <a:endParaRPr lang="en-US" sz="940" dirty="0"/>
          </a:p>
        </p:txBody>
      </p:sp>
      <p:sp>
        <p:nvSpPr>
          <p:cNvPr id="22" name="Shape 20"/>
          <p:cNvSpPr/>
          <p:nvPr/>
        </p:nvSpPr>
        <p:spPr>
          <a:xfrm>
            <a:off x="1005840" y="3895344"/>
            <a:ext cx="10012680" cy="457200"/>
          </a:xfrm>
          <a:prstGeom prst="roundRect">
            <a:avLst>
              <a:gd name="adj" fmla="val 10000"/>
            </a:avLst>
          </a:prstGeom>
          <a:solidFill>
            <a:srgbClr val="F0F5F9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88720" y="3959352"/>
            <a:ext cx="329184" cy="329184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88720" y="4059936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5</a:t>
            </a:r>
            <a:endParaRPr lang="en-US" sz="680" dirty="0"/>
          </a:p>
        </p:txBody>
      </p:sp>
      <p:sp>
        <p:nvSpPr>
          <p:cNvPr id="25" name="Text 23"/>
          <p:cNvSpPr/>
          <p:nvPr/>
        </p:nvSpPr>
        <p:spPr>
          <a:xfrm>
            <a:off x="1737360" y="4041648"/>
            <a:ext cx="8823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24313F"/>
                </a:solidFill>
              </a:rPr>
              <a:t>Davriylikni belgilash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1005840" y="4517136"/>
            <a:ext cx="10012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88720" y="4581144"/>
            <a:ext cx="329184" cy="329184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188720" y="4681728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6</a:t>
            </a:r>
            <a:endParaRPr lang="en-US" sz="680" dirty="0"/>
          </a:p>
        </p:txBody>
      </p:sp>
      <p:sp>
        <p:nvSpPr>
          <p:cNvPr id="29" name="Text 27"/>
          <p:cNvSpPr/>
          <p:nvPr/>
        </p:nvSpPr>
        <p:spPr>
          <a:xfrm>
            <a:off x="1737360" y="4663440"/>
            <a:ext cx="8823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24313F"/>
                </a:solidFill>
              </a:rPr>
              <a:t>Mas’ulni tayinlash</a:t>
            </a:r>
            <a:endParaRPr lang="en-US" sz="940" dirty="0"/>
          </a:p>
        </p:txBody>
      </p:sp>
      <p:sp>
        <p:nvSpPr>
          <p:cNvPr id="30" name="Shape 28"/>
          <p:cNvSpPr/>
          <p:nvPr/>
        </p:nvSpPr>
        <p:spPr>
          <a:xfrm>
            <a:off x="1005840" y="5138928"/>
            <a:ext cx="10012680" cy="457200"/>
          </a:xfrm>
          <a:prstGeom prst="roundRect">
            <a:avLst>
              <a:gd name="adj" fmla="val 10000"/>
            </a:avLst>
          </a:prstGeom>
          <a:solidFill>
            <a:srgbClr val="F0F5F9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188720" y="5202936"/>
            <a:ext cx="329184" cy="329184"/>
          </a:xfrm>
          <a:prstGeom prst="ellipse">
            <a:avLst/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188720" y="5303520"/>
            <a:ext cx="329184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7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1737360" y="5285232"/>
            <a:ext cx="88239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40" b="1" dirty="0">
                <a:solidFill>
                  <a:srgbClr val="24313F"/>
                </a:solidFill>
              </a:rPr>
              <a:t>Qayta ko‘rib chiqish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Loyiha o‘zgarsa, kommunikatsiya rejasi ham moslashtiriladi.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36</a:t>
            </a:fld>
            <a:endParaRPr lang="en-US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Axborot muhimligini ajratish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Tezkor, o‘rta va strategik darajalar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9.4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822960" y="1691640"/>
            <a:ext cx="3246120" cy="333756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691640"/>
            <a:ext cx="45720" cy="33375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56232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Tezkor axborot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005840" y="2212848"/>
            <a:ext cx="2898648" cy="2679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Zudlik bilan yetkaziladi. Masalan: kritik muammo, resurs yetishmasligi, bugungi vazifadagi to‘siq.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4480560" y="1691640"/>
            <a:ext cx="3246120" cy="333756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80560" y="1691640"/>
            <a:ext cx="45720" cy="33375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856232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O‘rta muddatli axborot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663440" y="2212848"/>
            <a:ext cx="2898648" cy="2679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Odatda haftalik. Masalan: vazifalar bajarilishi, jadval holati, jamoa muammolari.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8138160" y="1691640"/>
            <a:ext cx="3246120" cy="3337560"/>
          </a:xfrm>
          <a:prstGeom prst="roundRect">
            <a:avLst>
              <a:gd name="adj" fmla="val 1127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1691640"/>
            <a:ext cx="45720" cy="3337560"/>
          </a:xfrm>
          <a:prstGeom prst="rect">
            <a:avLst/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0" y="1856232"/>
            <a:ext cx="28986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Strategik axborot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321040" y="2212848"/>
            <a:ext cx="2898648" cy="26791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Odatda oylik yoki bosqich yakunida. Masalan: umumiy natija, byudjet, yirik risklar, rahbariyat qarori.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Ortiqcha uchrashuv ham zarar, kam kommunikatsiya ham zarar — muvozanat kerak.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37</a:t>
            </a:fld>
            <a:endParaRPr lang="en-US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Amaliy misol: “Turistik marshrut yaratish”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Talabalar jamoasi uchun kommunikatsiya rejasi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9.4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49808" y="1581912"/>
            <a:ext cx="507492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581912"/>
            <a:ext cx="45720" cy="173736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46504"/>
            <a:ext cx="4727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Rahbariyat (kafedra)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2688" y="2103120"/>
            <a:ext cx="472744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Oyiga 1 marta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Qayergacha kelindi? Muammo nima?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281928" y="1581912"/>
            <a:ext cx="507492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1928" y="1581912"/>
            <a:ext cx="45720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746504"/>
            <a:ext cx="4727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Buyurtmachi (hostel)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64808" y="2103120"/>
            <a:ext cx="472744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Haftada 1 marta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Tayyor materiallar va kelishiladigan masalalar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49808" y="3703320"/>
            <a:ext cx="507492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703320"/>
            <a:ext cx="45720" cy="173736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867912"/>
            <a:ext cx="4727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Jamoa a’zolari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" y="4224528"/>
            <a:ext cx="472744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Har 2 kunda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Kim nima qilyapti? Muddatlar qanday?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281928" y="3703320"/>
            <a:ext cx="507492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1928" y="3703320"/>
            <a:ext cx="45720" cy="17373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3867912"/>
            <a:ext cx="4727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Taqdimot guruhi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64808" y="4224528"/>
            <a:ext cx="472744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Yakuniy haftada har kuni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Slaydlar, matn va dizaynni muvofiqlashtirish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Oldindan rejalashtirish “kimga aytmagandik?” va “qachon kelishgandik?” kabi muammolarni keskin kamaytiradi.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38</a:t>
            </a:fld>
            <a:endParaRPr lang="en-US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Amaliy kommunikatsiya matritsasi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“Turistik marshrut yaratish” loyihasi misolida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9.4</a:t>
            </a:r>
            <a:endParaRPr lang="en-US" sz="68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35608"/>
          <a:ext cx="11201400" cy="4617720"/>
        </p:xfrm>
        <a:graphic>
          <a:graphicData uri="http://schemas.openxmlformats.org/drawingml/2006/table">
            <a:tbl>
              <a:tblPr/>
              <a:tblGrid>
                <a:gridCol w="2148840"/>
                <a:gridCol w="2788920"/>
                <a:gridCol w="1828800"/>
                <a:gridCol w="251460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Tomon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Axborot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Davriylik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Kanal / format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Mas’ul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Kafedra rahbariyati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Holat, muammo, zarur qaror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Oyiga 1 marta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Qisqa hisobot / uchrashuv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Loyiha rahbari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Hostel buyurtmachisi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Tayyor natija, kelishuv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Haftada 1 marta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Email + qisqa uchrashuv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Mijoz bilan aloqa mas’uli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Jamoa a’zolari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Vazifa, muddat, to‘siq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Har 2 kunda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Messenjer / task-board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Jamoa yetakchisi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Taqdimot guruhi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Slayd, matn, dizayn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Yakuniy haftada har kuni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Uchrashuv / umumiy fayl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40" dirty="0">
                          <a:solidFill>
                            <a:srgbClr val="24313F"/>
                          </a:solidFill>
                          <a:latin typeface="Aptos" pitchFamily="34" charset="0"/>
                          <a:ea typeface="Aptos" pitchFamily="34" charset="-122"/>
                          <a:cs typeface="Aptos" pitchFamily="34" charset="-120"/>
                        </a:rPr>
                        <a:t>Taqdimot koordinatori</a:t>
                      </a:r>
                      <a:endParaRPr lang="en-US" sz="840" dirty="0">
                        <a:latin typeface="Aptos" charset="0"/>
                        <a:ea typeface="Aptos" charset="0"/>
                        <a:cs typeface="Aptos" charset="0"/>
                      </a:endParaRPr>
                    </a:p>
                  </a:txBody>
                  <a:tcPr marL="45720" marR="45720" marT="45720" marB="45720" anchor="mid">
                    <a:lnL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D7E0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1435608"/>
            <a:ext cx="214884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1545336"/>
            <a:ext cx="20574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Tomon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2651760" y="1435608"/>
            <a:ext cx="278892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697480" y="1545336"/>
            <a:ext cx="2697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Axborot</a:t>
            </a:r>
            <a:endParaRPr lang="en-US" sz="780" dirty="0"/>
          </a:p>
        </p:txBody>
      </p:sp>
      <p:sp>
        <p:nvSpPr>
          <p:cNvPr id="11" name="Shape 8"/>
          <p:cNvSpPr/>
          <p:nvPr/>
        </p:nvSpPr>
        <p:spPr>
          <a:xfrm>
            <a:off x="5440680" y="1435608"/>
            <a:ext cx="182880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0" y="1545336"/>
            <a:ext cx="1737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Davriylik</a:t>
            </a:r>
            <a:endParaRPr lang="en-US" sz="780" dirty="0"/>
          </a:p>
        </p:txBody>
      </p:sp>
      <p:sp>
        <p:nvSpPr>
          <p:cNvPr id="13" name="Shape 10"/>
          <p:cNvSpPr/>
          <p:nvPr/>
        </p:nvSpPr>
        <p:spPr>
          <a:xfrm>
            <a:off x="7269480" y="1435608"/>
            <a:ext cx="251460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7315200" y="1545336"/>
            <a:ext cx="24231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Kanal / format</a:t>
            </a:r>
            <a:endParaRPr lang="en-US" sz="780" dirty="0"/>
          </a:p>
        </p:txBody>
      </p:sp>
      <p:sp>
        <p:nvSpPr>
          <p:cNvPr id="15" name="Shape 12"/>
          <p:cNvSpPr/>
          <p:nvPr/>
        </p:nvSpPr>
        <p:spPr>
          <a:xfrm>
            <a:off x="9784080" y="1435608"/>
            <a:ext cx="1920240" cy="384048"/>
          </a:xfrm>
          <a:prstGeom prst="rect">
            <a:avLst/>
          </a:prstGeom>
          <a:solidFill>
            <a:srgbClr val="0B5C8E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829800" y="1545336"/>
            <a:ext cx="1828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</a:rPr>
              <a:t>Mas’ul</a:t>
            </a:r>
            <a:endParaRPr lang="en-US" sz="78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39</a:t>
            </a:fld>
            <a:endParaRPr lang="en-US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To‘g‘ri kommunikatsiya qanday qiymat yaratadi?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Axborotdan boshqaruv natijasigacha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9.4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749808" y="1600200"/>
            <a:ext cx="507492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49808" y="1600200"/>
            <a:ext cx="45720" cy="173736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64792"/>
            <a:ext cx="4727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Ishonch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932688" y="2121408"/>
            <a:ext cx="472744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Manfaatdor tomonlar loyiha holatini tushunadi va kutilmalar moslashadi.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281928" y="1600200"/>
            <a:ext cx="507492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81928" y="1600200"/>
            <a:ext cx="45720" cy="173736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64808" y="1764792"/>
            <a:ext cx="4727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Tez qaror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64808" y="2121408"/>
            <a:ext cx="472744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Kerakli ma’lumot kerakli vaqtda qaror qabul qiluvchiga yetadi.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49808" y="3721608"/>
            <a:ext cx="507492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3721608"/>
            <a:ext cx="45720" cy="173736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2688" y="3886200"/>
            <a:ext cx="4727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O‘zgarishlarni boshqarish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932688" y="4242816"/>
            <a:ext cx="472744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O‘zgarishlar vaqtida kelishiladi va hujjatlashtiriladi.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281928" y="3721608"/>
            <a:ext cx="5074920" cy="173736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81928" y="3721608"/>
            <a:ext cx="45720" cy="1737360"/>
          </a:xfrm>
          <a:prstGeom prst="rect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64808" y="3886200"/>
            <a:ext cx="47274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Riskni kamaytirish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64808" y="4242816"/>
            <a:ext cx="4727448" cy="107899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Muammolar erta aniqlanadi, noto‘g‘ri talqin va kechikish kamayadi.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Kommunikatsiya rejasi axborotni “tasodifiy harakat”dan “boshqariladigan tizim”ga aylantiradi.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40</a:t>
            </a:fld>
            <a:endParaRPr lang="en-US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Nazorat savollari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9-bobni mustahkamlash uchun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NAZORAT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85800" y="1426464"/>
            <a:ext cx="5166360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41248" y="1655064"/>
            <a:ext cx="329184" cy="329184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1755648"/>
            <a:ext cx="3291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1</a:t>
            </a:r>
            <a:endParaRPr lang="en-US" sz="650" dirty="0"/>
          </a:p>
        </p:txBody>
      </p:sp>
      <p:sp>
        <p:nvSpPr>
          <p:cNvPr id="9" name="Text 7"/>
          <p:cNvSpPr/>
          <p:nvPr/>
        </p:nvSpPr>
        <p:spPr>
          <a:xfrm>
            <a:off x="1325880" y="1581912"/>
            <a:ext cx="42519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24313F"/>
                </a:solidFill>
              </a:rPr>
              <a:t>Loyiha kommunikatsiyasini boshqarish nimani anglatadi va uning loyiha muvaffaqiyatidagi o‘rni qanday?</a:t>
            </a:r>
            <a:endParaRPr lang="en-US" sz="825" dirty="0"/>
          </a:p>
        </p:txBody>
      </p:sp>
      <p:sp>
        <p:nvSpPr>
          <p:cNvPr id="10" name="Shape 8"/>
          <p:cNvSpPr/>
          <p:nvPr/>
        </p:nvSpPr>
        <p:spPr>
          <a:xfrm>
            <a:off x="6263640" y="1426464"/>
            <a:ext cx="5166360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19088" y="1655064"/>
            <a:ext cx="329184" cy="329184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19088" y="1755648"/>
            <a:ext cx="3291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2</a:t>
            </a:r>
            <a:endParaRPr lang="en-US" sz="650" dirty="0"/>
          </a:p>
        </p:txBody>
      </p:sp>
      <p:sp>
        <p:nvSpPr>
          <p:cNvPr id="13" name="Text 11"/>
          <p:cNvSpPr/>
          <p:nvPr/>
        </p:nvSpPr>
        <p:spPr>
          <a:xfrm>
            <a:off x="6903720" y="1581912"/>
            <a:ext cx="42519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24313F"/>
                </a:solidFill>
              </a:rPr>
              <a:t>Loyiha jarayonida kommunikatsiya muammolari nima sababdan ko‘p uchraydi?</a:t>
            </a:r>
            <a:endParaRPr lang="en-US" sz="825" dirty="0"/>
          </a:p>
        </p:txBody>
      </p:sp>
      <p:sp>
        <p:nvSpPr>
          <p:cNvPr id="14" name="Shape 12"/>
          <p:cNvSpPr/>
          <p:nvPr/>
        </p:nvSpPr>
        <p:spPr>
          <a:xfrm>
            <a:off x="685800" y="2551176"/>
            <a:ext cx="5166360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41248" y="2779776"/>
            <a:ext cx="329184" cy="329184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41248" y="2880360"/>
            <a:ext cx="3291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3</a:t>
            </a:r>
            <a:endParaRPr lang="en-US" sz="650" dirty="0"/>
          </a:p>
        </p:txBody>
      </p:sp>
      <p:sp>
        <p:nvSpPr>
          <p:cNvPr id="17" name="Text 15"/>
          <p:cNvSpPr/>
          <p:nvPr/>
        </p:nvSpPr>
        <p:spPr>
          <a:xfrm>
            <a:off x="1325880" y="2706624"/>
            <a:ext cx="42519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24313F"/>
                </a:solidFill>
              </a:rPr>
              <a:t>Kommunikatsiya jarayoni nima uchun ikki tomonlama jarayon hisoblanadi?</a:t>
            </a:r>
            <a:endParaRPr lang="en-US" sz="825" dirty="0"/>
          </a:p>
        </p:txBody>
      </p:sp>
      <p:sp>
        <p:nvSpPr>
          <p:cNvPr id="18" name="Shape 16"/>
          <p:cNvSpPr/>
          <p:nvPr/>
        </p:nvSpPr>
        <p:spPr>
          <a:xfrm>
            <a:off x="6263640" y="2551176"/>
            <a:ext cx="5166360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19088" y="2779776"/>
            <a:ext cx="329184" cy="329184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9088" y="2880360"/>
            <a:ext cx="3291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4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6903720" y="2706624"/>
            <a:ext cx="42519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24313F"/>
                </a:solidFill>
              </a:rPr>
              <a:t>Kommunikatsiya modellarining mohiyati nimada va ular amaliyotda qanday qo‘llaniladi?</a:t>
            </a:r>
            <a:endParaRPr lang="en-US" sz="825" dirty="0"/>
          </a:p>
        </p:txBody>
      </p:sp>
      <p:sp>
        <p:nvSpPr>
          <p:cNvPr id="22" name="Shape 20"/>
          <p:cNvSpPr/>
          <p:nvPr/>
        </p:nvSpPr>
        <p:spPr>
          <a:xfrm>
            <a:off x="685800" y="3675888"/>
            <a:ext cx="5166360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41248" y="3904488"/>
            <a:ext cx="329184" cy="329184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4005072"/>
            <a:ext cx="3291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5</a:t>
            </a:r>
            <a:endParaRPr lang="en-US" sz="650" dirty="0"/>
          </a:p>
        </p:txBody>
      </p:sp>
      <p:sp>
        <p:nvSpPr>
          <p:cNvPr id="25" name="Text 23"/>
          <p:cNvSpPr/>
          <p:nvPr/>
        </p:nvSpPr>
        <p:spPr>
          <a:xfrm>
            <a:off x="1325880" y="3831336"/>
            <a:ext cx="42519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24313F"/>
                </a:solidFill>
              </a:rPr>
              <a:t>Ma’lumot tarqatishda manfaatdor tomonlarning axborot ehtiyojlarini hisobga olish nima uchun muhim?</a:t>
            </a:r>
            <a:endParaRPr lang="en-US" sz="825" dirty="0"/>
          </a:p>
        </p:txBody>
      </p:sp>
      <p:sp>
        <p:nvSpPr>
          <p:cNvPr id="26" name="Shape 24"/>
          <p:cNvSpPr/>
          <p:nvPr/>
        </p:nvSpPr>
        <p:spPr>
          <a:xfrm>
            <a:off x="6263640" y="3675888"/>
            <a:ext cx="5166360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3904488"/>
            <a:ext cx="329184" cy="329184"/>
          </a:xfrm>
          <a:prstGeom prst="ellipse">
            <a:avLst/>
          </a:prstGeom>
          <a:solidFill>
            <a:srgbClr val="2C7A7B"/>
          </a:solidFill>
          <a:ln w="12700">
            <a:solidFill>
              <a:srgbClr val="2C7A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19088" y="4005072"/>
            <a:ext cx="3291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6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6903720" y="3831336"/>
            <a:ext cx="42519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24313F"/>
                </a:solidFill>
              </a:rPr>
              <a:t>Bajarilish hisobotlari loyiha boshqaruvida qanday vazifani bajaradi?</a:t>
            </a:r>
            <a:endParaRPr lang="en-US" sz="825" dirty="0"/>
          </a:p>
        </p:txBody>
      </p:sp>
      <p:sp>
        <p:nvSpPr>
          <p:cNvPr id="30" name="Shape 28"/>
          <p:cNvSpPr/>
          <p:nvPr/>
        </p:nvSpPr>
        <p:spPr>
          <a:xfrm>
            <a:off x="685800" y="4800600"/>
            <a:ext cx="5166360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" y="5029200"/>
            <a:ext cx="329184" cy="329184"/>
          </a:xfrm>
          <a:prstGeom prst="ellipse">
            <a:avLst/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" y="5129784"/>
            <a:ext cx="3291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7</a:t>
            </a:r>
            <a:endParaRPr lang="en-US" sz="650" dirty="0"/>
          </a:p>
        </p:txBody>
      </p:sp>
      <p:sp>
        <p:nvSpPr>
          <p:cNvPr id="33" name="Text 31"/>
          <p:cNvSpPr/>
          <p:nvPr/>
        </p:nvSpPr>
        <p:spPr>
          <a:xfrm>
            <a:off x="1325880" y="4956048"/>
            <a:ext cx="42519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24313F"/>
                </a:solidFill>
              </a:rPr>
              <a:t>Kommunikatsiya rejasi nima va u loyiha jarayoniga qanday ta’sir ko‘rsatadi?</a:t>
            </a:r>
            <a:endParaRPr lang="en-US" sz="825" dirty="0"/>
          </a:p>
        </p:txBody>
      </p:sp>
      <p:sp>
        <p:nvSpPr>
          <p:cNvPr id="34" name="Shape 32"/>
          <p:cNvSpPr/>
          <p:nvPr/>
        </p:nvSpPr>
        <p:spPr>
          <a:xfrm>
            <a:off x="6263640" y="4800600"/>
            <a:ext cx="5166360" cy="859536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419088" y="5029200"/>
            <a:ext cx="329184" cy="329184"/>
          </a:xfrm>
          <a:prstGeom prst="ellipse">
            <a:avLst/>
          </a:prstGeom>
          <a:solidFill>
            <a:srgbClr val="7B8794"/>
          </a:solidFill>
          <a:ln w="12700">
            <a:solidFill>
              <a:srgbClr val="7B879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19088" y="5129784"/>
            <a:ext cx="329184" cy="64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FFFFFF"/>
                </a:solidFill>
              </a:rPr>
              <a:t>8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903720" y="4956048"/>
            <a:ext cx="4251960" cy="53035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indent="0" marL="0">
              <a:buNone/>
            </a:pPr>
            <a:r>
              <a:rPr lang="en-US" sz="825" dirty="0">
                <a:solidFill>
                  <a:srgbClr val="24313F"/>
                </a:solidFill>
              </a:rPr>
              <a:t>To‘g‘ri tashkil etilgan kommunikatsiya loyiha risklarini kamaytirishda qanday rol o‘ynaydi?</a:t>
            </a:r>
            <a:endParaRPr lang="en-US" sz="825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41</a:t>
            </a:fld>
            <a:endParaRPr lang="en-US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Glossariy 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Asosiy kommunikatsiya tushunchalari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GLOSSARIY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40080" y="1389888"/>
            <a:ext cx="523036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389888"/>
            <a:ext cx="45720" cy="9144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54480"/>
            <a:ext cx="4882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Loyiha kommunikatsiyasi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22960" y="1911096"/>
            <a:ext cx="48828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Axborotni yaratish, uzatish, qabul qilish va tushunishni ta’minlovchi muloqot jarayonlari.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254496" y="1389888"/>
            <a:ext cx="523036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54496" y="1389888"/>
            <a:ext cx="45720" cy="9144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7376" y="1554480"/>
            <a:ext cx="4882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Loyiha kommunikatsiyasini boshqarish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37376" y="1911096"/>
            <a:ext cx="48828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Axborot almashinuvini rejalashtirish, tashkil etish va nazorat qilish jarayonlari.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40080" y="2542032"/>
            <a:ext cx="523036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2542032"/>
            <a:ext cx="45720" cy="9144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2706624"/>
            <a:ext cx="4882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Axborot almashinuvi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3063240"/>
            <a:ext cx="48828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Loyiha ishtirokchilari o‘rtasida ma’lumotlarning uzatilishi va qabul qilinishi.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254496" y="2542032"/>
            <a:ext cx="523036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54496" y="2542032"/>
            <a:ext cx="45720" cy="9144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37376" y="2706624"/>
            <a:ext cx="4882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Kommunikatsiya modeli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37376" y="3063240"/>
            <a:ext cx="48828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Jo‘natuvchi, xabar, qabul qiluvchi va fikr-mulohazani ifodalovchi nazariy tuzilma.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40080" y="3694176"/>
            <a:ext cx="523036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" y="3694176"/>
            <a:ext cx="45720" cy="9144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858768"/>
            <a:ext cx="4882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Jo‘natuvchi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22960" y="4215384"/>
            <a:ext cx="48828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Axborotni shakllantiruvchi va uzatuvchi shaxs yoki guruh.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254496" y="3694176"/>
            <a:ext cx="523036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54496" y="3694176"/>
            <a:ext cx="45720" cy="9144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37376" y="3858768"/>
            <a:ext cx="4882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Qabul qiluvchi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37376" y="4215384"/>
            <a:ext cx="48828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Axborotni qabul qiluvchi va talqin qiluvchi shaxs yoki guruh.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40080" y="4846320"/>
            <a:ext cx="523036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40080" y="4846320"/>
            <a:ext cx="45720" cy="914400"/>
          </a:xfrm>
          <a:prstGeom prst="rect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" y="5010912"/>
            <a:ext cx="4882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Xabar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22960" y="5367528"/>
            <a:ext cx="48828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Kommunikatsiya jarayonida uzatiladigan axborot mazmuni.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254496" y="4846320"/>
            <a:ext cx="5230368" cy="9144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54496" y="4846320"/>
            <a:ext cx="45720" cy="91440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37376" y="5010912"/>
            <a:ext cx="48828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Fikr-mulohaza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37376" y="5367528"/>
            <a:ext cx="48828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Xabar olingani va qanday tushunilganini ko‘rsatuvchi javob reaksiyasi.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42</a:t>
            </a:fld>
            <a:endParaRPr lang="en-US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Glossariy II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Axborot, hisobot va rejalashtirish tushunchalari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GLOSSARIY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621792" y="1298448"/>
            <a:ext cx="5248656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21792" y="1298448"/>
            <a:ext cx="45720" cy="77724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04672" y="1463040"/>
            <a:ext cx="4901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Ma’lumot tarqatish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804672" y="1819656"/>
            <a:ext cx="4901184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Axborotni manfaatdor tomonlarga yetkazish jarayoni.</a:t>
            </a:r>
            <a:endParaRPr lang="en-US" sz="920" dirty="0"/>
          </a:p>
        </p:txBody>
      </p:sp>
      <p:sp>
        <p:nvSpPr>
          <p:cNvPr id="10" name="Shape 8"/>
          <p:cNvSpPr/>
          <p:nvPr/>
        </p:nvSpPr>
        <p:spPr>
          <a:xfrm>
            <a:off x="6245352" y="1298448"/>
            <a:ext cx="5248656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245352" y="1298448"/>
            <a:ext cx="4572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28232" y="1463040"/>
            <a:ext cx="4901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Axborot kanali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428232" y="1819656"/>
            <a:ext cx="4901184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Uchrashuv, email, rasmiy hujjat, platforma kabi xabar yetkazish vositasi.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621792" y="2267712"/>
            <a:ext cx="5248656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267712"/>
            <a:ext cx="45720" cy="77724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04672" y="2432304"/>
            <a:ext cx="4901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Bajarilish hisoboti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04672" y="2788920"/>
            <a:ext cx="4901184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Holat, natijalar, og‘ishlar va muammolarni aks ettiruvchi rasmiy hujjat.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245352" y="2267712"/>
            <a:ext cx="5248656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45352" y="2267712"/>
            <a:ext cx="4572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28232" y="2432304"/>
            <a:ext cx="4901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Hisobot berish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428232" y="2788920"/>
            <a:ext cx="4901184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Loyiha natijalari va jarayonlari haqida manfaatdor tomonlarga axborot taqdim etish.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21792" y="3236976"/>
            <a:ext cx="5248656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3236976"/>
            <a:ext cx="45720" cy="77724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401568"/>
            <a:ext cx="4901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Manfaatdor tomonlar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804672" y="3758184"/>
            <a:ext cx="4901184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Loyihaga ta’sir ko‘rsatuvchi yoki natijalaridan manfaatdor shaxs va tashkilotlar.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245352" y="3236976"/>
            <a:ext cx="5248656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45352" y="3236976"/>
            <a:ext cx="4572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8232" y="3401568"/>
            <a:ext cx="4901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Kommunikatsiya rejasi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28232" y="3758184"/>
            <a:ext cx="4901184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Qaysi axborot kimga, qachon, qanday shaklda va qaysi kanal orqali yetkazilishini belgilovchi hujjat.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21792" y="4206240"/>
            <a:ext cx="5248656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" y="4206240"/>
            <a:ext cx="45720" cy="77724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04672" y="4370832"/>
            <a:ext cx="4901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Axborot ehtiyoji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804672" y="4727448"/>
            <a:ext cx="4901184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Qaror qabul qilish uchun zarur ma’lumotlar majmui.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245352" y="4206240"/>
            <a:ext cx="5248656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45352" y="4206240"/>
            <a:ext cx="4572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428232" y="4370832"/>
            <a:ext cx="4901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Axborot yuklamasi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6428232" y="4727448"/>
            <a:ext cx="4901184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Ishtirokchilarga kelib tushayotgan axborot hajmi.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621792" y="5175504"/>
            <a:ext cx="5248656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21792" y="5175504"/>
            <a:ext cx="45720" cy="777240"/>
          </a:xfrm>
          <a:prstGeom prst="rect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04672" y="5340096"/>
            <a:ext cx="4901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Ochiq muloqot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804672" y="5696712"/>
            <a:ext cx="4901184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Axborotni erkin va to‘siqsiz almashish muhiti.</a:t>
            </a:r>
            <a:endParaRPr lang="en-US" sz="920" dirty="0"/>
          </a:p>
        </p:txBody>
      </p:sp>
      <p:sp>
        <p:nvSpPr>
          <p:cNvPr id="42" name="Shape 40"/>
          <p:cNvSpPr/>
          <p:nvPr/>
        </p:nvSpPr>
        <p:spPr>
          <a:xfrm>
            <a:off x="6245352" y="5175504"/>
            <a:ext cx="5248656" cy="77724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6245352" y="5175504"/>
            <a:ext cx="45720" cy="77724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28232" y="5340096"/>
            <a:ext cx="49011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b="1" dirty="0">
                <a:solidFill>
                  <a:srgbClr val="24313F"/>
                </a:solidFill>
              </a:rPr>
              <a:t>Kommunikatsiya samaradorligi</a:t>
            </a:r>
            <a:endParaRPr lang="en-US" sz="1150" dirty="0"/>
          </a:p>
        </p:txBody>
      </p:sp>
      <p:sp>
        <p:nvSpPr>
          <p:cNvPr id="45" name="Text 43"/>
          <p:cNvSpPr/>
          <p:nvPr/>
        </p:nvSpPr>
        <p:spPr>
          <a:xfrm>
            <a:off x="6428232" y="5696712"/>
            <a:ext cx="4901184" cy="1188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67788"/>
                </a:solidFill>
              </a:rPr>
              <a:t>Axborotning o‘z vaqtida, to‘g‘ri va tushunarli yetkazilishi darajasi.</a:t>
            </a:r>
            <a:endParaRPr lang="en-US" sz="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43</a:t>
            </a:fld>
            <a:endParaRPr lang="en-US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B5C8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Yakuniy xulosa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512064" y="694944"/>
            <a:ext cx="10927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67788"/>
                </a:solidFill>
              </a:rPr>
              <a:t>9-bobning asosiy mantiqi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12064" y="1042416"/>
            <a:ext cx="987552" cy="219456"/>
          </a:xfrm>
          <a:prstGeom prst="roundRect">
            <a:avLst>
              <a:gd name="adj" fmla="val 12500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12064" y="1083564"/>
            <a:ext cx="987552" cy="100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XULOSA</a:t>
            </a:r>
            <a:endParaRPr lang="en-US" sz="680" dirty="0"/>
          </a:p>
        </p:txBody>
      </p:sp>
      <p:sp>
        <p:nvSpPr>
          <p:cNvPr id="6" name="Shape 4"/>
          <p:cNvSpPr/>
          <p:nvPr/>
        </p:nvSpPr>
        <p:spPr>
          <a:xfrm>
            <a:off x="914400" y="1554480"/>
            <a:ext cx="10332720" cy="4251960"/>
          </a:xfrm>
          <a:prstGeom prst="roundRect">
            <a:avLst>
              <a:gd name="adj" fmla="val 1290"/>
            </a:avLst>
          </a:prstGeom>
          <a:solidFill>
            <a:srgbClr val="FFFFFF"/>
          </a:solidFill>
          <a:ln w="12700">
            <a:solidFill>
              <a:srgbClr val="D7E0E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1828800"/>
            <a:ext cx="438912" cy="438912"/>
          </a:xfrm>
          <a:prstGeom prst="ellipse">
            <a:avLst/>
          </a:prstGeom>
          <a:solidFill>
            <a:srgbClr val="1D6FB8"/>
          </a:solidFill>
          <a:ln w="12700">
            <a:solidFill>
              <a:srgbClr val="1D6FB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34440" y="1975104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1</a:t>
            </a:r>
            <a:endParaRPr lang="en-US" sz="680" dirty="0"/>
          </a:p>
        </p:txBody>
      </p:sp>
      <p:sp>
        <p:nvSpPr>
          <p:cNvPr id="9" name="Text 7"/>
          <p:cNvSpPr/>
          <p:nvPr/>
        </p:nvSpPr>
        <p:spPr>
          <a:xfrm>
            <a:off x="1874520" y="1856232"/>
            <a:ext cx="8915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24313F"/>
                </a:solidFill>
              </a:rPr>
              <a:t>Kommunikatsiya — loyiha boshqaruvining markaziy mexanizmi.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1234440" y="2560320"/>
            <a:ext cx="438912" cy="438912"/>
          </a:xfrm>
          <a:prstGeom prst="ellipse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34440" y="2706624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2</a:t>
            </a:r>
            <a:endParaRPr lang="en-US" sz="680" dirty="0"/>
          </a:p>
        </p:txBody>
      </p:sp>
      <p:sp>
        <p:nvSpPr>
          <p:cNvPr id="12" name="Text 10"/>
          <p:cNvSpPr/>
          <p:nvPr/>
        </p:nvSpPr>
        <p:spPr>
          <a:xfrm>
            <a:off x="1874520" y="2587752"/>
            <a:ext cx="8915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13F"/>
                </a:solidFill>
              </a:rPr>
              <a:t>Samarali axborot aniq, o‘z vaqtida, auditoriyaga mos va ikki tomonlama bo‘ladi.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1234440" y="3291840"/>
            <a:ext cx="438912" cy="438912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34440" y="3438144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3</a:t>
            </a:r>
            <a:endParaRPr lang="en-US" sz="680" dirty="0"/>
          </a:p>
        </p:txBody>
      </p:sp>
      <p:sp>
        <p:nvSpPr>
          <p:cNvPr id="15" name="Text 13"/>
          <p:cNvSpPr/>
          <p:nvPr/>
        </p:nvSpPr>
        <p:spPr>
          <a:xfrm>
            <a:off x="1874520" y="3319272"/>
            <a:ext cx="8915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13F"/>
                </a:solidFill>
              </a:rPr>
              <a:t>Manfaatdor tomonlar turlicha axborot ehtiyojiga ega; “bir xil xabar — hamma uchun” yondashuvi samarasiz.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234440" y="4023360"/>
            <a:ext cx="438912" cy="438912"/>
          </a:xfrm>
          <a:prstGeom prst="ellipse">
            <a:avLst/>
          </a:prstGeom>
          <a:solidFill>
            <a:srgbClr val="6B46C1"/>
          </a:solidFill>
          <a:ln w="12700">
            <a:solidFill>
              <a:srgbClr val="6B46C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34440" y="4169664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4</a:t>
            </a:r>
            <a:endParaRPr lang="en-US" sz="680" dirty="0"/>
          </a:p>
        </p:txBody>
      </p:sp>
      <p:sp>
        <p:nvSpPr>
          <p:cNvPr id="18" name="Text 16"/>
          <p:cNvSpPr/>
          <p:nvPr/>
        </p:nvSpPr>
        <p:spPr>
          <a:xfrm>
            <a:off x="1874520" y="4050792"/>
            <a:ext cx="8915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13F"/>
                </a:solidFill>
              </a:rPr>
              <a:t>Bajarilish hisobotlari qaror qabul qilishni qo‘llab-quvvatlashi kerak.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234440" y="4754880"/>
            <a:ext cx="438912" cy="438912"/>
          </a:xfrm>
          <a:prstGeom prst="ellipse">
            <a:avLst/>
          </a:prstGeom>
          <a:solidFill>
            <a:srgbClr val="C53030"/>
          </a:solidFill>
          <a:ln w="12700">
            <a:solidFill>
              <a:srgbClr val="C5303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34440" y="4901184"/>
            <a:ext cx="43891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dirty="0">
                <a:solidFill>
                  <a:srgbClr val="FFFFFF"/>
                </a:solidFill>
              </a:rPr>
              <a:t>5</a:t>
            </a:r>
            <a:endParaRPr lang="en-US" sz="680" dirty="0"/>
          </a:p>
        </p:txBody>
      </p:sp>
      <p:sp>
        <p:nvSpPr>
          <p:cNvPr id="21" name="Text 19"/>
          <p:cNvSpPr/>
          <p:nvPr/>
        </p:nvSpPr>
        <p:spPr>
          <a:xfrm>
            <a:off x="1874520" y="4782312"/>
            <a:ext cx="8915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24313F"/>
                </a:solidFill>
              </a:rPr>
              <a:t>Kommunikatsiya rejasi kimga, nima, qachon, qaysi kanal, kim tomonidan, qaysi shaklda va qanday qayd etilishini belgilaydi.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58368" y="5989320"/>
            <a:ext cx="10881360" cy="320040"/>
          </a:xfrm>
          <a:prstGeom prst="roundRect">
            <a:avLst>
              <a:gd name="adj" fmla="val 8571"/>
            </a:avLst>
          </a:prstGeom>
          <a:solidFill>
            <a:srgbClr val="0B5C8E"/>
          </a:solidFill>
          <a:ln w="12700">
            <a:solidFill>
              <a:srgbClr val="0B5C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41248" y="6071616"/>
            <a:ext cx="10515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FFFFFF"/>
                </a:solidFill>
              </a:rPr>
              <a:t>To‘g‘ri kommunikatsiya → kamroq noaniqlik → tezroq qaror → kamroq qayta ishlash → yuqori loyiha samaradorligi.</a:t>
            </a:r>
            <a:endParaRPr lang="en-US" sz="8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631168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720">
                <a:solidFill>
                  <a:srgbClr val="7C8795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44</Slides>
  <Notes>44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4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</vt:vector>
  </TitlesOfParts>
  <Company>O‘zbekiston Milliy universiteti Jizzax filiali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Loyiha kommunikatsiyasini boshqarish</dc:title>
  <dc:subject>Loyihalarni boshqarish — 9-bob</dc:subject>
  <dc:creator>OpenAI</dc:creator>
  <cp:lastModifiedBy>OpenAI</cp:lastModifiedBy>
  <cp:revision>1</cp:revision>
  <dcterms:created xsi:type="dcterms:W3CDTF">2026-09-16T06:39:08Z</dcterms:created>
  <dcterms:modified xsi:type="dcterms:W3CDTF">2026-09-16T06:39:08Z</dcterms:modified>
</cp:coreProperties>
</file>