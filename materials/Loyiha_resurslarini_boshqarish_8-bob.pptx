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LOYIHALARNI BOSHQARISH • 8-BOB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281160" y="656539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D.R. Najmiddinov,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32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E3F8"/>
                </a:solidFill>
              </a:rPr>
              <a:t>8-BOB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2057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LOYIHA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RESURSLARINI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BOSHQARISH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3547872"/>
            <a:ext cx="2148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7EEF9"/>
                </a:solidFill>
              </a:rPr>
              <a:t>Inson resurslari • jamoa • rahbarlik • motivatsiya • nizolar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48272" y="2148840"/>
            <a:ext cx="2139696" cy="2139696"/>
          </a:xfrm>
          <a:prstGeom prst="ellipse">
            <a:avLst/>
          </a:prstGeom>
          <a:solidFill>
            <a:srgbClr val="E8F3FA"/>
          </a:solidFill>
          <a:ln w="25400">
            <a:solidFill>
              <a:srgbClr val="B8D8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68312" y="2798064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568C"/>
                </a:solidFill>
              </a:rPr>
              <a:t>LOYIHA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E568C"/>
                </a:solidFill>
              </a:rPr>
              <a:t>JAMOASI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77840" y="1170432"/>
            <a:ext cx="1508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3716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Bilim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95160" y="1481328"/>
            <a:ext cx="1097280" cy="1143000"/>
          </a:xfrm>
          <a:prstGeom prst="line">
            <a:avLst/>
          </a:prstGeom>
          <a:noFill/>
          <a:ln w="16510">
            <a:solidFill>
              <a:srgbClr val="B8C6D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15400" y="1234440"/>
            <a:ext cx="1508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06840" y="14356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Vaqt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545336"/>
            <a:ext cx="-822960" cy="1143000"/>
          </a:xfrm>
          <a:prstGeom prst="line">
            <a:avLst/>
          </a:prstGeom>
          <a:noFill/>
          <a:ln w="16510">
            <a:solidFill>
              <a:srgbClr val="B8C6D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0" y="4251960"/>
            <a:ext cx="1508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6B4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4453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6C1"/>
                </a:solidFill>
              </a:rPr>
              <a:t>Motivatsiya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0" y="4562856"/>
            <a:ext cx="-822960" cy="-1051560"/>
          </a:xfrm>
          <a:prstGeom prst="line">
            <a:avLst/>
          </a:prstGeom>
          <a:noFill/>
          <a:ln w="16510">
            <a:solidFill>
              <a:srgbClr val="B8C6D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0" y="4370832"/>
            <a:ext cx="1508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45720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</a:rPr>
              <a:t>Hamkorlik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4681728"/>
            <a:ext cx="1097280" cy="-1051560"/>
          </a:xfrm>
          <a:prstGeom prst="line">
            <a:avLst/>
          </a:prstGeom>
          <a:noFill/>
          <a:ln w="16510">
            <a:solidFill>
              <a:srgbClr val="B8C6D4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840480" y="60350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D.R. Najmiddinov — “Loyihalarni boshqarish” darsligi asosida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63825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795A1"/>
                </a:solidFill>
              </a:rPr>
              <a:t>Jizzax —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tuzilishi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8-bob doirasidagi asosiy bo‘limlar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8-BOB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1627632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1783080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188366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8.1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39696" y="1819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Loyiha resurslarini boshqarish tushunchasi va uning ahamiyati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2615184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5296" y="2770632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8712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8.2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39696" y="28072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Inson resurslarini rejalashtirish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05840" y="3602736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25296" y="3758184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858768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39696" y="37947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Loyiha jamoasini shakllantirish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1498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5296" y="4745736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296" y="4846320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8.4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39696" y="47823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</a:rPr>
              <a:t>Loyiha jamoasini rivojlantirish va boshqarish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Tayanch iboralar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Mavzuni o‘zlashtirish uchun asosiy tushunchalar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TAYANCH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DCEFFC"/>
          </a:solidFill>
          <a:ln w="12700">
            <a:solidFill>
              <a:srgbClr val="DCEF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96212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Loyiha resurslari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29584" y="1600200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2736" y="1696212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Inson resurslari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45936" y="1600200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696212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Inson omili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62288" y="1600200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0" y="1696212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Resurslarni aniqlash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350008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DCEFFC"/>
          </a:solidFill>
          <a:ln w="12700">
            <a:solidFill>
              <a:srgbClr val="DCEF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446020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Resurslarni taqsimlash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29584" y="2350008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2446020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Samarali foydalanish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45936" y="2350008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2446020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Mutaxassislar ehtiyoji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62288" y="2350008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2446020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Rol va vazifalar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" y="3099816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DCEFFC"/>
          </a:solidFill>
          <a:ln w="12700">
            <a:solidFill>
              <a:srgbClr val="DCEF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195828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Mas’uliyat va vakolat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29584" y="3099816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3195828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Loyiha jamoasi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45936" y="3099816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3195828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Jamoa dinamikasi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62288" y="3099816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3195828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Yetakchilik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3232" y="3849624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DCEFFC"/>
          </a:solidFill>
          <a:ln w="12700">
            <a:solidFill>
              <a:srgbClr val="DCEF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3945636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Muvofiqlashtirish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529584" y="3849624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2736" y="3945636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Muloqot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45936" y="3849624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3945636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Motivatsiya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62288" y="3849624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0" y="3945636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Nazorat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13232" y="4599432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DCEFFC"/>
          </a:solidFill>
          <a:ln w="12700">
            <a:solidFill>
              <a:srgbClr val="DCEF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4695444"/>
            <a:ext cx="2340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Nizolarni boshqarish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Loyiha resurslari nima?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Loyihani amalga oshirish uchun zarur bo‘lgan imkoniyatlar majmui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965960" cy="21031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7780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9304" y="2121408"/>
            <a:ext cx="667512" cy="66751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9304" y="2340864"/>
            <a:ext cx="66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999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</a:rPr>
              <a:t>INSON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3649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Mehnat, bilim, tajriba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16936" y="1828800"/>
            <a:ext cx="1965960" cy="21031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121408"/>
            <a:ext cx="667512" cy="6675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340864"/>
            <a:ext cx="66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81528" y="2999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VAQT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81528" y="33649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Muddat va ish vaqti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93792" y="1828800"/>
            <a:ext cx="1965960" cy="21031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7780">
            <a:solidFill>
              <a:srgbClr val="2F85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43016" y="2121408"/>
            <a:ext cx="667512" cy="667512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43016" y="2340864"/>
            <a:ext cx="66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58384" y="2999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</a:rPr>
              <a:t>MODDIY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58384" y="33649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Jihoz, material, infratuzilma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70648" y="1828800"/>
            <a:ext cx="1965960" cy="21031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7780">
            <a:solidFill>
              <a:srgbClr val="6B46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9872" y="2121408"/>
            <a:ext cx="667512" cy="667512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9872" y="2340864"/>
            <a:ext cx="66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35240" y="2999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6C1"/>
                </a:solidFill>
              </a:rPr>
              <a:t>TEXNIK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35240" y="33649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Texnologiya va vositalar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47504" y="1828800"/>
            <a:ext cx="1965960" cy="21031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7780">
            <a:solidFill>
              <a:srgbClr val="2C7A7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96728" y="2121408"/>
            <a:ext cx="667512" cy="667512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96728" y="2340864"/>
            <a:ext cx="66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912096" y="2999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7A7B"/>
                </a:solidFill>
              </a:rPr>
              <a:t>AXBOROT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912096" y="33649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Ma’lumot va bilim bazasi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31520" y="489204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05663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Resurslarni boshqarish — imkoniyatlarni loyiha maqsadiga uyg‘unlashtirish jarayoni.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Nega inson resurslari markaziy o‘rinda?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Rejalarni ishlab chiqadigan, qaror qiladigan va natijani yaratadigan — inson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342900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72768"/>
            <a:ext cx="54864" cy="32461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Qaror va reja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2103120"/>
            <a:ext cx="3044952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Loyiha rejasi, ustuvorliklar va muammolarga javob inson tomonidan shakllantiriladi.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572768"/>
            <a:ext cx="342900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572768"/>
            <a:ext cx="54864" cy="32461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Bilim va tajriba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2103120"/>
            <a:ext cx="3044952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Bir xil vazifa turli malakaga ega xodimlar tomonidan turlicha sifat va tezlikda bajariladi.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1572768"/>
            <a:ext cx="342900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1572768"/>
            <a:ext cx="54864" cy="3246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Motivatsiya va hamkorlik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3608" y="2103120"/>
            <a:ext cx="3044952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Jamoa munosabatlari, yetakchilik va nizolarni hal etish loyiha natijasiga bevosita ta’sir qiladi.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52120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174A73"/>
          </a:solidFill>
          <a:ln w="12700">
            <a:solidFill>
              <a:srgbClr val="174A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37667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Inson resurslarini samarali boshqarishsiz boshqa boshqaruv yo‘nalishlari kutilgan natijani bermasligi mumkin.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Resurslarni boshqarishning asosiy maqsadi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Har bir resursdan o‘z vaqtida, o‘z o‘rnida va maksimal samaradorlik bilan foydalanish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029968"/>
            <a:ext cx="384048" cy="38404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9854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49631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Ehtiyojni aniqlash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81021" y="2249424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4757" y="187452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C7A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4485" y="2029968"/>
            <a:ext cx="384048" cy="384048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4485" y="209854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64485" y="249631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Resursni tanlash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5698" y="2249424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69434" y="187452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79162" y="2029968"/>
            <a:ext cx="384048" cy="38404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9162" y="209854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79162" y="249631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Taqsimlash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10374" y="2249424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84110" y="187452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93838" y="202996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93838" y="209854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93838" y="249631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Muvofiqlashtirish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325051" y="2249424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98787" y="187452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6B46C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8515" y="2029968"/>
            <a:ext cx="384048" cy="38404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8515" y="209854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8515" y="249631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Nazorat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05840" y="3337560"/>
            <a:ext cx="30632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5840" y="3337560"/>
            <a:ext cx="54864" cy="15087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07008" y="3502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Son emas — moslik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07008" y="3867912"/>
            <a:ext cx="2679192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Inson resurslarida xodimlar soni bilan birga malaka, tajriba va motivatsiya ham hisobga olinadi.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0" y="3337560"/>
            <a:ext cx="30632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3337560"/>
            <a:ext cx="54864" cy="150876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502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Tizimli yondashuv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773168" y="3867912"/>
            <a:ext cx="2679192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Resurslar loyiha hajmi, jadvali, byudjeti va sifat talablari bilan uyg‘un rejalashtiriladi.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138160" y="3337560"/>
            <a:ext cx="306324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38160" y="3337560"/>
            <a:ext cx="54864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39328" y="3502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Doimiy boshqaruv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339328" y="3867912"/>
            <a:ext cx="2679192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Resurslardan foydalanish loyiha davomida kuzatiladi va zarur hollarda qayta taqsimlanadi.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Resurslar noto‘g‘ri boshqarilsa nima bo‘ladi?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Mukammal jadval va byudjet ham yetarli bo‘lmaydi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16636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08760"/>
            <a:ext cx="54864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733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Kechikish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2039112"/>
            <a:ext cx="478231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Kerakli mutaxassis yoki resurs o‘z vaqtida mavjud emas.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16636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508760"/>
            <a:ext cx="54864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6733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Sifat pasayishi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4808" y="2039112"/>
            <a:ext cx="478231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Malaka vazifaga mos kelmaydi yoki nazorat sust.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383280"/>
            <a:ext cx="516636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383280"/>
            <a:ext cx="54864" cy="155448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478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Xarajat ortishi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6968" y="3913632"/>
            <a:ext cx="478231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Ortiqcha resurs yoki noto‘g‘ri taqsimot byudjetni oshiradi.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3383280"/>
            <a:ext cx="516636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383280"/>
            <a:ext cx="54864" cy="1554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35478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Nizo va takroriy ish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64808" y="3913632"/>
            <a:ext cx="478231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Rollar noaniq bo‘lsa vazifalar to‘qnashadi yoki takrorlanadi.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31520" y="54406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60527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Asosiy xavf: resurs mavjud bo‘lishi yetarli emas — u to‘g‘ri va muvofiqlashtirilgan holda ishlatilishi kerak.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misol: guruh loyihasi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Talabalar jamoasida vazifalarni aniq taqsimlash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1600200"/>
            <a:ext cx="10058400" cy="704088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6152" y="1746504"/>
            <a:ext cx="2148840" cy="411480"/>
          </a:xfrm>
          <a:prstGeom prst="roundRect">
            <a:avLst>
              <a:gd name="adj" fmla="val 8889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7592" y="186080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Ma’lumot yig‘ish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1828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1-talaba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Aniq mas’uliyat → ishlar bir-birini to‘ldiradi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2624328"/>
            <a:ext cx="10058400" cy="704088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6152" y="2770632"/>
            <a:ext cx="2148840" cy="411480"/>
          </a:xfrm>
          <a:prstGeom prst="roundRect">
            <a:avLst>
              <a:gd name="adj" fmla="val 8889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7592" y="288493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Tahlil qilish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8529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2-talaba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852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Aniq mas’uliyat → ishlar bir-birini to‘ldiradi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3648456"/>
            <a:ext cx="10058400" cy="704088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6152" y="3794760"/>
            <a:ext cx="2148840" cy="411480"/>
          </a:xfrm>
          <a:prstGeom prst="roundRect">
            <a:avLst>
              <a:gd name="adj" fmla="val 88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7592" y="390906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Taqdimot tayyorlash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38770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3-talaba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8770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Aniq mas’uliyat → ishlar bir-birini to‘ldiradi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" y="4672584"/>
            <a:ext cx="10058400" cy="704088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16152" y="4818888"/>
            <a:ext cx="2148840" cy="411480"/>
          </a:xfrm>
          <a:prstGeom prst="roundRect">
            <a:avLst>
              <a:gd name="adj" fmla="val 8889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7592" y="493318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Yakuniy tekshiruv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Guruh rahbari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Natija bir butun loyiha sifatida tekshiriladi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557784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74243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Vazifalar aniqligi — samarali inson resurslari boshqaruvining eng oddiy va kuchli vositalaridan biri.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51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E1F4"/>
                </a:solidFill>
              </a:rPr>
              <a:t>8.2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INSON RESURSLARINI REJALASHTIRISH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1880" y="1828800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E568C"/>
                </a:solidFill>
              </a:rPr>
              <a:t>Kim kerak? Qachon kerak? Qancha muddatga? Qaysi vazifa uchun?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11880" y="3346704"/>
            <a:ext cx="6949440" cy="0"/>
          </a:xfrm>
          <a:prstGeom prst="line">
            <a:avLst/>
          </a:prstGeom>
          <a:noFill/>
          <a:ln w="19050">
            <a:solidFill>
              <a:srgbClr val="B9D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3611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Darslikning 8-bobi asosida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Inson resurslarini rejalashtirishning maqsadi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Loyiha ehtiyojlari bilan mavjud inson salohiyati o‘rtasida muvozanat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338328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54864" cy="30632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Xodim yetishmasligi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2103120"/>
            <a:ext cx="2999232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Ishlar kechikadi, mavjud jamoa yuklamasi ortadi va sifat xavfi kuchayadi.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28032" y="2258568"/>
            <a:ext cx="2331720" cy="1325880"/>
          </a:xfrm>
          <a:prstGeom prst="ellipse">
            <a:avLst/>
          </a:prstGeom>
          <a:solidFill>
            <a:srgbClr val="DCEFFC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7614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568C"/>
                </a:solidFill>
              </a:rPr>
              <a:t>MUVOZANAT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0" y="1572768"/>
            <a:ext cx="338328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0" y="1572768"/>
            <a:ext cx="54864" cy="3063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Ortiqcha resurs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6448" y="2103120"/>
            <a:ext cx="2999232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Keraksiz jalb etilgan xodimlar loyiha xarajatlarini asossiz oshiradi.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138928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303520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To‘g‘ri rejalashtirish: mutaxassis + malaka + jalb etish vaqti + muddat + mas’uliyat.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8.1-rasm. Inson resurslarini rejalashtirish jarayoni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Darslikdagi original chizma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8.2</a:t>
            </a:r>
            <a:endParaRPr lang="en-US" sz="900" dirty="0"/>
          </a:p>
        </p:txBody>
      </p:sp>
      <p:pic>
        <p:nvPicPr>
          <p:cNvPr id="6" name="Image 0" descr="/mnt/data/ch8_media/image28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25880"/>
            <a:ext cx="9372600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Inson resurslarini rejalashtirish jarayoni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Loyiha hajmidan aniq rol va mas’uliyatgacha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84248"/>
            <a:ext cx="384048" cy="38404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5282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45059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Ishlarni aniqlash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81021" y="2203704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4757" y="182880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C7A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4485" y="1984248"/>
            <a:ext cx="384048" cy="384048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4485" y="205282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64485" y="245059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Kompetensiyani aniqlash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5698" y="2203704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69434" y="182880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79162" y="1984248"/>
            <a:ext cx="384048" cy="38404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9162" y="205282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79162" y="245059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Rollarni shakllantirish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10374" y="2203704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84110" y="182880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93838" y="198424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93838" y="205282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93838" y="245059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Jadvalga kiritish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325051" y="2203704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98787" y="182880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6B46C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8515" y="1984248"/>
            <a:ext cx="384048" cy="38404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8515" y="205282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8515" y="245059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Mas’uliyatni belgilash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4400" y="3319272"/>
            <a:ext cx="480060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4400" y="3319272"/>
            <a:ext cx="54864" cy="157276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5568" y="34838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Bog‘liqlik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15568" y="3849624"/>
            <a:ext cx="441655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Rejalashtirish loyiha hajmi va ishlarni tuzilmalashgan reja bilan uzviy bog‘lanadi.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400800" y="3319272"/>
            <a:ext cx="480060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3319272"/>
            <a:ext cx="54864" cy="157276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1968" y="34838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Natija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601968" y="3849624"/>
            <a:ext cx="441655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Har bir rol uchun bilim, ko‘nikma, vakolat, jalb etish vaqti va javobgarlik aniqlanadi.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Inson resurslarining sifat jihatlari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Faqat sonni aniqlash yetarli emas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16636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08760"/>
            <a:ext cx="54864" cy="157276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733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Tajriba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039112"/>
            <a:ext cx="478231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Avvalgi amaliy ishlar va o‘xshash loyihalardagi ishtirok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516636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508760"/>
            <a:ext cx="54864" cy="157276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6733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Kasbiy tayyorgarlik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2039112"/>
            <a:ext cx="478231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Vazifani bajarish uchun zarur bilim va ko‘nikmalar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10712"/>
            <a:ext cx="516636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410712"/>
            <a:ext cx="54864" cy="1572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57530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Loyihaga moslik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" y="3941064"/>
            <a:ext cx="478231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Sohaviy xususiyatlar va loyiha turiga mos kompetensiya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3410712"/>
            <a:ext cx="516636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410712"/>
            <a:ext cx="54864" cy="157276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357530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Jamoada ishlash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56248" y="3941064"/>
            <a:ext cx="478231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Muloqot, hamkorlik va mas’uliyat madaniyati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5413248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77840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To‘g‘ri mutaxassis tanlovi — loyiha risklarini kamaytirish va sifatli natijaga erishish omili.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Loyiha jamoasi tarkibini tanlash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Jamoa doimiy, vaqtinchalik yoki tashqi ekspertlardan iborat bo‘lishi mumkin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342900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54480"/>
            <a:ext cx="54864" cy="32918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7190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Doimiy xodimlar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2084832"/>
            <a:ext cx="3044952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Tashkilot ichidagi xodimlar. Korporativ tajriba va jarayonlarni yaxshi biladi.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42900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554480"/>
            <a:ext cx="54864" cy="32918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7190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Vaqtincha jalb etilganlar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2084832"/>
            <a:ext cx="3044952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Loyiha bosqichi yoki muayyan vazifa uchun vaqtincha qo‘shiladi.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1554480"/>
            <a:ext cx="342900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1554480"/>
            <a:ext cx="54864" cy="3291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7190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Tashqi maslahatchilar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3608" y="2084832"/>
            <a:ext cx="3044952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Maxsus ekspertiza yoki noyob bilim zarur bo‘lgan holatlarda jalb qilinadi.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5230368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394960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Tanlov mezoni: loyiha murakkabligi + muddati + byudjeti + kerakli kompetensiya.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Rol, mas’uliyat va vakolat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Kim nima qiladi, nimaga javob beradi va qanday qaror qabul qila oladi?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8.2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00200"/>
          <a:ext cx="10332720" cy="278892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3749040"/>
              </a:tblGrid>
              <a:tr h="6972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Tushuncha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Mazmuni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Savol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Loyihadagi funksional o‘rin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Men qanday vazifani bajaraman?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Mas’uliyat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Natija va vazifa uchun javobgarlik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Qaysi natija uchun javobgarman?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Vakolat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Qaror qabul qilish va harakat qilish huquqi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Qaysi qarorni mustaqil qila olaman?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89204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05663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Noaniq rollar → takroriy ishlar, e’tibordan chetda qolgan vazifalar va mas’uliyatdan qochish.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Talabalar loyihasida inson resurslarini rejalashtirish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Oddiy vazifalar taqsimoti orqali boshqaruv mantig‘i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8.2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61320" cy="352044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5623560"/>
              </a:tblGrid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Vazifa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Mas’ul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Kutilayotgan natija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Ma’lumot yig‘ish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A’zо 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Ishonchli manbalar va ma’lumotlar bazasi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Tahlil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A’zо 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Xulosa va hisob-kitoblar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Taqdimot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A’zо 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Tizimli va tushunarli slaydlar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Nazorat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Guruh rahbari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Yagona standart va muddatga rioya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34924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51383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Rejalashtirilgan taqsimot — “hamma hamma ishni qiladi” holatining oldini oladi.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51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E1F4"/>
                </a:solidFill>
              </a:rPr>
              <a:t>8.3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LOYIHA JAMOASINI SHAKLLANTIRISH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1880" y="1828800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E568C"/>
                </a:solidFill>
              </a:rPr>
              <a:t>Rejalashtirilgan rollarni real insonlar bilan to‘ldirish va yagona jamoa yaratish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11880" y="3346704"/>
            <a:ext cx="6949440" cy="0"/>
          </a:xfrm>
          <a:prstGeom prst="line">
            <a:avLst/>
          </a:prstGeom>
          <a:noFill/>
          <a:ln w="19050">
            <a:solidFill>
              <a:srgbClr val="B9D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3611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Darslikning 8-bobi asosida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Jamoani shakllantirish — faqat xodim tanlash emas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Maqsadga yo‘naltirilgan yagona jamoani yaratish jarayoni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81328"/>
            <a:ext cx="51663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81328"/>
            <a:ext cx="54864" cy="16002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459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Kasbiy bilim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4782312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Vazifaga mos texnik kompetensiya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55080" y="1481328"/>
            <a:ext cx="51663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481328"/>
            <a:ext cx="54864" cy="16002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6459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Muloqot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2011680"/>
            <a:ext cx="4782312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Axborotni aniq yetkazish va tinglash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3401568"/>
            <a:ext cx="51663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401568"/>
            <a:ext cx="54864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5661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Mas’uliyat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" y="3931920"/>
            <a:ext cx="4782312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Vazifani o‘z vaqtida va sifatli bajarish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3401568"/>
            <a:ext cx="51663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401568"/>
            <a:ext cx="54864" cy="160020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35661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Jamoaviy madaniyat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56248" y="3931920"/>
            <a:ext cx="4782312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Hamkorlik, ishonch va o‘zaro yordam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31520" y="5413248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77840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Texnik va ijtimoiy omillar birgalikda baholansa, jamoa samaradorligi oshadi.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Loyiha jamoasi — dinamik tuzilma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Loyiha bosqichlariga qarab tarkib o‘zgarishi mumkin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11096"/>
            <a:ext cx="384048" cy="38404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7967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377440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Boshlash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81021" y="2130552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4757" y="1755648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C7A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4485" y="1911096"/>
            <a:ext cx="384048" cy="384048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4485" y="197967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64485" y="2377440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Rejalashtirish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5698" y="2130552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69434" y="1755648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79162" y="1911096"/>
            <a:ext cx="384048" cy="38404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9162" y="197967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79162" y="2377440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Ijro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10374" y="2130552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84110" y="1755648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93838" y="1911096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93838" y="197967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93838" y="2377440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Nazorat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325051" y="2130552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98787" y="1755648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6B46C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8515" y="1911096"/>
            <a:ext cx="384048" cy="38404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8515" y="197967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8515" y="2377440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Yakunlash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828800" y="3374136"/>
            <a:ext cx="7406640" cy="0"/>
          </a:xfrm>
          <a:prstGeom prst="line">
            <a:avLst/>
          </a:prstGeom>
          <a:noFill/>
          <a:ln w="12700">
            <a:solidFill>
              <a:srgbClr val="DBE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246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Loyiha rahbari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886200" y="32461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Barcha bosqichlar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828800" y="3831336"/>
            <a:ext cx="7406640" cy="0"/>
          </a:xfrm>
          <a:prstGeom prst="line">
            <a:avLst/>
          </a:prstGeom>
          <a:noFill/>
          <a:ln w="12700">
            <a:solidFill>
              <a:srgbClr val="DB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703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Tahlilchi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886200" y="37033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Boshlash / reja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828800" y="4288536"/>
            <a:ext cx="7406640" cy="0"/>
          </a:xfrm>
          <a:prstGeom prst="line">
            <a:avLst/>
          </a:prstGeom>
          <a:noFill/>
          <a:ln w="12700">
            <a:solidFill>
              <a:srgbClr val="DBE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160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Texnik mutaxassis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886200" y="41605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Ijro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828800" y="4745736"/>
            <a:ext cx="7406640" cy="0"/>
          </a:xfrm>
          <a:prstGeom prst="line">
            <a:avLst/>
          </a:prstGeom>
          <a:noFill/>
          <a:ln w="12700">
            <a:solidFill>
              <a:srgbClr val="DBE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4617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Nazorat mutaxassisi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886200" y="46177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Ijro / nazorat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828800" y="5202936"/>
            <a:ext cx="7406640" cy="0"/>
          </a:xfrm>
          <a:prstGeom prst="line">
            <a:avLst/>
          </a:prstGeom>
          <a:noFill/>
          <a:ln w="12700">
            <a:solidFill>
              <a:srgbClr val="DBE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507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Hisobotchi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886200" y="5074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Yakunlash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31520" y="56692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583387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Rahbar jamoa tarkibidagi o‘zgarishlarni oldindan rejalashtirib, barqarorlikni saqlashi kerak.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Rollarni to‘g‘ri taqsimlash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Aniq vazifa + aniq javobgarlik + aniq hisobot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920240" cy="2057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778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CB0"/>
                </a:solidFill>
              </a:rPr>
              <a:t>Vazifa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67085"/>
                </a:solidFill>
              </a:rPr>
              <a:t>Nima bajariladi?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2926080" y="1737360"/>
            <a:ext cx="1920240" cy="2057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7780">
            <a:solidFill>
              <a:srgbClr val="2F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55A"/>
                </a:solidFill>
              </a:rPr>
              <a:t>Mas’ul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26334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67085"/>
                </a:solidFill>
              </a:rPr>
              <a:t>Kim bajaradi?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5212080" y="1737360"/>
            <a:ext cx="1920240" cy="2057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Vakolat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94960" y="26334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67085"/>
                </a:solidFill>
              </a:rPr>
              <a:t>Qanday qaror qila oladi?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7498080" y="1737360"/>
            <a:ext cx="1920240" cy="2057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7780">
            <a:solidFill>
              <a:srgbClr val="6B4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46C1"/>
                </a:solidFill>
              </a:rPr>
              <a:t>Hisobot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80960" y="26334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67085"/>
                </a:solidFill>
              </a:rPr>
              <a:t>Kimga va qachon ma’lumot beradi?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9784080" y="1737360"/>
            <a:ext cx="1920240" cy="2057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7780">
            <a:solidFill>
              <a:srgbClr val="2C7A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7A7B"/>
                </a:solidFill>
              </a:rPr>
              <a:t>Natija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66960" y="26334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67085"/>
                </a:solidFill>
              </a:rPr>
              <a:t>Qanday mezon bilan qabul qilinadi?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731520" y="489204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05663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Noaniq rol — takrorlanadigan ishlar yoki umuman bajarilmay qolgan vazifalar manbai.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Shakllanish bosqichida yetakchilik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Dastlabki davrda rahbar yo‘naltiruvchi va muvofiqlashtiruvchi rolni bajaradi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342900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72768"/>
            <a:ext cx="54864" cy="31546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Maqsadni tushuntirish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2103120"/>
            <a:ext cx="304495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Jamoaga loyiha nima uchun amalga oshirilayotgani va qanday natija kutilayotgani aniq yetkaziladi.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1572768"/>
            <a:ext cx="342900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572768"/>
            <a:ext cx="54864" cy="31546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Ish tartibini yaratish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2103120"/>
            <a:ext cx="304495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Muloqot, yig‘ilishlar, hisobot va qaror qabul qilish qoidalari kelishib olinadi.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92440" y="1572768"/>
            <a:ext cx="342900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1572768"/>
            <a:ext cx="54864" cy="3154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Ishonch va hamkorlik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3608" y="2103120"/>
            <a:ext cx="304495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Jamoa a’zolari bir-biriga moslashadi; ochiq muloqot keyingi nizolarni kamaytiradi.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5230368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394960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Dastlabki uyg‘unlashuv — keyingi jamoa samaradorligining poydevori.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Jamoani shakllantirishda tashkiliy vositalar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Boshlang‘ich vaqt sarfi keyinchalik samaradorlikka aylanadi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81328"/>
            <a:ext cx="51663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81328"/>
            <a:ext cx="54864" cy="16002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459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Tanishtiruv uchrashuvi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4782312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A’zolar, rollar va loyiha konteksti bilan tanishtirish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481328"/>
            <a:ext cx="51663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481328"/>
            <a:ext cx="54864" cy="16002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6459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Loyiha yig‘ilishi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2011680"/>
            <a:ext cx="4782312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Maqsad, jadval va asosiy vazifalarni kelishish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19856"/>
            <a:ext cx="51663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419856"/>
            <a:ext cx="54864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5844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Vazifa sessiyasi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" y="3950208"/>
            <a:ext cx="4782312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Ishlar va mas’uliyatlarni muhokama qilish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3419856"/>
            <a:ext cx="51663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419856"/>
            <a:ext cx="54864" cy="160020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35844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Kelishuv qoidalari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56248" y="3950208"/>
            <a:ext cx="4782312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Muloqot, hisobot va qaror qabul qilish tartibini belgilash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Loyiha jamoasini shakllantirish bosqichlari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Ketma-ket va mantiqiy yondashuv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01368"/>
            <a:ext cx="384048" cy="38404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6994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26771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Ishlarni aniqlash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81021" y="2020824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4757" y="164592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C7A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4485" y="1801368"/>
            <a:ext cx="384048" cy="384048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4485" y="186994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64485" y="226771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Nomzodlarni tanlash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5698" y="2020824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69434" y="164592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79162" y="1801368"/>
            <a:ext cx="384048" cy="38404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9162" y="186994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79162" y="226771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Vazifalarni taqsimlash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10374" y="2020824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84110" y="164592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93838" y="180136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93838" y="186994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93838" y="226771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Jamoani ishga tushirish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325051" y="2020824"/>
            <a:ext cx="228600" cy="256032"/>
          </a:xfrm>
          <a:prstGeom prst="chevron">
            <a:avLst/>
          </a:prstGeom>
          <a:solidFill>
            <a:srgbClr val="B8C6D4"/>
          </a:solidFill>
          <a:ln w="12700">
            <a:solidFill>
              <a:srgbClr val="B8C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98787" y="1645920"/>
            <a:ext cx="2068373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6B46C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8515" y="1801368"/>
            <a:ext cx="384048" cy="38404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8515" y="186994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8515" y="2267712"/>
            <a:ext cx="18489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Muammo va nizolarni boshqarish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4400" y="3035808"/>
            <a:ext cx="1028700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1F2937"/>
                </a:solidFill>
              </a:rPr>
              <a:t>1-bosqich: vazifa uchun zarur mutaxassislik va kompetensiyalar belgilanadi.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1F2937"/>
                </a:solidFill>
              </a:rPr>
              <a:t>2-bosqich: bilim, mas’uliyat, muloqot va jamoaviy ishlash qobiliyati asosida nomzodlar tanlanadi.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1F2937"/>
                </a:solidFill>
              </a:rPr>
              <a:t>3-bosqich: kim nima uchun javobgar, kimga hisobot beradi — aniq belgilanadi.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1F2937"/>
                </a:solidFill>
              </a:rPr>
              <a:t>4-bosqich: loyiha maqsadi, ish tartibi va muloqot qoidalari tushuntiriladi.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1F2937"/>
                </a:solidFill>
              </a:rPr>
              <a:t>5-bosqich: yuzaga kelgan kelishmovchiliklar ochiq muloqot orqali boshqariladi.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Mas’uliyatlarni taqsimlash matritsasi — 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Vazifalar va jamoa a’zolari o‘rtasidagi mas’uliyatni ko‘rsatuvchi jadval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8.3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10561320" cy="3474720"/>
        </p:xfrm>
        <a:graphic>
          <a:graphicData uri="http://schemas.openxmlformats.org/drawingml/2006/table">
            <a:tbl>
              <a:tblPr/>
              <a:tblGrid>
                <a:gridCol w="3749040"/>
                <a:gridCol w="1691640"/>
                <a:gridCol w="1691640"/>
                <a:gridCol w="1691640"/>
                <a:gridCol w="173736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Vazifa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Rahbar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Tahlilchi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Ijrochi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Nazorat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Talablarni aniqlash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Ish rejasini tuzish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A/R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Asosiy ishlarni bajarish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Sifatni tekshirish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Yakuniy topshirish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A/R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60120" y="5230368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R — bajaruvchi (Responsible)   A — yakuniy javobgar (Accountable)   C — maslahat beruvchi   I — xabardor qilinuvchi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51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E1F4"/>
                </a:solidFill>
              </a:rPr>
              <a:t>8.4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JAMOANI RIVOJLANTIRISH VA BOSHQARISH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11880" y="1828800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E568C"/>
                </a:solidFill>
              </a:rPr>
              <a:t>Bilim, ko‘nikma, motivatsiya va hamkorlikni uzluksiz kuchaytirish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11880" y="3346704"/>
            <a:ext cx="6949440" cy="0"/>
          </a:xfrm>
          <a:prstGeom prst="line">
            <a:avLst/>
          </a:prstGeom>
          <a:noFill/>
          <a:ln w="19050">
            <a:solidFill>
              <a:srgbClr val="B9D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3611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Darslikning 8-bobi asosida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Loyiha jamoasini rivojlantirish nimani anglatadi?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Yaxshi shakllantirilgan jamoa ham rivojlantirilmasa, samaradorligini yo‘qotadi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329184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600200"/>
            <a:ext cx="54864" cy="31546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Kasbiy salohiyat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130552"/>
            <a:ext cx="290779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Bilim va ko‘nikmalarni oshirish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329184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00200"/>
            <a:ext cx="54864" cy="31546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Hamkorlik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10328" y="2130552"/>
            <a:ext cx="290779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O‘zaro ishlash va tajriba almashish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1600200"/>
            <a:ext cx="329184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600200"/>
            <a:ext cx="54864" cy="3154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05088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Sodiqlik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05088" y="2130552"/>
            <a:ext cx="2907792" cy="2478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Loyiha maqsadlariga bog‘lanish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5230368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174A73"/>
          </a:solidFill>
          <a:ln w="12700">
            <a:solidFill>
              <a:srgbClr val="174A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394960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Jamoani rivojlantirish — loyiha davomida uzluksiz amalga oshiriladigan jarayon.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Jamoani rivojlantirishning asosiy yo‘nalishlari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Darslikdagi jadval mazmuni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52760" cy="4206240"/>
        </p:xfrm>
        <a:graphic>
          <a:graphicData uri="http://schemas.openxmlformats.org/drawingml/2006/table">
            <a:tbl>
              <a:tblPr/>
              <a:tblGrid>
                <a:gridCol w="2468880"/>
                <a:gridCol w="4937760"/>
                <a:gridCol w="324612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Yo‘nalish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Mazmuni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Amaliy natija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Bilim va ko‘nikmalar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Trening, o‘rganish, tajriba almashish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Ish sifati oshadi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Muloqot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Ochiq va muntazam aloqa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Xatolar kamayadi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Motivatsiya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Rag‘bat, tan olish, ishonch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Mas’uliyat kuchayadi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Hamkorlik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Jamoaviy ishlash muhitini yaratish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Konfliktlar kamayadi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Yetakchilik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Rahbarlik uslubini moslashtirish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Jamoa barqarorlashadi</a:t>
                      </a:r>
                      <a:endParaRPr lang="en-US" sz="12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Bilim va tajribani oshirish usullari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Jamoani rivojlantirishning amaliy instrumentlari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25880" y="1600200"/>
          <a:ext cx="9509760" cy="3520440"/>
        </p:xfrm>
        <a:graphic>
          <a:graphicData uri="http://schemas.openxmlformats.org/drawingml/2006/table">
            <a:tbl>
              <a:tblPr/>
              <a:tblGrid>
                <a:gridCol w="2971800"/>
                <a:gridCol w="6537960"/>
              </a:tblGrid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Usul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Qanday amalga oshiriladi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Treninglar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Qisqa o‘quv mashg‘ulotlari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Mentorlik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Tajribali a’zo yangi a’zoga yordam beradi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Tajriba almashish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Jamoa ichida muhokama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Amaliy topshiriqlar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“O‘rganib bajarish” yondashuvi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413248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577840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Maqsad: jamoa bilimini individual tajribadan umumiy loyiha salohiyatiga aylantirish.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Muloqotni rivojlantirish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Samarali jamoa = samarali muloqot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508760"/>
          <a:ext cx="9601200" cy="3337560"/>
        </p:xfrm>
        <a:graphic>
          <a:graphicData uri="http://schemas.openxmlformats.org/drawingml/2006/table">
            <a:tbl>
              <a:tblPr/>
              <a:tblGrid>
                <a:gridCol w="3291840"/>
                <a:gridCol w="6309360"/>
              </a:tblGrid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Muloqot shakli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Maqsadi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Yig‘ilish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Muammolarni muhokama qilish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Qisqa hisobot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Ish holatini bilish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Onlayn aloqa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Tezkor muvofiqlashtirish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Fikr almashish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Yangi g‘oyalar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16636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33095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Ochiq va muntazam aloqa — xatolarni erta aniqlash va nizolarni kamaytirish vositasi.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Muloqot sust bo‘lsa...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Jamoa samaradorligiga bevosita salbiy ta’sir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324612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572768"/>
            <a:ext cx="54864" cy="3063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737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Ishlar takrorlanadi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2103120"/>
            <a:ext cx="2862072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67085"/>
                </a:solidFill>
              </a:rPr>
              <a:t>Kim nima qilayotgani aniq bo‘lmasa, bir xil vazifa bir nechta a’zo tomonidan bajarilishi mumkin.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480560" y="1572768"/>
            <a:ext cx="324612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572768"/>
            <a:ext cx="54864" cy="30632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737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Xatolar kech aniqlanadi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1728" y="2103120"/>
            <a:ext cx="2862072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67085"/>
                </a:solidFill>
              </a:rPr>
              <a:t>Muammo haqida axborot o‘z vaqtida tarqalmaydi va tuzatish qimmatlashadi.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8183880" y="1572768"/>
            <a:ext cx="324612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572768"/>
            <a:ext cx="54864" cy="306324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737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Nizolar kuchayadi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85048" y="2103120"/>
            <a:ext cx="2862072" cy="2386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667085"/>
                </a:solidFill>
              </a:rPr>
              <a:t>Noto‘g‘ri tushunish, ishonchsizlik va mas’uliyat bo‘yicha tortishuvlar ortadi.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731520" y="52120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37667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Muloqot — jamoani bir tizimga bog‘lab turuvchi boshqaruv mexanizmi.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Loyiha jamoasini boshqarish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Muvofiqlashtirish • nazorat • muammoni hal qilish • motivatsiya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18304" y="2103120"/>
            <a:ext cx="2743200" cy="1965960"/>
          </a:xfrm>
          <a:prstGeom prst="ellipse">
            <a:avLst/>
          </a:prstGeom>
          <a:solidFill>
            <a:srgbClr val="DCEFFC"/>
          </a:solidFill>
          <a:ln w="2032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568C"/>
                </a:solidFill>
              </a:rPr>
              <a:t>JAMOANI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E568C"/>
                </a:solidFill>
              </a:rPr>
              <a:t>BOSHQARISH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5506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6CB0"/>
                </a:solidFill>
              </a:rPr>
              <a:t>Vazifalarni muvofiqlashtirish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03320" y="1856232"/>
            <a:ext cx="1097280" cy="1097280"/>
          </a:xfrm>
          <a:prstGeom prst="line">
            <a:avLst/>
          </a:prstGeom>
          <a:noFill/>
          <a:ln w="19050">
            <a:solidFill>
              <a:srgbClr val="9CB5C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75320" y="141732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165506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855A"/>
                </a:solidFill>
              </a:rPr>
              <a:t>Ish jarayonini nazorat qilish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75320" y="1856232"/>
            <a:ext cx="-914400" cy="1097280"/>
          </a:xfrm>
          <a:prstGeom prst="line">
            <a:avLst/>
          </a:prstGeom>
          <a:noFill/>
          <a:ln w="19050">
            <a:solidFill>
              <a:srgbClr val="9CB5C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75320" y="416052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439826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</a:rPr>
              <a:t>Muammolarni vaqtida hal qilish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155680" y="4599432"/>
            <a:ext cx="1097280" cy="-1005840"/>
          </a:xfrm>
          <a:prstGeom prst="line">
            <a:avLst/>
          </a:prstGeom>
          <a:noFill/>
          <a:ln w="19050">
            <a:solidFill>
              <a:srgbClr val="9CB5C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" y="416052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6B4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39826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46C1"/>
                </a:solidFill>
              </a:rPr>
              <a:t>Jamoani motivatsiyalash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599432"/>
            <a:ext cx="-914400" cy="-1005840"/>
          </a:xfrm>
          <a:prstGeom prst="line">
            <a:avLst/>
          </a:prstGeom>
          <a:noFill/>
          <a:ln w="19050">
            <a:solidFill>
              <a:srgbClr val="9CB5C8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8.2-rasm. Jamoani boshqarish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Darslikdagi original chizma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pic>
        <p:nvPicPr>
          <p:cNvPr id="6" name="Image 0" descr="/mnt/data/ch8_media/image2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325880"/>
            <a:ext cx="982980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Rahbarning jamoani boshqarishdagi asosiy rollari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Besh rol bir-birini to‘ldiradi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417320"/>
          <a:ext cx="9966960" cy="4251960"/>
        </p:xfrm>
        <a:graphic>
          <a:graphicData uri="http://schemas.openxmlformats.org/drawingml/2006/table">
            <a:tbl>
              <a:tblPr/>
              <a:tblGrid>
                <a:gridCol w="3657600"/>
                <a:gridCol w="6309360"/>
              </a:tblGrid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Rahbar roli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Tavsifi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Muvofiqlashtiruvchi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Ishlarni uyg‘unlashtiradi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Yo‘naltiruvchi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Maqsadni eslatib turadi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Qo‘llab-quvvatlovchi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Jamoaga ishonch beradi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Nazorat qiluvchi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Ish sifatini tekshiradi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Nizolarni hal qiluvchi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Kelishmovchiliklarni boshqaradi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Muvofiqlashtiruvchi rahbar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Alohida ishlarni yagona loyiha natijasiga bog‘laydi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56692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Vazifalar ketma-ketligini — “kimdan keyin kim” — aniqlaydi.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Ishlar o‘rtasidagi bog‘liqlikni kuzatadi.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Vaqt, odam va jihozlarning bir joyda tiqilib qolishini oldini oladi.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Jamoaga nima va qachon kerakligini oldindan aytadi.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Turli bo‘limlar o‘rtasida axborot almashinuvini yo‘lga qo‘yadi.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03720" y="1572768"/>
            <a:ext cx="43434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03720" y="1572768"/>
            <a:ext cx="54864" cy="18288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04888" y="1737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Amaliy misol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4888" y="2103120"/>
            <a:ext cx="3959352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Ma’lumot yig‘uvchi → tahlilchi → taqdimotchi ketma-ketligida topshirish sanalarini belgilaydi.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03720" y="3657600"/>
            <a:ext cx="43434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03720" y="3657600"/>
            <a:ext cx="54864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4888" y="3822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Ko‘p uchraydigan xato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04888" y="4187952"/>
            <a:ext cx="39593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“Hamma o‘zini biladi” deb muvofiqlashtirishni sust qilish.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Yo‘naltiruvchi rahbar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Jamoaning e’tiborini asosiy loyiha natijasida ushlab turadi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536192"/>
            <a:ext cx="56692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Loyiha maqsadi va kutilayotgan natijani eslatib turadi.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Ustuvor vazifalarni ajratadi: qaysi ish birinchi, qaysi ish keyin.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Loyiha doirasidan tashqari keraksiz ishlarni to‘xtatadi.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Qaror uchun mezon beradi: “Bu ish maqsadga xizmat qiladimi?”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03720" y="1572768"/>
            <a:ext cx="43434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03720" y="1572768"/>
            <a:ext cx="54864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04888" y="1737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Amaliy misol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4888" y="2103120"/>
            <a:ext cx="3959352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Jamoa bezakka ortiqcha vaqt sarflasa: “Avval mazmun, bezak keyin” deb ustuvorlikni tuzatadi.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903720" y="3657600"/>
            <a:ext cx="43434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03720" y="3657600"/>
            <a:ext cx="54864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4888" y="3822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Ko‘p uchraydigan xato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04888" y="4187952"/>
            <a:ext cx="39593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Maqsadni faqat boshida aytib, keyin jamoa yo‘nalishini tekshirmaslik.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Qo‘llab-quvvatlovchi rahbar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Motivatsiya va jamoa ichki barqarorligini saqlaydi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536192"/>
            <a:ext cx="56692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Jamoaning muammosini tinglaydi va yechim topishga yordam beradi.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Yaxshi natijalarni e’tirof etadi va tan oladi.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Qiyinchiliklarni resurs bilan yengillashtiradi: vaqt, yordamchi, maslahat.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Adolatni saqlaydi: ko‘p ishlagan a’zoning hissasi qadrlanadi.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03720" y="1572768"/>
            <a:ext cx="43434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03720" y="1572768"/>
            <a:ext cx="54864" cy="18288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04888" y="1737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Amaliy misol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4888" y="2103120"/>
            <a:ext cx="3959352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Kechikkan a’zoga darhol tanbeh bermay, avval sababini aniqlab, yordam yoki yo‘l-yo‘riq beradi.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903720" y="3657600"/>
            <a:ext cx="43434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03720" y="3657600"/>
            <a:ext cx="54864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4888" y="3822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Ko‘p uchraydigan xato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04888" y="4187952"/>
            <a:ext cx="39593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Faqat tanqid qilish va ijobiy natijani e’tirof etmaslik.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Nazorat qiluvchi rahbar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Nazorat — ishonmaslik emas, erta ogohlantirish mexanizmi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536192"/>
            <a:ext cx="56692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Muddatlar bo‘yicha oraliq tekshiruv nuqtalarini belgilaydi.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Ish natijasini aniq mezon asosida baholaydi.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Kechikish sabablarini erta aniqlaydi.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Sifat tekshiruvini jarayonning o‘ziga joylashtiradi — faqat yakunda emas.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03720" y="1572768"/>
            <a:ext cx="43434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03720" y="1572768"/>
            <a:ext cx="54864" cy="18288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04888" y="1737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Amaliy misol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4888" y="2103120"/>
            <a:ext cx="3959352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Haftalik holat yig‘ilishi kechikishni bir hafta ichida ko‘rsatadi — bir oy o‘tgach emas.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903720" y="3657600"/>
            <a:ext cx="43434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03720" y="3657600"/>
            <a:ext cx="54864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4888" y="3822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Ko‘p uchraydigan xato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04888" y="4187952"/>
            <a:ext cx="39593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Nazoratni faqat yakunda qilish; tuzatish uchun vaqt qolmaydi.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Nizolarni hal qiluvchi rahbar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“Kim aybdor?”dan “Nima ishlamayapti?” savoliga o‘tish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536192"/>
            <a:ext cx="56692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Nizo belgilarini erta sezadi: sukut, norozilik, passiv qarshilik.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Muammoni shaxsga emas, vazifaga bog‘laydi.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Taraflarni tinglaydi va kelishuv variantlarini taklif qiladi.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Qaror mezonini aniqlaydi: qoidalar, maqsad va adolat.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03720" y="1572768"/>
            <a:ext cx="43434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03720" y="1572768"/>
            <a:ext cx="54864" cy="182880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04888" y="1737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Amaliy misol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04888" y="2103120"/>
            <a:ext cx="3959352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Ikki a’zo vazifa ustida tortishsa, mas’uliyat qayta taqsimlanadi va yozma ravishda aniqlashtiriladi.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903720" y="3657600"/>
            <a:ext cx="43434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5240" dist="50800" dir="2700000">
              <a:srgbClr val="DCE3EA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03720" y="3657600"/>
            <a:ext cx="54864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4888" y="3822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Ko‘p uchraydigan xato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04888" y="4187952"/>
            <a:ext cx="39593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“O‘zi o‘tib ketadi” deb nizoni e’tiborsiz qoldirish.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Motivatsiya — jamoani harakatga keltiruvchi kuch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Loyiha jamoasining ichki harakatlantiruvchi omili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1572768"/>
          <a:ext cx="9692640" cy="3520440"/>
        </p:xfrm>
        <a:graphic>
          <a:graphicData uri="http://schemas.openxmlformats.org/drawingml/2006/table">
            <a:tbl>
              <a:tblPr/>
              <a:tblGrid>
                <a:gridCol w="3063240"/>
                <a:gridCol w="6629400"/>
              </a:tblGrid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Tur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Misol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Moddiy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Mukofot, bonus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Nomoddiy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Maqtov, tan olish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Ijtimoiy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Jamoada hurmat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Rivojlanish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Tajriba va o‘sish imkoniyati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39496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55955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Motivatsiya faqat mukofot emas — tan olish, hurmat va rivojlanish imkoniyati ham kuchli omillardir.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Jamoada nizolar: sabab va oqibat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Nizo tabiiy; muhim jihat — uni qanday boshqarish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8.4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417320"/>
          <a:ext cx="9601200" cy="3291840"/>
        </p:xfrm>
        <a:graphic>
          <a:graphicData uri="http://schemas.openxmlformats.org/drawingml/2006/table">
            <a:tbl>
              <a:tblPr/>
              <a:tblGrid>
                <a:gridCol w="4800600"/>
                <a:gridCol w="48006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Nizo sababi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Oqibat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68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Vazifalar noaniqligi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Bahs-munozara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Resurs yetishmasligi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Raqobat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Muloqot yetishmasligi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Tushunmovchilik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Fikrlar farqi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Qarama-qarshilik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07492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23951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To‘g‘ri boshqarilgan nizo → rivojlanish. E’tiborsiz qoldirilgan nizo → ishonchsizlik, kechikish va sifat pasayishi.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Nazorat savollari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8-bob bo‘yicha o‘zlashtirishni tekshirish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SAVOLLAR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44752"/>
            <a:ext cx="52578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627632"/>
            <a:ext cx="347472" cy="34747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282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25880" y="159105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Loyiha resurslarini boshqarish tushunchasi nimani anglatadi va u loyiha muvaffaqiyatiga qanday ta’sir ko‘rsatadi?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63640" y="1444752"/>
            <a:ext cx="52578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627632"/>
            <a:ext cx="347472" cy="34747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7282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03720" y="159105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Inson resurslarini rejalashtirishning asosiy maqsadi nimadan iborat?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2587752"/>
            <a:ext cx="52578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2770632"/>
            <a:ext cx="347472" cy="347472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8712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25880" y="273405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Loyiha jamoasini shakllantirish jarayonida qaysi omillar eng muhim?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2587752"/>
            <a:ext cx="52578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2770632"/>
            <a:ext cx="347472" cy="347472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8712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03720" y="273405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Jamoani rivojlantirish va boshqarish o‘rtasidagi farq nimada?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85800" y="3730752"/>
            <a:ext cx="52578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3913632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0142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25880" y="387705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Rahbarning jamoani boshqarishdagi asosiy rollari nimalardan iborat?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263640" y="3730752"/>
            <a:ext cx="52578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3913632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40142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03720" y="387705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Motivatsiya jamoa samaradorligiga qanday ta’sir ko‘rsatadi?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85800" y="4873752"/>
            <a:ext cx="52578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" y="5056632"/>
            <a:ext cx="347472" cy="347472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51572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325880" y="502005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Nizolar nima sababdan yuzaga keladi va ularni boshqarish nega muhim?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263640" y="4873752"/>
            <a:ext cx="52578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9088" y="5056632"/>
            <a:ext cx="347472" cy="347472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51572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8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03720" y="502005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RAM nima va loyiha boshqaruvida qanday ahamiyatga ega?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6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Glossariy va yakuniy xulosa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8-bobning asosiy tushunchalari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12064" y="1078992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GLOSSARIY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353312"/>
            <a:ext cx="521208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4721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2B6CB0"/>
                </a:solidFill>
              </a:rPr>
              <a:t>Loyiha resurslari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2615184" y="1453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Inson, moddiy, moliyaviy, axborot va vaqt imkoniyatlari.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13232" y="2103120"/>
            <a:ext cx="521208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22199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2B6CB0"/>
                </a:solidFill>
              </a:rPr>
              <a:t>Inson resurslari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2615184" y="2203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Loyiha rahbari, jamoa a’zolari, mutaxassislar va maslahatchilar.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13232" y="2852928"/>
            <a:ext cx="521208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971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2B6CB0"/>
                </a:solidFill>
              </a:rPr>
              <a:t>Loyiha jamoasi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2615184" y="2953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Loyiha maqsadiga erishish uchun birgalikda ishlovchi insonlar guruhi.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13232" y="3602736"/>
            <a:ext cx="521208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7216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2B6CB0"/>
                </a:solidFill>
              </a:rPr>
              <a:t>RAM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2615184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Vazifalar va jamoa a’zolari o‘rtasida mas’uliyatni ko‘rsatuvchi matritsa.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13232" y="4352544"/>
            <a:ext cx="521208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44714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2B6CB0"/>
                </a:solidFill>
              </a:rPr>
              <a:t>Motivatsiya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2615184" y="4453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Faol va samarali ishlashga undovchi ichki va tashqi omillar.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336792" y="1353312"/>
            <a:ext cx="521208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14721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6B46C1"/>
                </a:solidFill>
              </a:rPr>
              <a:t>Rahbarlik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8238744" y="1453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Jamoani maqsadga yo‘naltirish va rag‘batlantirish qobiliyati.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336792" y="2103120"/>
            <a:ext cx="521208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3096" y="222199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6B46C1"/>
                </a:solidFill>
              </a:rPr>
              <a:t>Muvofiqlashtirish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8238744" y="2203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A’zolar ishini uyg‘unlashtirish va bog‘liqliklarni boshqarish.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336792" y="2852928"/>
            <a:ext cx="521208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3096" y="29718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6B46C1"/>
                </a:solidFill>
              </a:rPr>
              <a:t>Nizo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8238744" y="2953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Manfaat, fikr yoki resurslar to‘qnashuvi natijasidagi kelishmovchilik.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336792" y="3602736"/>
            <a:ext cx="521208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83096" y="37216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6B46C1"/>
                </a:solidFill>
              </a:rPr>
              <a:t>Jamoa barqarorligi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8238744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Bosim va muammolarga qaramay samarali ishlash qobiliyati.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336792" y="4352544"/>
            <a:ext cx="521208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83096" y="44714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6B46C1"/>
                </a:solidFill>
              </a:rPr>
              <a:t>Loyiha rahbari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8238744" y="4453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Rejalashtirish, bajarilish va natijalar uchun mas’ul shaxs.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731520" y="5440680"/>
            <a:ext cx="10744200" cy="658368"/>
          </a:xfrm>
          <a:prstGeom prst="roundRect">
            <a:avLst>
              <a:gd name="adj" fmla="val 6944"/>
            </a:avLst>
          </a:prstGeom>
          <a:solidFill>
            <a:srgbClr val="0E568C"/>
          </a:solidFill>
          <a:ln w="12700">
            <a:solidFill>
              <a:srgbClr val="0E56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560527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Xulosa: loyiha resurslarini boshqarishning markazida “to‘g‘ri inson — to‘g‘ri vazifa — to‘g‘ri vaqt — aniq mas’uliyat” tamoyili turadi.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O‘zMU Jizzax filiali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Loyiha resurslarini boshqarish</dc:title>
  <dc:subject>Loyihalarni boshqarish — 8-bob</dc:subject>
  <dc:creator>OpenAI</dc:creator>
  <cp:lastModifiedBy>OpenAI</cp:lastModifiedBy>
  <cp:revision>1</cp:revision>
  <dcterms:created xsi:type="dcterms:W3CDTF">2026-09-16T06:29:26Z</dcterms:created>
  <dcterms:modified xsi:type="dcterms:W3CDTF">2026-09-16T06:29:26Z</dcterms:modified>
</cp:coreProperties>
</file>