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836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Loyihalarni boshqarish • 7-bob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509760" y="65836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D.R. Najmiddinov,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731520"/>
            <a:ext cx="7315200" cy="5486400"/>
          </a:xfrm>
          <a:prstGeom prst="arc">
            <a:avLst/>
          </a:prstGeom>
          <a:solidFill>
            <a:srgbClr val="EAF1F7">
              <a:alpha val="0"/>
            </a:srgbClr>
          </a:solidFill>
          <a:ln w="50800">
            <a:solidFill>
              <a:srgbClr val="BFD4E6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5E5"/>
                </a:solidFill>
              </a:rPr>
              <a:t>7-BOB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LOYIHA SIFATINI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BOSHQARISH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7F3"/>
                </a:solidFill>
              </a:rPr>
              <a:t>Rejalashtirish • ta’minlash • nazorat • uzluksiz takomillashtirish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234440"/>
            <a:ext cx="3657600" cy="3657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22592" y="1389888"/>
            <a:ext cx="1316736" cy="512064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7456" y="153619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Reja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39912" y="2807208"/>
            <a:ext cx="1316736" cy="512064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4776" y="295351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Jarayon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22592" y="4224528"/>
            <a:ext cx="1316736" cy="512064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77456" y="43708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Nazorat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05272" y="2807208"/>
            <a:ext cx="1316736" cy="512064"/>
          </a:xfrm>
          <a:prstGeom prst="roundRect">
            <a:avLst>
              <a:gd name="adj" fmla="val 14286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0136" y="295351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Yaxshilash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5715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D.R. Najmiddinov • “Loyihalarni boshqarish” darsligi asosida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60720" y="6144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Jizzax —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tuzilishi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7-bob mazmuni 5 mantiqiy yo‘nalishda yoritiladi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BOB REJASI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10058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41935000" dist="80645000" dir="162000000000">
              <a:srgbClr val="000000">
                <a:alpha val="14000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74520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659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7.1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57400" y="19385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Loyiha sifatini boshqarish tushunchasi va ahamiyati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2642616"/>
            <a:ext cx="10058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072574500000" dist="1024191500000" dir="9720000000000000">
              <a:srgbClr val="000000">
                <a:alpha val="1400000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2734056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254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7.2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57400" y="27980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Sifatni rejalashtirish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14400" y="3502152"/>
            <a:ext cx="10058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9021696150000000" dist="13007232050000000" dir="583200000000000000000">
              <a:srgbClr val="000000">
                <a:alpha val="1400000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593592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850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7.3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57400" y="3657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Sifatni ta’minlash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4361688"/>
            <a:ext cx="10058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495575541105000000000" dist="165191847035000000000" dir="3.4992e+25">
              <a:srgbClr val="000000">
                <a:alpha val="1.4e+2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453128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54456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7.4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057400" y="45171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Sifatni nazorat qilish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14400" y="5221224"/>
            <a:ext cx="10058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.2938093720335e+24" dist="2.0979364573445e+24" dir="2.09952e+30">
              <a:srgbClr val="000000">
                <a:alpha val="1.4000000000000002e+2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51560" y="5312664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404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7.5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057400" y="5376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Uzluksiz takomillashtirish: PDCA va Six Sigma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Tayanch iboralar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Bob davomida ishlatiladigan asosiy tushunchalar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TAYANCH IBORALAR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AF1F7"/>
          </a:solidFill>
          <a:ln w="12700">
            <a:solidFill>
              <a:srgbClr val="2E75B6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0195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Loyiha sifati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8F6F5"/>
          </a:solidFill>
          <a:ln w="12700">
            <a:solidFill>
              <a:srgbClr val="46A3A3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90195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Sifat talablari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21040" y="173736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0EDFF"/>
          </a:solidFill>
          <a:ln w="12700">
            <a:solidFill>
              <a:srgbClr val="6D5BD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90195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Sifat mezonlari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542032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AF1F7"/>
          </a:solidFill>
          <a:ln w="12700">
            <a:solidFill>
              <a:srgbClr val="2E75B6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70662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Sifat rejasi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0" y="2542032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8F6F5"/>
          </a:solidFill>
          <a:ln w="12700">
            <a:solidFill>
              <a:srgbClr val="46A3A3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70662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Profilaktik yondashuv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21040" y="2542032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0EDFF"/>
          </a:solidFill>
          <a:ln w="12700">
            <a:solidFill>
              <a:srgbClr val="6D5BD0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70662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Standartlashtirish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3346704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AF1F7"/>
          </a:solidFill>
          <a:ln w="12700">
            <a:solidFill>
              <a:srgbClr val="2E75B6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511296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Sifat auditi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0" y="3346704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8F6F5"/>
          </a:solidFill>
          <a:ln w="12700">
            <a:solidFill>
              <a:srgbClr val="46A3A3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511296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Nazorat nuqtalari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21040" y="3346704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0EDFF"/>
          </a:solidFill>
          <a:ln w="12700">
            <a:solidFill>
              <a:srgbClr val="6D5BD0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3511296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Nuqson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4151376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AF1F7"/>
          </a:solidFill>
          <a:ln w="12700">
            <a:solidFill>
              <a:srgbClr val="2E75B6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315968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Ishikawa tahlili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0" y="4151376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8F6F5"/>
          </a:solidFill>
          <a:ln w="12700">
            <a:solidFill>
              <a:srgbClr val="46A3A3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4315968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PDCA sikli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321040" y="4151376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0EDFF"/>
          </a:solidFill>
          <a:ln w="12700">
            <a:solidFill>
              <a:srgbClr val="6D5BD0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0768" y="4315968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Six Sigma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2960" y="495604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AF1F7"/>
          </a:solidFill>
          <a:ln w="12700">
            <a:solidFill>
              <a:srgbClr val="2E75B6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512064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DMAIC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572000" y="495604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E8F6F5"/>
          </a:solidFill>
          <a:ln w="12700">
            <a:solidFill>
              <a:srgbClr val="46A3A3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512064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Jarayon variatsiyasi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321040" y="495604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0EDFF"/>
          </a:solidFill>
          <a:ln w="12700">
            <a:solidFill>
              <a:srgbClr val="6D5BD0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0768" y="512064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Sifat madaniyati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muvaffaqiyatida sifatning o‘rni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Muddat va byudjetga rioya qilishning o‘zi yetarli emas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.993137902482545e+28" dist="2.6643793008275148e+28" dir="1.259712e+35">
              <a:srgbClr val="000000">
                <a:alpha val="1.4000000000000003e+3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" cy="3200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99339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36192" y="19842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Muddat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78992" y="2441448"/>
            <a:ext cx="2734056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Loyiha belgilangan vaqtda yakunlanishi kerak. Kechikish manfaatdor tomonlar qoniqishiga va loyiha qiymatiga ta’sir qiladi.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0151285136152831e+33" dist="3.383761712050944e+32" dir="7.558272e+39">
              <a:srgbClr val="000000">
                <a:alpha val="1.4000000000000003e+3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783080"/>
            <a:ext cx="73152" cy="3200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199339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93792" y="19842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Byudjet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736592" y="2441448"/>
            <a:ext cx="2734056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Xarajatlar tasdiqlangan chegarada boshqariladi. Ammo moliyaviy intizom sifatsiz natijani oqlamaydi.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2892132122914095e+37" dist="4.2973773743046987e+36" dir="4.5349632000000006e+44">
              <a:srgbClr val="000000">
                <a:alpha val="1.4000000000000002e+4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783080"/>
            <a:ext cx="73152" cy="3200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9328" y="199339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51392" y="19842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94192" y="2441448"/>
            <a:ext cx="2734056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Yakuniy mahsulot yoki xizmat buyurtmachi, foydalanuvchi va belgilangan standartlar talablariga mos bo‘lishi shart.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920240" y="5394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81"/>
                </a:solidFill>
              </a:rPr>
              <a:t>Muvaffaqiyat = muddat + byudjet + kutilgan sifat darajasi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sifatini boshqarish — ta’rif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tasodifiy emas, boshqariladigan natija bo‘lishi kerak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737360"/>
            <a:ext cx="10149840" cy="1143000"/>
          </a:xfrm>
          <a:prstGeom prst="roundRect">
            <a:avLst>
              <a:gd name="adj" fmla="val 7200"/>
            </a:avLst>
          </a:prstGeom>
          <a:solidFill>
            <a:srgbClr val="EAF1F7"/>
          </a:solidFill>
          <a:ln w="15240">
            <a:solidFill>
              <a:srgbClr val="AFC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993392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Loyiha sifatini boshqarish — loyiha natijalari belgilangan talablar, standartlar va kutishlarga mos bo‘lishini ta’minlashga qaratilgan rejalashtirish, tashkil etish, monitoring va nazorat jarayonlari majmuasi.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51560" y="3429000"/>
            <a:ext cx="2363724" cy="914400"/>
          </a:xfrm>
          <a:prstGeom prst="roundRect">
            <a:avLst>
              <a:gd name="adj" fmla="val 7000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593592"/>
            <a:ext cx="22174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Rejalashtirish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42716" y="369417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6452" y="3429000"/>
            <a:ext cx="2363724" cy="914400"/>
          </a:xfrm>
          <a:prstGeom prst="roundRect">
            <a:avLst>
              <a:gd name="adj" fmla="val 7000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9604" y="3593592"/>
            <a:ext cx="22174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Tashkil etish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07608" y="369417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3429000"/>
            <a:ext cx="2363724" cy="914400"/>
          </a:xfrm>
          <a:prstGeom prst="roundRect">
            <a:avLst>
              <a:gd name="adj" fmla="val 7000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593592"/>
            <a:ext cx="22174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72500" y="369417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46236" y="3429000"/>
            <a:ext cx="2363724" cy="914400"/>
          </a:xfrm>
          <a:prstGeom prst="roundRect">
            <a:avLst>
              <a:gd name="adj" fmla="val 7000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9388" y="3593592"/>
            <a:ext cx="22174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Nazorat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Maqsad: sifat bilan bog‘liq qarorlarni tizimli qabul qilish va sifat masalasini loyiha oxiriga qoldirmaslik.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 boshqaruvining profilaktik mantiqi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Muammoni oxirida tuzatishdan ko‘ra, boshida oldini olish samaraliroq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49377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6373007796100902e+41" dist="5.457669265366968e+40" dir="2.72097792e+49">
              <a:srgbClr val="000000">
                <a:alpha val="1.4000000000000002e+4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" cy="347472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993392"/>
            <a:ext cx="384048" cy="384048"/>
          </a:xfrm>
          <a:prstGeom prst="ellipse">
            <a:avLst/>
          </a:prstGeom>
          <a:solidFill>
            <a:srgbClr val="C2413B">
              <a:alpha val="95000"/>
            </a:srgbClr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36192" y="19842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Kech aniqlangan nuqson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78992" y="2441448"/>
            <a:ext cx="4425696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Ko‘proq vaqt talab qiladi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Qo‘shimcha xarajatlar keltiradi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Qayta ishlashni ko‘paytiradi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Jamoa resursini band qiladi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Buyurtmachi ishonchini pasaytiradi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49377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0793719901048145e+45" dist="6.931239967016049e+44" dir="1.6325867520000003e+54">
              <a:srgbClr val="000000">
                <a:alpha val="1.4e+5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783080"/>
            <a:ext cx="73152" cy="34747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199339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14032" y="19842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Oldindan profilaktika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56832" y="2441448"/>
            <a:ext cx="4425696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Talablarni aniq belgilaydi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Jarayonlarni standartlashtiradi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Nazorat nuqtalarini oldindan qo‘yadi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Xatoni erta aniqlaydi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Umumiy loyiha xarajatini pasaytiradi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Sifatning boshqa boshqaruv yo‘nalishlari bilan bog‘liqligi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loyiha hajmi, jadvali va xarajatlaridan ajralgan holda boshqarilmaydi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00600" y="2057400"/>
            <a:ext cx="2560320" cy="256032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  <a:effectLst>
            <a:outerShdw sx="100000" sy="100000" kx="0" ky="0" algn="bl" rotWithShape="0" blurRad="2.640802427433114e+49" dist="8.802674758110382e+48" dir="9.795520512000002e+58">
              <a:srgbClr val="000000">
                <a:alpha val="1.4000000000000001e+5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4924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SIFAT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.353819082840055e+53" dist="1.1179396942800186e+53" dir="5.877312307200001e+63">
              <a:srgbClr val="000000">
                <a:alpha val="1.4e+6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828800"/>
            <a:ext cx="73152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0299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Hajm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70432" y="2487168"/>
            <a:ext cx="22311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talablari loyiha hajmiga kiritiladi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0" y="18288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4.2593502352068695e+57" dist="1.4197834117356236e+57" dir="3.526387384320001e+68">
              <a:srgbClr val="000000">
                <a:alpha val="1.4000000000000001e+6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1828800"/>
            <a:ext cx="73152" cy="13258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20299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Jadval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759952" y="2487168"/>
            <a:ext cx="22311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ishlari loyiha jadvalida aks etadi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2976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5.409374798712724e+61" dist="1.803124932904242e+61" dir="2.1158324305920003e+73">
              <a:srgbClr val="000000">
                <a:alpha val="1.4e+7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29768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4988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Xarajat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70432" y="4956048"/>
            <a:ext cx="22311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Sifatni oshirish resurs va mablag‘ talab qiladi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03920" y="42976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.86990599436516e+65" dist="2.2899686647883873e+65" dir="1.2694994583552002e+78">
              <a:srgbClr val="000000">
                <a:alpha val="1.4e+7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0" y="4297680"/>
            <a:ext cx="73152" cy="13258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9952" y="44988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Risk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759952" y="4956048"/>
            <a:ext cx="22311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Aniq sifat mezonlari noaniqlikni kamaytiradi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11880" y="2487168"/>
            <a:ext cx="1188720" cy="420624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60920" y="2907792"/>
            <a:ext cx="1143000" cy="-420624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11880" y="4590288"/>
            <a:ext cx="1188720" cy="-768096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0920" y="3822192"/>
            <a:ext cx="1143000" cy="768096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misol: bitiruv malakaviy ishi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faqat “topshirish” emas, talabga mos natija demakdir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.724780612843754e+69" dist="2.908260204281252e+69" dir="7.616996750131201e+82">
              <a:srgbClr val="000000">
                <a:alpha val="1.4000000000000001e+8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74520"/>
            <a:ext cx="73152" cy="3246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08483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1214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81912" y="2075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Muddat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24712" y="2532888"/>
            <a:ext cx="2642616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Ish belgilangan sanada topshirildi.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1080471378311567e+74" dist="3.69349045943719e+73" dir="4.57019805007872e+87">
              <a:srgbClr val="000000">
                <a:alpha val="1.4000000000000002e+8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874520"/>
            <a:ext cx="73152" cy="3246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27448" y="208483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1214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9512" y="2075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Talablar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782312" y="2532888"/>
            <a:ext cx="2642616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Ilmiy mazmun, rasmiylashtirish, manbalar va metodik talablar bajarildi yoki bajarilmadi.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83880" y="187452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407219865045569e+78" dist="4.690732883485231e+77" dir="2.742118830047232e+92">
              <a:srgbClr val="000000">
                <a:alpha val="1.4000000000000002e+9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1874520"/>
            <a:ext cx="73152" cy="3246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5048" y="208483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5048" y="21214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97112" y="2075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Natija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439912" y="2532888"/>
            <a:ext cx="2642616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Talablarga javob bermagan ish o‘z vaqtida topshirilgan bo‘lsa ham yuqori sifatli hisoblanmaydi.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Sifatni rejalashtirish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boshqaruvining boshlang‘ich va eng mas’uliyatli bosqichi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2455164" cy="1051560"/>
          </a:xfrm>
          <a:prstGeom prst="roundRect">
            <a:avLst>
              <a:gd name="adj" fmla="val 608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84832"/>
            <a:ext cx="23088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Sifat talablari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51276" y="218541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5012" y="1920240"/>
            <a:ext cx="2455164" cy="1051560"/>
          </a:xfrm>
          <a:prstGeom prst="roundRect">
            <a:avLst>
              <a:gd name="adj" fmla="val 608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8164" y="2084832"/>
            <a:ext cx="23088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Baholash mezonlari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07608" y="218541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1344" y="1920240"/>
            <a:ext cx="2455164" cy="1051560"/>
          </a:xfrm>
          <a:prstGeom prst="roundRect">
            <a:avLst>
              <a:gd name="adj" fmla="val 608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2084832"/>
            <a:ext cx="23088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Tekshiruv usullari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63940" y="218541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37676" y="1920240"/>
            <a:ext cx="2455164" cy="1051560"/>
          </a:xfrm>
          <a:prstGeom prst="roundRect">
            <a:avLst>
              <a:gd name="adj" fmla="val 608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0828" y="2084832"/>
            <a:ext cx="23088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Qabul shartlari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474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81"/>
                </a:solidFill>
              </a:rPr>
              <a:t>Asosiy savol: “Loyiha natijasi qanday bo‘lishi kerak?”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234440" y="43434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Talablar loyiha boshida aniq va o‘lchanadigan shaklda belgilanmasa, sifat subyektiv baholanadi, kelishmovchiliklar kuchayadi va yakuniy natija kutilgan darajaga yetmasligi mumkin.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Sifatni rejalashtirishning maqsadi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Sifatni foydalanuvchi ehtiyojlari bilan bog‘lash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7871692286078725e+82" dist="5.957230762026243e+81" dir="1.6452712980283393e+97">
              <a:srgbClr val="000000">
                <a:alpha val="1.4000000000000001e+9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2148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81"/>
                </a:solidFill>
              </a:rPr>
              <a:t>“Foydalanish uchun yaroqlilik”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234440" y="29718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475569"/>
                </a:solidFill>
              </a:rPr>
              <a:t>J. Juran yondashuvi sifatni faqat texnik talablar emas, balki iste’molchi ehtiyojlari va foydalanish sharoitlari bilan baholash zarurligini ko‘rsatadi.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269704920331998e+86" dist="7.565683067773329e+85" dir="9.871627788170037e+101">
              <a:srgbClr val="000000">
                <a:alpha val="1.4000000000000002e+10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984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Buyurtmachi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19672" y="2441448"/>
            <a:ext cx="42885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Kutilayotgan natija va qabul shartlarini belgilaydi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29184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8825252488216374e+90" dist="9.608417496072128e+89" dir="5.9229766729020215e+106">
              <a:srgbClr val="000000">
                <a:alpha val="1.4e+10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3291840"/>
            <a:ext cx="73152" cy="13258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34930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Foydalanuvchi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519672" y="3950208"/>
            <a:ext cx="42885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Qulaylik, ishonchlilik va foydalanish qiymatini belgilaydi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80060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.6608070660034796e+94" dist="1.2202690220011603e+94" dir="3.553786003741213e+111">
              <a:srgbClr val="000000">
                <a:alpha val="1.4e+11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480060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50017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Loyiha jamoasi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19672" y="5458968"/>
            <a:ext cx="42885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Talablarni amaliy va o‘lchanadigan ko‘rsatkichlarga aylantiradi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 talablari qaysi jihatlarni qamrab oladi?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Talablar loyiha hajmiga kiritiladi va loyiha davomida yo‘riqnoma bo‘lib xizmat qiladi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4.649224973824419e+98" dist="1.5497416579414736e+98" dir="2.1322716022447277e+116">
              <a:srgbClr val="000000">
                <a:alpha val="1.4e+11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73152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99339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90472" y="19842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Funksionallik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33272" y="2441448"/>
            <a:ext cx="27797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Natija kerakli vazifani bajaradimi?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5.904515716757012e+102" dist="1.9681719055856714e+102" dir="1.2793629613468366e+121">
              <a:srgbClr val="000000">
                <a:alpha val="1.4e+12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783080"/>
            <a:ext cx="73152" cy="1554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99339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85232" y="19842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Ishonchlilik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828032" y="2441448"/>
            <a:ext cx="27797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Natija barqaror va uzluksiz ishlaydimi?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66760" y="17830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.498734960281406e+106" dist="2.4995783200938027e+106" dir="7.67617776808102e+125">
              <a:srgbClr val="000000">
                <a:alpha val="1.4e+12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1783080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67928" y="199339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79992" y="19842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Qulaylik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22792" y="2441448"/>
            <a:ext cx="27797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Foydalanish sodda va tushunarlimi?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37947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9.523393399557385e+110" dist="3.174464466519129e+110" dir="4.605706660848612e+130">
              <a:srgbClr val="000000">
                <a:alpha val="1.4e+13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794760"/>
            <a:ext cx="73152" cy="155448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" y="4005072"/>
            <a:ext cx="384048" cy="384048"/>
          </a:xfrm>
          <a:prstGeom prst="ellipse">
            <a:avLst/>
          </a:prstGeom>
          <a:solidFill>
            <a:srgbClr val="C2413B">
              <a:alpha val="95000"/>
            </a:srgbClr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90472" y="3995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Xavfsizlik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33272" y="4453128"/>
            <a:ext cx="27797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Xatarlardan himoya darajasi yetarlimi?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0" y="37947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209470961743788e+115" dist="4.031569872479294e+114" dir="2.763423996509167e+135">
              <a:srgbClr val="000000">
                <a:alpha val="1.4e+139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794760"/>
            <a:ext cx="73152" cy="15544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4005072"/>
            <a:ext cx="384048" cy="384048"/>
          </a:xfrm>
          <a:prstGeom prst="ellipse">
            <a:avLst/>
          </a:prstGeom>
          <a:solidFill>
            <a:srgbClr val="6D5BD0">
              <a:alpha val="95000"/>
            </a:srgbClr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85232" y="3995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Barqarorlik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828032" y="4453128"/>
            <a:ext cx="27797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Natija uzoqroq muddat sifatini saqlaydimi?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Talabni o‘lchanadigan mezonga aylantirish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Sifatni shaffof va adolatli baholash uchun umumiy iboralar aniq ko‘rsatkichlarga o‘giriladi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828800"/>
          <a:ext cx="10469880" cy="333756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3429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Umumiy talab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O‘lchanadigan mezon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Tekshiruv usuli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“Tez ishlashi kerak”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Javob vaqti ≤ 2 soniya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Vaqt o‘lchovi / test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“Ishonchli bo‘lishi kerak”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Nosozliklar ≤ 1%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Sinov natijalari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“Qulay bo‘lishi kerak”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Foydalanuvchi vazifani 3 bosqichda bajaradi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Foydalanuvchi testi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“Xatosiz bo‘lishi kerak”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Kritik xatolar = 0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Tekshiruv / ekspertiza</a:t>
                      </a:r>
                      <a:endParaRPr lang="en-US" sz="14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88720" y="55321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81"/>
                </a:solidFill>
              </a:rPr>
              <a:t>Prinsip: sifat mezoni aniq, o‘lchanadigan va tekshiriladigan bo‘lishi kerak.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Standartlar va me’yorlarga asoslangan rejalashtirish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shaxsiy qarashga emas, tan olingan mezonlarga tayansin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5360281214146108e+119" dist="5.120093738048703e+118" dir="1.6580543979055002e+140">
              <a:srgbClr val="000000">
                <a:alpha val="1.3999999999999999e+14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73152" cy="3429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03911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81912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Standart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24712" y="2487168"/>
            <a:ext cx="273405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Talablarning qaysi milliy yoki xalqaro standartga bog‘liqligi aniqlanadi.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9507557141965558e+123" dist="6.502519047321853e+122" dir="9.948326387433002e+144">
              <a:srgbClr val="000000">
                <a:alpha val="1.4e+14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8288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203911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93792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Moslik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736592" y="2487168"/>
            <a:ext cx="273405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rejasida talab va tegishli standart bandi o‘zaro bog‘lanadi.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182880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4774597570296257e+127" dist="8.258199190098753e+126" dir="5.968995832459801e+149">
              <a:srgbClr val="000000">
                <a:alpha val="1.4e+15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1828800"/>
            <a:ext cx="73152" cy="3429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203911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05672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Obyektivlik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48472" y="2487168"/>
            <a:ext cx="2734056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Baholash shaxsiy qarashlardan xoli, mezonlarga asoslangan holga keladi.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Foydalanuvchi ovozidan texnik talabgacha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Y. Akao tomonidan ishlab chiqilgan sifat funksiyalarini yoyish yondashuvi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997050" cy="914400"/>
          </a:xfrm>
          <a:prstGeom prst="roundRect">
            <a:avLst>
              <a:gd name="adj" fmla="val 7000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176272"/>
            <a:ext cx="18507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Foydalanuvchi ehtiyoji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10282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4018" y="2011680"/>
            <a:ext cx="1997050" cy="914400"/>
          </a:xfrm>
          <a:prstGeom prst="roundRect">
            <a:avLst>
              <a:gd name="adj" fmla="val 7000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7170" y="2176272"/>
            <a:ext cx="18507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Kutishlar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08499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82235" y="2011680"/>
            <a:ext cx="1997050" cy="914400"/>
          </a:xfrm>
          <a:prstGeom prst="roundRect">
            <a:avLst>
              <a:gd name="adj" fmla="val 7000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5387" y="2176272"/>
            <a:ext cx="18507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Texnik xususiyatlar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06717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0453" y="2011680"/>
            <a:ext cx="1997050" cy="914400"/>
          </a:xfrm>
          <a:prstGeom prst="roundRect">
            <a:avLst>
              <a:gd name="adj" fmla="val 7000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3605" y="2176272"/>
            <a:ext cx="18507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O‘lchanadigan mezon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04934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78670" y="2011680"/>
            <a:ext cx="1997050" cy="914400"/>
          </a:xfrm>
          <a:prstGeom prst="roundRect">
            <a:avLst>
              <a:gd name="adj" fmla="val 7000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1822" y="2176272"/>
            <a:ext cx="18507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Qabul sharti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6576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81"/>
                </a:solidFill>
              </a:rPr>
              <a:t>Natija: loyiha jamoasi “qaysi talab nima sababli qo‘yilganini” aniq tushunadi.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828800" y="45720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.1463738914276248e+131" dist="1.0487912971425416e+131" dir="3.581397499475881e+154">
              <a:srgbClr val="000000">
                <a:alpha val="1.4e+15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0" y="4572000"/>
            <a:ext cx="73152" cy="1143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477316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Foyda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084832" y="5230368"/>
            <a:ext cx="3328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Talablar o‘rtasidagi ustuvorlikni tushunishga yordam beradi.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45720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.9958948421130834e+135" dist="1.3319649473710278e+135" dir="2.1488384996855287e+159">
              <a:srgbClr val="000000">
                <a:alpha val="1.4e+16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4572000"/>
            <a:ext cx="73152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477316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Foyda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748272" y="5230368"/>
            <a:ext cx="3328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Mijoz kutishini mahsulot xususiyatlariga tizimli bog‘laydi.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Sabab–oqibat tahlili: Ishikawa yondashuvi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muammolarining ildiz sabablarini loyiha boshida ko‘rishga yordam beradi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3246120"/>
            <a:ext cx="731520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23544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413B"/>
                </a:solidFill>
              </a:rPr>
              <a:t>Sifat muammosi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377440" y="1828800"/>
            <a:ext cx="1005840" cy="1143000"/>
          </a:xfrm>
          <a:prstGeom prst="line">
            <a:avLst/>
          </a:prstGeom>
          <a:noFill/>
          <a:ln w="21590">
            <a:solidFill>
              <a:srgbClr val="7C8FA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40280" y="13716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1517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Odamlar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0" y="1828800"/>
            <a:ext cx="1005840" cy="1143000"/>
          </a:xfrm>
          <a:prstGeom prst="line">
            <a:avLst/>
          </a:prstGeom>
          <a:noFill/>
          <a:ln w="21590">
            <a:solidFill>
              <a:srgbClr val="7C8FA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13716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8F6F5"/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517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Usullar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1828800"/>
            <a:ext cx="1005840" cy="1143000"/>
          </a:xfrm>
          <a:prstGeom prst="line">
            <a:avLst/>
          </a:prstGeom>
          <a:noFill/>
          <a:ln w="21590">
            <a:solidFill>
              <a:srgbClr val="7C8FA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13716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1517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Texnologiya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0" y="3749040"/>
            <a:ext cx="1005840" cy="-685800"/>
          </a:xfrm>
          <a:prstGeom prst="line">
            <a:avLst/>
          </a:prstGeom>
          <a:noFill/>
          <a:ln w="21590">
            <a:solidFill>
              <a:srgbClr val="7C8FA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71800" y="44805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8F6F5"/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4626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Material / resurs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749040"/>
            <a:ext cx="1005840" cy="-685800"/>
          </a:xfrm>
          <a:prstGeom prst="line">
            <a:avLst/>
          </a:prstGeom>
          <a:noFill/>
          <a:ln w="21590">
            <a:solidFill>
              <a:srgbClr val="7C8FA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17720" y="44805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4626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Muhit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1005840" cy="-685800"/>
          </a:xfrm>
          <a:prstGeom prst="line">
            <a:avLst/>
          </a:prstGeom>
          <a:noFill/>
          <a:ln w="21590">
            <a:solidFill>
              <a:srgbClr val="7C8FA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63640" y="44805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8F6F5"/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4626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Boshqaruv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88720" y="52578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Maqsad: muammoni “kim aybdor?” orqali emas, “qaysi sabablar tizimi ishlamayapti?” orqali tahlil qilish.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 xarajatlari: oldini olish yoki keyin tuzatish?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A. Feigenbaum yondashuvi sifatga investitsiya umumiy xarajatni kamaytirishi mumkinligini ko‘rsatadi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5.074786449483616e+139" dist="1.6915954831612053e+139" dir="1.2893030998113172e+164">
              <a:srgbClr val="000000">
                <a:alpha val="1.4e+16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73152" cy="3383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03911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81912" y="20299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Oldini olish xarajatlari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24712" y="2487168"/>
            <a:ext cx="2688336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Ta’lim, standartlashtirish, sifat rejasini ishlab chiqish, jarayonni oldindan yaxshilash.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.444978790844192e+143" dist="2.148326263614731e+143" dir="7.735818598867904e+168">
              <a:srgbClr val="000000">
                <a:alpha val="1.4000000000000002e+17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828800"/>
            <a:ext cx="73152" cy="3383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203911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93792" y="20299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Nazorat xarajatlari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736592" y="2487168"/>
            <a:ext cx="2688336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Tekshiruv, sinov, audit, o‘lchash va qabul qilish faoliyatlari.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182880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.185123064372124e+147" dist="2.7283743547907083e+147" dir="4.6414911593207425e+173">
              <a:srgbClr val="000000">
                <a:alpha val="1.4000000000000003e+17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2039112"/>
            <a:ext cx="384048" cy="384048"/>
          </a:xfrm>
          <a:prstGeom prst="ellipse">
            <a:avLst/>
          </a:prstGeom>
          <a:solidFill>
            <a:srgbClr val="C2413B">
              <a:alpha val="95000"/>
            </a:srgbClr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05672" y="20299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Nuqson xarajatlari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48472" y="2487168"/>
            <a:ext cx="2688336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Qayta ishlash, kechikish, mijoz shikoyati, qayta topshirish va obro‘ yo‘qotilishi.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63040" y="553212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81"/>
                </a:solidFill>
              </a:rPr>
              <a:t>Sifat boshida boshqarilsa — loyiha oxiridagi qimmat tuzatishlar kamayadi.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 rejasi: rejalashtirishning yakuniy hujjati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Loyiha jamoasida sifat bo‘yicha yagona yondashuvni shakllantiradi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0395106291752597e+152" dist="3.4650354305842e+151" dir="2.7848946955924455e+178">
              <a:srgbClr val="000000">
                <a:alpha val="1.4000000000000003e+18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73152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03911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36192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 standartlari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734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rejasida aniq ko‘rsatiladi va loyiha davomida qarorlar uchun tayanch vazifasini bajaradi.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32017849905258e+156" dist="4.400594996841933e+155" dir="1.6709368173554673e+183">
              <a:srgbClr val="000000">
                <a:alpha val="1.4000000000000003e+18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828800"/>
            <a:ext cx="73152" cy="13716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203911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0952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Tekshiruv usullari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873752" y="2487168"/>
            <a:ext cx="2734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rejasida aniq ko‘rsatiladi va loyiha davomida qarorlar uchun tayanch vazifasini bajaradi.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6766266937967764e+160" dist="5.588755645989255e+159" dir="1.0025620904132804e+188">
              <a:srgbClr val="000000">
                <a:alpha val="1.4000000000000002e+19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18288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13648" y="203911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25712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Nazorat usullari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68512" y="2487168"/>
            <a:ext cx="2734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rejasida aniq ko‘rsatiladi va loyiha davomida qarorlar uchun tayanch vazifasini bajaradi.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3703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1293159011219062e+164" dist="7.097719670406354e+163" dir="6.015372542479682e+192">
              <a:srgbClr val="000000">
                <a:alpha val="1.4000000000000003e+19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703320"/>
            <a:ext cx="73152" cy="13716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3913632"/>
            <a:ext cx="384048" cy="384048"/>
          </a:xfrm>
          <a:prstGeom prst="ellipse">
            <a:avLst/>
          </a:prstGeom>
          <a:solidFill>
            <a:srgbClr val="6D5BD0">
              <a:alpha val="95000"/>
            </a:srgbClr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950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36192" y="39044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Mas’ul shaxslar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78992" y="4361688"/>
            <a:ext cx="2734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rejasida aniq ko‘rsatiladi va loyiha davomida qarorlar uchun tayanch vazifasini bajaradi.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17720" y="3703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704231194424821e+168" dist="9.01410398141607e+167" dir="3.6092235254878095e+197">
              <a:srgbClr val="000000">
                <a:alpha val="1.4000000000000004e+20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703320"/>
            <a:ext cx="73152" cy="137160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18888" y="3913632"/>
            <a:ext cx="384048" cy="384048"/>
          </a:xfrm>
          <a:prstGeom prst="ellipse">
            <a:avLst/>
          </a:prstGeom>
          <a:solidFill>
            <a:srgbClr val="C2413B">
              <a:alpha val="95000"/>
            </a:srgbClr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950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30952" y="39044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Audit tartibi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873752" y="4361688"/>
            <a:ext cx="2734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rejasida aniq ko‘rsatiladi va loyiha davomida qarorlar uchun tayanch vazifasini bajaradi.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12480" y="3703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.434373616919523e+172" dist="1.144791205639841e+172" dir="2.1655341152926858e+202">
              <a:srgbClr val="000000">
                <a:alpha val="1.4000000000000004e+209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12480" y="3703320"/>
            <a:ext cx="73152" cy="1371600"/>
          </a:xfrm>
          <a:prstGeom prst="rect">
            <a:avLst/>
          </a:prstGeom>
          <a:solidFill>
            <a:srgbClr val="46A3A3"/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13648" y="3913632"/>
            <a:ext cx="384048" cy="384048"/>
          </a:xfrm>
          <a:prstGeom prst="ellipse">
            <a:avLst/>
          </a:prstGeom>
          <a:solidFill>
            <a:srgbClr val="46A3A3">
              <a:alpha val="95000"/>
            </a:srgbClr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3950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25712" y="39044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Hujjatlashtirish talablari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8668512" y="4361688"/>
            <a:ext cx="2734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rejasida aniq ko‘rsatiladi va loyiha davomida qarorlar uchun tayanch vazifasini bajaradi.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Sifatni ta’minlash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Asosiy savol: “Sifatga olib boradigan jarayonlarni to‘g‘ri bajaryapmizmi?”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1097280"/>
          </a:xfrm>
          <a:prstGeom prst="roundRect">
            <a:avLst>
              <a:gd name="adj" fmla="val 8333"/>
            </a:avLst>
          </a:prstGeom>
          <a:solidFill>
            <a:srgbClr val="FFF4E5"/>
          </a:solidFill>
          <a:ln w="12700">
            <a:solidFill>
              <a:srgbClr val="F2C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13969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Sifatni ta’minlash — rejalashtirilgan sifat talablariga amal qilinayotganini ta’minlashga qaratilgan tizimli faoliyat.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05840" y="3657600"/>
            <a:ext cx="2363724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822192"/>
            <a:ext cx="22174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Jarayonlar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96996" y="392277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0732" y="3657600"/>
            <a:ext cx="2363724" cy="960120"/>
          </a:xfrm>
          <a:prstGeom prst="roundRect">
            <a:avLst>
              <a:gd name="adj" fmla="val 666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3884" y="3822192"/>
            <a:ext cx="22174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Ish tartiblari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61888" y="392277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35624" y="3657600"/>
            <a:ext cx="2363724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3822192"/>
            <a:ext cx="22174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Hujjatlashtirish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26780" y="392277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0516" y="3657600"/>
            <a:ext cx="2363724" cy="960120"/>
          </a:xfrm>
          <a:prstGeom prst="roundRect">
            <a:avLst>
              <a:gd name="adj" fmla="val 666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3668" y="3822192"/>
            <a:ext cx="22174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Jamoa faoliyati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074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F4C81"/>
                </a:solidFill>
              </a:rPr>
              <a:t>Fokus: mahsulotni tekshirishdan oldin, uni yaratish jarayonini to‘g‘ri tashkil etish.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Profilaktik boshqaruv: W. E. Deming g‘oyasi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Nuqsonni topishdan ko‘ra, nuqson paydo bo‘lmaydigan jarayon yaratish samaraliroq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663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4.3616544934877943e+176" dist="1.453884831162598e+176" dir="1.2993204691756116e+207">
              <a:srgbClr val="000000">
                <a:alpha val="1.4000000000000004e+21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28800"/>
            <a:ext cx="73152" cy="347472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039112"/>
            <a:ext cx="384048" cy="384048"/>
          </a:xfrm>
          <a:prstGeom prst="ellipse">
            <a:avLst/>
          </a:prstGeom>
          <a:solidFill>
            <a:srgbClr val="C2413B">
              <a:alpha val="95000"/>
            </a:srgbClr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27632" y="2029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Tekshiruvga tayanish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70432" y="2487168"/>
            <a:ext cx="4151376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Nuqsonlar tayyor bo‘lgan natijada aniqlanadi. Tuzatish kech va qimmat bo‘lishi mumkin.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828800"/>
            <a:ext cx="4663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5.539301206729498e+180" dist="1.8464337355764995e+180" dir="7.795922815053669e+211">
              <a:srgbClr val="000000">
                <a:alpha val="1.4000000000000004e+21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828800"/>
            <a:ext cx="73152" cy="34747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203911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96912" y="2029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Jarayonni boshqarish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39712" y="2487168"/>
            <a:ext cx="4151376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Standartlar, mas’uliyat, o‘qitish va ichki nazorat orqali xatolar paydo bo‘lishining oldi olinadi.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Jarayonlarni standartlashtirish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Sifatni ta’minlashning eng muhim amaliy usullaridan biri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08483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Yo‘riqnomalar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10282" y="218541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4018" y="192024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7170" y="208483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Reglamentlar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08499" y="218541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82235" y="192024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5387" y="208483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Ichki qoidalar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06717" y="218541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0453" y="192024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3605" y="208483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Bir xil ijro usuli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04934" y="218541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78670" y="192024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1822" y="208483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Barqaror natija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80160" y="365760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.034912532546463e+184" dist="2.3449708441821544e+184" dir="4.677553689032201e+216">
              <a:srgbClr val="000000">
                <a:alpha val="1.4000000000000005e+22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80160" y="3657600"/>
            <a:ext cx="73152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385876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Afzallik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536192" y="4315968"/>
            <a:ext cx="37856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Loyiha jamoasi sifat masalasida yagona yondashuvga ega bo‘ladi.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365760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.934338916334009e+188" dist="2.978112972111336e+188" dir="2.806532213419321e+221">
              <a:srgbClr val="000000">
                <a:alpha val="1.4000000000000004e+22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3657600"/>
            <a:ext cx="73152" cy="1554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385876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Natija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885432" y="4315968"/>
            <a:ext cx="37856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Xatolar soni kamayadi va loyiha natijalari barqarorlashadi.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Jamoa malakasi va sifat madaniyati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Eng mukammal reja ham uni tushunadigan va mas’uliyatli jamoasiz ishlamaydi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1346610423744191e+193" dist="3.782203474581397e+192" dir="1.6839193280515925e+226">
              <a:srgbClr val="000000">
                <a:alpha val="1.4000000000000004e+23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73152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03911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81912" y="20299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O‘qitish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24712" y="2487168"/>
            <a:ext cx="44256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talablari va usullarini jamoaga tushuntirish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4410195238155123e+197" dist="4.803398412718374e+196" dir="1.0103515968309554e+231">
              <a:srgbClr val="000000">
                <a:alpha val="1.4000000000000005e+23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828800"/>
            <a:ext cx="73152" cy="1508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203911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14032" y="20299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Jalb etish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56832" y="2487168"/>
            <a:ext cx="44256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Xodimlarni sifat madaniyatining faol ishtirokchisiga aylantirish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379476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8300947952457007e+201" dist="6.100315984152335e+200" dir="6.062109580985733e+235">
              <a:srgbClr val="000000">
                <a:alpha val="1.4000000000000006e+24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794760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" y="400507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81912" y="39959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Mas’uliyat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24712" y="4453128"/>
            <a:ext cx="44256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Kim nimaga javob berishi aniq taqsimlanishi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79476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3242203899620397e+205" dist="7.747401299873466e+204" dir="3.63726574859144e+240">
              <a:srgbClr val="000000">
                <a:alpha val="1.4000000000000005e+24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794760"/>
            <a:ext cx="73152" cy="150876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4005072"/>
            <a:ext cx="384048" cy="384048"/>
          </a:xfrm>
          <a:prstGeom prst="ellipse">
            <a:avLst/>
          </a:prstGeom>
          <a:solidFill>
            <a:srgbClr val="6D5BD0">
              <a:alpha val="95000"/>
            </a:srgbClr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14032" y="39959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Intizom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56832" y="4453128"/>
            <a:ext cx="44256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Talablar va tartiblarga doimiy rioya qilish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Ichki tekshiruvlar va sifat auditi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Jarayonlarning belgilangan talablarga mosligini muntazam baholash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Tekshirish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10282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4018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7170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Kamchilikni aniqlash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08499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82235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5387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Darhol tuzatish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06717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0453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3605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Sababni tahlil qilish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04934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78670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1822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Takrorlanishni oldini olish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749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81"/>
                </a:solidFill>
              </a:rPr>
              <a:t>Sifat auditi — sifatni boshqarish jarayonlarining belgilangan talab va me’yorlarga mosligini tekshirish.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800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Bu jarayon sifatni ta’minlashni uzluksiz takomillashtirish bilan bog‘laydi.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Sifatni ta’minlash — loyiha uchun investitsiya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Sifatni boshida ta’minlash jadval va xarajatlar bo‘yicha keyingi yo‘qotishlarni kamaytiradi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65276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3749040"/>
                <a:gridCol w="416052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Yondashuv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Loyiha davomida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Loyiha oxirida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Sifatga yetarli e’tibor berilmasa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Jarayonlar tartibsiz, nuqsonlar yashirin qoladi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Ko‘p tuzatish, qo‘shimcha vaqt va xarajat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Sifat ta’minlansa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Talablar, standartlar, audit va mas’uliyat ishlaydi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Barqaror natija, kamroq qayta ishlash, resurs tejalishi</a:t>
                      </a:r>
                      <a:endParaRPr lang="en-US" sz="1500" dirty="0"/>
                    </a:p>
                  </a:txBody>
                  <a:tcPr marL="82296" marR="82296" marT="82296" marB="82296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F4C81"/>
                </a:solidFill>
              </a:rPr>
              <a:t>Xulosa: sifatni ta’minlash qo‘shimcha yuk emas — loyiha samaradorligiga xizmat qiluvchi boshqaruv investitsiyasidir.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Sifatni nazorat qilish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Real natijani oldindan belgilangan sifat talablariga solishtirish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Rejalashtirilgan mezon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10282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4018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7170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Real natija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08499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82235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5387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Solishtirish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06717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0453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3605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Og‘ishlarni aniqlash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04934" y="227685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78670" y="2011680"/>
            <a:ext cx="199705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1822" y="2176272"/>
            <a:ext cx="18507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Tuzatish / qaror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6576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81"/>
                </a:solidFill>
              </a:rPr>
              <a:t>Nazorat “tekshiruvchi” emas, balki sifat qarorlarining natijasini tasdiqlovchi bosqich sifatida ishlaydi.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Sifatni nazorat qilish usullari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Nazorat faqat loyiha yakunida emas, muhim bosqichlarda muntazam amalga oshiriladi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9517598952517903e+209" dist="9.839199650839302e+208" dir="2.182359449154864e+245">
              <a:srgbClr val="000000">
                <a:alpha val="1.4000000000000004e+25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83080"/>
            <a:ext cx="73152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99339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9842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Tekshiruv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05840" y="2441448"/>
            <a:ext cx="282549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Vizual yoki hujjatli moslikni tekshirish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.7487350669697734e+213" dist="1.2495783556565913e+213" dir="1.3094156694929184e+250">
              <a:srgbClr val="000000">
                <a:alpha val="1.4000000000000004e+25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783080"/>
            <a:ext cx="73152" cy="1554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99339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85232" y="19842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O‘lchash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828032" y="2441448"/>
            <a:ext cx="282549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Aniq ko‘rsatkichlarni miqdoriy baholash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94192" y="178308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4.760893535051613e+217" dist="1.586964511683871e+217" dir="7.85649401695751e+254">
              <a:srgbClr val="000000">
                <a:alpha val="1.4000000000000004e+26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94192" y="1783080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199339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0299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07424" y="19842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Sinov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50224" y="2441448"/>
            <a:ext cx="282549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Mahsulot yoki xizmatning ish faoliyatini sinash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" y="37490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.046334789515548e+221" dist="2.0154449298385164e+221" dir="4.713896410174506e+259">
              <a:srgbClr val="000000">
                <a:alpha val="1.4000000000000005e+26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749040"/>
            <a:ext cx="73152" cy="15544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3959352"/>
            <a:ext cx="384048" cy="384048"/>
          </a:xfrm>
          <a:prstGeom prst="ellipse">
            <a:avLst/>
          </a:prstGeom>
          <a:solidFill>
            <a:srgbClr val="6D5BD0">
              <a:alpha val="95000"/>
            </a:srgbClr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39959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39502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Ekspert bahosi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05840" y="4407408"/>
            <a:ext cx="282549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Mutaxassis xulosasi orqali sifatni baholash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0" y="37490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.678845182684747e+225" dist="2.5596150608949157e+225" dir="2.8283378461047036e+264">
              <a:srgbClr val="000000">
                <a:alpha val="1.4000000000000004e+27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749040"/>
            <a:ext cx="73152" cy="1554480"/>
          </a:xfrm>
          <a:prstGeom prst="rect">
            <a:avLst/>
          </a:prstGeom>
          <a:solidFill>
            <a:srgbClr val="46A3A3"/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3959352"/>
            <a:ext cx="384048" cy="384048"/>
          </a:xfrm>
          <a:prstGeom prst="ellipse">
            <a:avLst/>
          </a:prstGeom>
          <a:solidFill>
            <a:srgbClr val="46A3A3">
              <a:alpha val="95000"/>
            </a:srgbClr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9959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85232" y="39502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Hujjatlarni ko‘rib chiqish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828032" y="4407408"/>
            <a:ext cx="282549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Talab, protokol va dalillarni tekshirish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Nuqson — faqat xato emas, boshqaruv axboroti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Nuqson qaysi bosqichda yoki jarayonda kamchilik mavjudligini ko‘rsatadi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371600" cy="1371600"/>
          </a:xfrm>
          <a:prstGeom prst="ellipse">
            <a:avLst/>
          </a:prstGeom>
          <a:solidFill>
            <a:srgbClr val="FCEBEC"/>
          </a:solidFill>
          <a:ln w="19050">
            <a:solidFill>
              <a:srgbClr val="C24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88920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13B"/>
                </a:solidFill>
              </a:rPr>
              <a:t>NUQSON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2487168"/>
            <a:ext cx="1558138" cy="822960"/>
          </a:xfrm>
          <a:prstGeom prst="roundRect">
            <a:avLst>
              <a:gd name="adj" fmla="val 7778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2651760"/>
            <a:ext cx="14118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Qayd etish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54450" y="2752344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8186" y="2487168"/>
            <a:ext cx="1558138" cy="822960"/>
          </a:xfrm>
          <a:prstGeom prst="roundRect">
            <a:avLst>
              <a:gd name="adj" fmla="val 7778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1338" y="2651760"/>
            <a:ext cx="14118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Sababni aniqlash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13755" y="2752344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7491" y="2487168"/>
            <a:ext cx="1558138" cy="822960"/>
          </a:xfrm>
          <a:prstGeom prst="roundRect">
            <a:avLst>
              <a:gd name="adj" fmla="val 7778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0643" y="2651760"/>
            <a:ext cx="14118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Jarayonni tahlil qilish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73061" y="2752344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6797" y="2487168"/>
            <a:ext cx="1558138" cy="822960"/>
          </a:xfrm>
          <a:prstGeom prst="roundRect">
            <a:avLst>
              <a:gd name="adj" fmla="val 7778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9949" y="2651760"/>
            <a:ext cx="14118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Tuzatish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332366" y="2752344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6102" y="2487168"/>
            <a:ext cx="1558138" cy="822960"/>
          </a:xfrm>
          <a:prstGeom prst="roundRect">
            <a:avLst>
              <a:gd name="adj" fmla="val 7778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79254" y="2651760"/>
            <a:ext cx="14118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Takrorlanishni oldini olish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3434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81"/>
                </a:solidFill>
              </a:rPr>
              <a:t>Sifat nazorati sifatni ta’minlash va uzluksiz takomillashtirishga kiruvchi faktik ma’lumotlarni yaratadi.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natijalari va manfaatdor tomonlar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Shaffof hisobot kelishmovchiliklarni kamaytiradi va ishonchni mustahkamlaydi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2194560"/>
            <a:ext cx="2468880" cy="18288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  <a:effectLst>
            <a:outerShdw sx="100000" sy="100000" kx="0" ky="0" algn="bl" rotWithShape="0" blurRad="9.75213338200963e+229" dist="3.250711127336543e+229" dir="1.6970027076628222e+269">
              <a:srgbClr val="000000">
                <a:alpha val="1.4000000000000004e+27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26700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SIFAT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NAZORATI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2385209395152229e+234" dist="4.128403131717409e+233" dir="1.0182016245976934e+274">
              <a:srgbClr val="000000">
                <a:alpha val="1.4000000000000003e+28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737360"/>
            <a:ext cx="73152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9385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Buyurtmachi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70432" y="2395728"/>
            <a:ext cx="22311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Nazorat natijalari asosida qaror qabul qiladi.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58200" y="1737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572921593184333e+238" dist="5.24307197728111e+237" dir="6.10920974758616e+278">
              <a:srgbClr val="000000">
                <a:alpha val="1.4000000000000004e+28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1737360"/>
            <a:ext cx="73152" cy="1234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4232" y="19385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Loyiha rahbari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714232" y="2395728"/>
            <a:ext cx="22311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Nazorat natijalari asosida qaror qabul qiladi.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3434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997610423344103e+242" dist="6.65870141114701e+241" dir="3.6655258485516963e+283">
              <a:srgbClr val="000000">
                <a:alpha val="1.4000000000000005e+29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34340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544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Loyiha jamoasi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70432" y="5001768"/>
            <a:ext cx="22311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Nazorat natijalari asosida qaror qabul qiladi.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58200" y="43434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5369652376470108e+246" dist="8.456550792156703e+245" dir="2.1993155091310177e+288">
              <a:srgbClr val="000000">
                <a:alpha val="1.4000000000000004e+29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58200" y="4343400"/>
            <a:ext cx="73152" cy="12344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14232" y="4544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Foydalanuvchi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714232" y="5001768"/>
            <a:ext cx="22311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Nazorat natijalari asosida qaror qabul qiladi.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Rejalashtirish, ta’minlash va nazorat: farqlar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Uchala jarayon bir-birini to‘ldiradi, lekin fokus nuqtasi turlicha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TAQQOSLASH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1088136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2788920"/>
                <a:gridCol w="27432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Jarayon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Asosiy savol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Fokus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Asosiy natija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Sifatni rejalashtirish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“Natija qanday bo‘lishi kerak?”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Talablar va mezonlar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Sifat rejasi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Sifatni ta’minlash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“Jarayonlarni to‘g‘ri bajaryapmizmi?”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Jarayon va profilaktika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Barqaror ijro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Sifatni nazorat qilish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“Natija talabga mosmi?”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Natijani o‘lchash va solishtirish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Tasdiq / tuzatish</a:t>
                      </a:r>
                      <a:endParaRPr lang="en-US" sz="14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Uzluksiz takomillashtirish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Sifatni bir martalik talab emas, doimiy rivojlanadigan jarayon sifatida ko‘rish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4C81"/>
                </a:solidFill>
              </a:rPr>
              <a:t>“Hammasi birdaniga mukammal bo‘lishi shart emas, lekin har bosqichda yaxshiroq bo‘lishi shart.”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.221945851811704e+250" dist="1.0739819506039013e+250" dir="1.3195893054786106e+293">
              <a:srgbClr val="000000">
                <a:alpha val="1.4000000000000003e+30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657600"/>
            <a:ext cx="73152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86791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9044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27632" y="38587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Jarayonda aniqlash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4315968"/>
            <a:ext cx="26426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Muammoni loyiha oxiriga qoldirmaslik.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26280" y="365760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4.0918712318008637e+254" dist="1.3639570772669547e+254" dir="7.917535832871664e+297">
              <a:srgbClr val="000000">
                <a:alpha val="Infinity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3657600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7448" y="386791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39044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9512" y="38587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Sababini topish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782312" y="4315968"/>
            <a:ext cx="26426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Belgini emas, ildiz sababni tahlil qilish.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65760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5.196676464387097e+258" dist="1.7322254881290324e+258" dir="4.750521499722998e+302">
              <a:srgbClr val="000000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3657600"/>
            <a:ext cx="73152" cy="1508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9328" y="386791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39044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51392" y="38587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Takrorlanmaslik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94192" y="4315968"/>
            <a:ext cx="26426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Yechimni standartlashtirish va bilimga aylantirish.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PDCA sikli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Uzluksiz takomillashtirishning sodda va kuchli modeli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pic>
        <p:nvPicPr>
          <p:cNvPr id="6" name="Image 0" descr="/mnt/data/chapter7_pdca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162" y="1600200"/>
            <a:ext cx="4254795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69164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.599779109771612e+262" dist="2.1999263699238713e+262" dir="2.850312899833799e+307">
              <a:srgbClr val="000000">
                <a:alpha val="Infinity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0" y="1691640"/>
            <a:ext cx="73152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01968" y="190195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01968" y="19385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14032" y="18928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Plan — Reja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656832" y="2350008"/>
            <a:ext cx="4151376" cy="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Muammoni aniqlash, ko‘rsatkich va maqsadni belgilash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0" y="26974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.381719469409948e+266" dist="2.793906489803316e+266" dir="Infinity">
              <a:srgbClr val="000000">
                <a:alpha val="Infinity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697480"/>
            <a:ext cx="73152" cy="868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290779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29443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14032" y="2898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Do — Amalga oshirish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6656832" y="3355848"/>
            <a:ext cx="4151376" cy="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Rejalashtirilgan o‘zgarishni kichik miqyosda sinash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0" y="37033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0644783726150633e+271" dist="3.5482612420502116e+270" dir="Infinity">
              <a:srgbClr val="000000">
                <a:alpha val="Infinity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0" y="3703320"/>
            <a:ext cx="73152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01968" y="391363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01968" y="3950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114032" y="39044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Check — Tekshirish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6656832" y="4361688"/>
            <a:ext cx="4151376" cy="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Natijani o‘lchash va oldingi holat bilan solishtirish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0" y="470916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3518875332211304e+275" dist="4.5062917774037686e+274" dir="Infinity">
              <a:srgbClr val="000000">
                <a:alpha val="Infinity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00800" y="4709160"/>
            <a:ext cx="73152" cy="8686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01968" y="4919472"/>
            <a:ext cx="384048" cy="384048"/>
          </a:xfrm>
          <a:prstGeom prst="ellipse">
            <a:avLst/>
          </a:prstGeom>
          <a:solidFill>
            <a:srgbClr val="6D5BD0">
              <a:alpha val="95000"/>
            </a:srgbClr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01968" y="49560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114032" y="49103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Act — Harakat / tuzatish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6656832" y="5367528"/>
            <a:ext cx="4151376" cy="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Yechimni standartlashtirish yoki yondashuvni qayta ko‘rish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PDCA bosqichlari — batafsil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Sikl tugamaydi: “Act”dan so‘ng yana “Plan” boshlanadi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.7168971671908356e+279" dist="5.722990557302786e+278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73152" cy="1691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9385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1. REJALASHTIRISH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78992" y="2395728"/>
            <a:ext cx="44714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muammosini aniq belgilang, o‘lchanadigan ko‘rsatkich tanlang, muvaffaqiyat mezonini va choralarni belgilang.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180459402332361e+283" dist="7.268198007774538e+282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737360"/>
            <a:ext cx="73152" cy="16916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9385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2. BAJARISH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56832" y="2395728"/>
            <a:ext cx="44714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O‘zgarishni amalda, imkon qadar kichik miqyosda sinab ko‘ring. Bu xatoni “arzon” bosqichda aniqlashga yordam beradi.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2.7691834409620985e+287" dist="9.230611469873664e+286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40480"/>
            <a:ext cx="73152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3. TEKSHIRISH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78992" y="4498848"/>
            <a:ext cx="44714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Ko‘rsatkichlarni o‘lchang, oldingi holat bilan solishtiring, rejalashtirilgan natija olinmagan bo‘lsa sababini tahlil qiling.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384048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3.5168629700218653e+291" dist="1.1722876566739554e+291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840480"/>
            <a:ext cx="73152" cy="16916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4. TA’SIR / TUZATISH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56832" y="4498848"/>
            <a:ext cx="44714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Muvaffaqiyatli yechimni standartga aylantiring yoki natija bermagan yondashuvni qayta ko‘rib chiqing.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PDCAni loyihada qo‘llash: xizmat ko‘rsatish misoli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Maqsadni aniq ko‘rsatkichga aylantirish PDCAning kuchli tomoni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2413B"/>
                </a:solidFill>
              </a:rPr>
              <a:t>Muammo: mijoz shikoyatlari va javob berish vaqti yuqori.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4.466415971927769e+295" dist="1.4888053239759233e+295" dir="Infinity">
              <a:srgbClr val="000000">
                <a:alpha val="Infinity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14600"/>
            <a:ext cx="73152" cy="1417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72491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7614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90472" y="27157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Reja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33272" y="3172968"/>
            <a:ext cx="456285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Shikoyatlar sonini 2 oyda 20% kamaytirish yoki javob vaqtini 30 daqiqadan 10 daqiqagacha tushirish.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2514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5.6723482843482665e+299" dist="1.8907827614494227e+299" dir="Infinity">
              <a:srgbClr val="000000">
                <a:alpha val="Infinity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2514600"/>
            <a:ext cx="73152" cy="1417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968" y="272491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27614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14032" y="27157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Bajarish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56832" y="3172968"/>
            <a:ext cx="456285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Jarayonni soddalashtirish, mas’ullarni qayta taqsimlash, yangi tartibni bitta bo‘limda sinash.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2976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.203882321122298e+303" dist="2.401294107040767e+303" dir="Infinity">
              <a:srgbClr val="000000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9768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" y="450799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5445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0472" y="44988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Tekshirish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33272" y="4956048"/>
            <a:ext cx="456285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Yangi ko‘rsatkichlarni o‘lchash va oldingi natijalar bilan solishtirish.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42976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9.148930547825318e+307" dist="3.049643515941774e+307" dir="Infinity">
              <a:srgbClr val="000000">
                <a:alpha val="Infinity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4297680"/>
            <a:ext cx="73152" cy="14173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4507992"/>
            <a:ext cx="384048" cy="384048"/>
          </a:xfrm>
          <a:prstGeom prst="ellipse">
            <a:avLst/>
          </a:prstGeom>
          <a:solidFill>
            <a:srgbClr val="6D5BD0">
              <a:alpha val="95000"/>
            </a:srgbClr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45445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14032" y="44988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Tuzatish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656832" y="4956048"/>
            <a:ext cx="456285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Natija ijobiy bo‘lsa yechimni butun tizimga yoyish; aks holda sababni qayta tahlil qilish.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PDCA uchun ko‘rsatkich va jarayon xaritasi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Takomillashtirish “ko‘p gap, kam natija”ga aylanmasligi uchun o‘lchov va jarayon nuqtalari kerak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AF1F7"/>
          </a:solidFill>
          <a:ln w="12700">
            <a:solidFill>
              <a:srgbClr val="2E75B6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Nuqsonlar soni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73736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8F6F5"/>
          </a:solidFill>
          <a:ln w="12700">
            <a:solidFill>
              <a:srgbClr val="46A3A3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9110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Qayta ishlashlar soni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AF1F7"/>
          </a:solidFill>
          <a:ln w="12700">
            <a:solidFill>
              <a:srgbClr val="2E75B6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9110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Tekshiruvdan o‘tmaslik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98280" y="173736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8F6F5"/>
          </a:solidFill>
          <a:ln w="12700">
            <a:solidFill>
              <a:srgbClr val="46A3A3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08008" y="19110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Mijoz shikoyatlari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AF1F7"/>
          </a:solidFill>
          <a:ln w="12700">
            <a:solidFill>
              <a:srgbClr val="2E75B6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77977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Qayta topshirishlar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260604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8F6F5"/>
          </a:solidFill>
          <a:ln w="12700">
            <a:solidFill>
              <a:srgbClr val="46A3A3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277977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Xizmat vaqti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260604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AF1F7"/>
          </a:solidFill>
          <a:ln w="12700">
            <a:solidFill>
              <a:srgbClr val="2E75B6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277977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Hujjatlardagi xato ulushi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023360"/>
            <a:ext cx="1951330" cy="804672"/>
          </a:xfrm>
          <a:prstGeom prst="roundRect">
            <a:avLst>
              <a:gd name="adj" fmla="val 7955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187952"/>
            <a:ext cx="18050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Mas’uliyat noaniq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56002" y="428853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9738" y="4023360"/>
            <a:ext cx="1951330" cy="804672"/>
          </a:xfrm>
          <a:prstGeom prst="roundRect">
            <a:avLst>
              <a:gd name="adj" fmla="val 7955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02890" y="4187952"/>
            <a:ext cx="18050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Tekshiruv kech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08499" y="428853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82235" y="4023360"/>
            <a:ext cx="1951330" cy="804672"/>
          </a:xfrm>
          <a:prstGeom prst="roundRect">
            <a:avLst>
              <a:gd name="adj" fmla="val 7955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5387" y="4187952"/>
            <a:ext cx="18050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Talablar noto‘liq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60997" y="428853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4733" y="4023360"/>
            <a:ext cx="1951330" cy="804672"/>
          </a:xfrm>
          <a:prstGeom prst="roundRect">
            <a:avLst>
              <a:gd name="adj" fmla="val 7955"/>
            </a:avLst>
          </a:prstGeom>
          <a:solidFill>
            <a:srgbClr val="E8F6F5"/>
          </a:solidFill>
          <a:ln w="15240">
            <a:solidFill>
              <a:srgbClr val="46A3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07885" y="4187952"/>
            <a:ext cx="18050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Hujjatlar mos emas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213494" y="4288536"/>
            <a:ext cx="146304" cy="384048"/>
          </a:xfrm>
          <a:prstGeom prst="chevron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87230" y="4023360"/>
            <a:ext cx="1951330" cy="804672"/>
          </a:xfrm>
          <a:prstGeom prst="roundRect">
            <a:avLst>
              <a:gd name="adj" fmla="val 7955"/>
            </a:avLst>
          </a:prstGeom>
          <a:solidFill>
            <a:srgbClr val="EAF1F7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0382" y="4187952"/>
            <a:ext cx="18050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Aloqa sust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5840" y="5303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81"/>
                </a:solidFill>
              </a:rPr>
              <a:t>PDCAning asosiy savoli: “Kim aybdor?” emas, “Qaysi jarayon ishlamayapti?”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Sigma: sifatni ma’lumotlar asosida boshqarish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Jarayon variatsiyasini kamaytirish va natijani barqarorlashtirishga qaratilgan yondashuv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3200400" cy="33375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73152" cy="333756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039112"/>
            <a:ext cx="384048" cy="384048"/>
          </a:xfrm>
          <a:prstGeom prst="ellipse">
            <a:avLst/>
          </a:prstGeom>
          <a:solidFill>
            <a:srgbClr val="C2413B">
              <a:alpha val="95000"/>
            </a:srgbClr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81912" y="20299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Muammo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24712" y="2487168"/>
            <a:ext cx="2688336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Sifatsizlik ko‘pincha xodimning xohishidan emas, jarayonning notekis va o‘zgaruvchanligidan kelib chiqadi.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200400" cy="33375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828800"/>
            <a:ext cx="73152" cy="3337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203911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93792" y="20299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Yondashuv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736592" y="2487168"/>
            <a:ext cx="2688336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Qaror taxmin yoki intuitsiya asosida emas, o‘lchov va tahlil asosida qabul qilinadi.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1828800"/>
            <a:ext cx="3200400" cy="33375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18288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203911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2075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05672" y="20299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Natija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48472" y="2487168"/>
            <a:ext cx="2688336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Jarayon variatsiyasi kamayadi, sabablar aniqlanadi va natija standartlashtiriladi.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DMAIC — Six Sigma muammo yechish ketma-ketligi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Muammoni “ko‘rinishi” bo‘yicha emas, “ildizi” bo‘yicha hal qilish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24712" y="1874520"/>
            <a:ext cx="914400" cy="914400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24712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Define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Muammoni aniqlash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0" y="2139696"/>
            <a:ext cx="320040" cy="384048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1874520"/>
            <a:ext cx="914400" cy="9144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92424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99232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Measure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62072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O‘lchash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28032" y="2139696"/>
            <a:ext cx="320040" cy="384048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87452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0136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66944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Analyze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9784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Tahlil qilish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95744" y="2139696"/>
            <a:ext cx="320040" cy="384048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7848" y="1874520"/>
            <a:ext cx="914400" cy="9144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27848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534656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Improve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97496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Yaxshilash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363456" y="2139696"/>
            <a:ext cx="320040" cy="384048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95560" y="1874520"/>
            <a:ext cx="914400" cy="914400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95560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802368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Control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65208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Nazorat qilish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4C81"/>
                </a:solidFill>
              </a:rPr>
              <a:t>Masalan: xizmat kechikishini “tezroq ishlash” bilan emas, qayerda tiqilish borligini o‘lchash va tahlil qilish orqali hal etish.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PDCA va Six Sigma birgalikda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Ikki yondashuv bir-birini inkor qilmaydi — ular turli chuqurlikda ishlaydi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10652760" cy="4069080"/>
        </p:xfrm>
        <a:graphic>
          <a:graphicData uri="http://schemas.openxmlformats.org/drawingml/2006/table">
            <a:tbl>
              <a:tblPr/>
              <a:tblGrid>
                <a:gridCol w="2057400"/>
                <a:gridCol w="3840480"/>
                <a:gridCol w="47548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</a:rPr>
                        <a:t>Mezon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</a:rPr>
                        <a:t>PDCA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</a:rPr>
                        <a:t>Six Sigma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D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Roli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Umumiy takomillashtirish sikli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Murakkab muammoni chuqur tahlil qilish instrumentlari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Fokus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Reja–bajarish–tekshirish–tuzatish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O‘lchov, tahlil, variatsiyani kamaytirish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Qachon kuchli?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Kundalik va muntazam yaxshilashda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Sabablar ko‘p, yashirin va ma’lumot tahlili zarur bo‘lganda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Loyihadagi o‘rni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“Taktika”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F2937"/>
                          </a:solidFill>
                        </a:rPr>
                        <a:t>“Instrumentlar to‘plami”</a:t>
                      </a:r>
                      <a:endParaRPr lang="en-US" sz="138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Uzluksiz takomillashtirishning natijalari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nazoratdan chiqib, jamoa ishlash uslubining bir qismiga aylanadi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73152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947672"/>
            <a:ext cx="384048" cy="384048"/>
          </a:xfrm>
          <a:prstGeom prst="ellipse">
            <a:avLst/>
          </a:prstGeom>
          <a:solidFill>
            <a:srgbClr val="2E75B6">
              <a:alpha val="9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842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36192" y="1938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 barqarorlashadi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78992" y="2395728"/>
            <a:ext cx="27340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17373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737360"/>
            <a:ext cx="73152" cy="1234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947672"/>
            <a:ext cx="384048" cy="384048"/>
          </a:xfrm>
          <a:prstGeom prst="ellipse">
            <a:avLst/>
          </a:prstGeom>
          <a:solidFill>
            <a:srgbClr val="2E8B57">
              <a:alpha val="9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9842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0952" y="1938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Nuqsonlar kamayadi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873752" y="2395728"/>
            <a:ext cx="27340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0" y="17373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173736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13648" y="1947672"/>
            <a:ext cx="384048" cy="384048"/>
          </a:xfrm>
          <a:prstGeom prst="ellipse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19842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25712" y="1938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Qayta ishlash qisqaradi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68512" y="2395728"/>
            <a:ext cx="27340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33832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383280"/>
            <a:ext cx="73152" cy="12344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3593592"/>
            <a:ext cx="384048" cy="384048"/>
          </a:xfrm>
          <a:prstGeom prst="ellipse">
            <a:avLst/>
          </a:prstGeom>
          <a:solidFill>
            <a:srgbClr val="6D5BD0">
              <a:alpha val="95000"/>
            </a:srgbClr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630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36192" y="35844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Buyurtmachi qoniqishi ortadi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78992" y="4041648"/>
            <a:ext cx="27340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17720" y="33832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383280"/>
            <a:ext cx="73152" cy="1234440"/>
          </a:xfrm>
          <a:prstGeom prst="rect">
            <a:avLst/>
          </a:prstGeom>
          <a:solidFill>
            <a:srgbClr val="46A3A3"/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18888" y="3593592"/>
            <a:ext cx="384048" cy="384048"/>
          </a:xfrm>
          <a:prstGeom prst="ellipse">
            <a:avLst/>
          </a:prstGeom>
          <a:solidFill>
            <a:srgbClr val="46A3A3">
              <a:alpha val="95000"/>
            </a:srgbClr>
          </a:solidFill>
          <a:ln w="12700">
            <a:solidFill>
              <a:srgbClr val="46A3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630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30952" y="35844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Jarayonlar standartlashadi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873752" y="4041648"/>
            <a:ext cx="27340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12480" y="33832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12480" y="3383280"/>
            <a:ext cx="73152" cy="123444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13648" y="3593592"/>
            <a:ext cx="384048" cy="384048"/>
          </a:xfrm>
          <a:prstGeom prst="ellipse">
            <a:avLst/>
          </a:prstGeom>
          <a:solidFill>
            <a:srgbClr val="C2413B">
              <a:alpha val="95000"/>
            </a:srgbClr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3630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25712" y="35844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Tajriba kapitali to‘planadi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8668512" y="4041648"/>
            <a:ext cx="27340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1280160" y="5212080"/>
            <a:ext cx="9601200" cy="685800"/>
          </a:xfrm>
          <a:prstGeom prst="roundRect">
            <a:avLst>
              <a:gd name="adj" fmla="val 10667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08760" y="54406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“Sifat — tekshiruvdagi jarayon emas, sifat — ishlab chiqishning o‘zi.”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7-bob bo‘yicha mustahkamlash uchun 8 savol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NAZORAT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5074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883664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84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44752" y="182880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Loyiha sifatini boshqarish nima va nima sababli muhim?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074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1883664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984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76872" y="182880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Sifatni rejalashtirishda qaysi asosiy qarorlar qabul qilinadi?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77240" y="2770632"/>
            <a:ext cx="5074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2962656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063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44752" y="290779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Sifatni ta’minlash va nazorat qilish o‘rtasidagi farq nimada?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309360" y="2770632"/>
            <a:ext cx="5074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2962656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3063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76872" y="290779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Sifat rejasi loyiha jarayonlarida qanday vazifani bajaradi?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77240" y="3849624"/>
            <a:ext cx="5074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1422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44752" y="398678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Uzluksiz takomillashtirish loyiha sifatiga qanday ta’sir qiladi?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309360" y="3849624"/>
            <a:ext cx="5074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4041648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41422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76872" y="398678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PDCA bosqichlarini tushuntiring va loyiha misolini keltiring.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777240" y="4928616"/>
            <a:ext cx="5074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" y="512064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52212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44752" y="50657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Six Sigma qaysi hollarda samarali va uning asosiy g‘oyasi nimada?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6309360" y="4928616"/>
            <a:ext cx="5074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4808" y="512064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52212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76872" y="50657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Loyiha jamoasida sifat madaniyati nima uchun muhim?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Glossariy 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Asosiy tushunchalar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GLOSSARIY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9326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0136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7552" y="2258568"/>
            <a:ext cx="460857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Loyiha natijasining talablar, kutishlar va foydalanish sharoitlariga moslik darajasi.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600200"/>
            <a:ext cx="73152" cy="9326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80136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Loyiha sifatini boshqarish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11112" y="2258568"/>
            <a:ext cx="460857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Sifatni rejalashtirish, ta’minlash, nazorat qilish va takomillashtirish jarayonlari majmuasi.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2770632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770632"/>
            <a:ext cx="73152" cy="9326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7180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Sifatni rejalashtirish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87552" y="3429000"/>
            <a:ext cx="460857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talablari, mezonlari va ularga erishish usullarini oldindan belgilash.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2770632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2770632"/>
            <a:ext cx="73152" cy="9326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297180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 talablari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11112" y="3429000"/>
            <a:ext cx="460857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Mahsulot yoki xizmatga nisbatan aniq, o‘lchanadigan va tekshiriladigan talablar.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3941064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941064"/>
            <a:ext cx="73152" cy="9326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14223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 mezonlari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87552" y="4599432"/>
            <a:ext cx="460857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darajasini baholash uchun ko‘rsatkichlar va me’yorlar.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3941064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3941064"/>
            <a:ext cx="73152" cy="9326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414223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 rejasi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11112" y="4599432"/>
            <a:ext cx="460857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talablarini amalga oshirish va nazorat qilish tartibini belgilovchi hujjat.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1520" y="5111496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5111496"/>
            <a:ext cx="73152" cy="9326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531266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Sifatni ta’minlash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87552" y="5769864"/>
            <a:ext cx="460857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Jarayonlarning belgilangan sifat talablariga mos tashkil etilishini ta’minlash.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55080" y="5111496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5111496"/>
            <a:ext cx="73152" cy="9326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531266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Profilaktik yondashuv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6611112" y="5769864"/>
            <a:ext cx="460857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muammosini oldindan aniqlash va yuzaga kelishining oldini olishga qaratilgan boshqaruv.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C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Glossariy II va yakuniy xulosa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Bobning yakuniy tushunchalari va asosiy g‘oyasi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62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GLOSSARIY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08760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0992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Sifatni nazorat qilish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7552" y="2167128"/>
            <a:ext cx="460857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Natijalarni sifat talablari bilan solishtirish va og‘ishlarni aniqlash.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508760"/>
            <a:ext cx="73152" cy="84124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70992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Nazorat nuqtalari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11112" y="2167128"/>
            <a:ext cx="460857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tekshiruvi o‘tkaziladigan muhim loyiha bosqichlari.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256946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569464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77063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Nuqson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87552" y="3227832"/>
            <a:ext cx="460857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Natijaning belgilangan sifat talablariga mos kelmasligi.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256946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2569464"/>
            <a:ext cx="73152" cy="84124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277063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Sabab–oqibat tahlili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11112" y="3227832"/>
            <a:ext cx="460857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Sifat muammolarining ildiz sabablarini aniqlashga qaratilgan tahlil.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363016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630168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83133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PDCA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87552" y="4288536"/>
            <a:ext cx="460857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Rejalashtirish–bajarish–tekshirish–tuzatish sikli.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363016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3630168"/>
            <a:ext cx="73152" cy="84124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383133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Six Sigma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11112" y="4288536"/>
            <a:ext cx="460857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Xatolarni kamaytirish va barqaror sifatga erishishga qaratilgan tahliliy metodologiya.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1520" y="4690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4690872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8920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DMAIC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87552" y="5349240"/>
            <a:ext cx="460857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Aniqlash–o‘lchash–tahlil–yaxshilash–nazorat qilish ketma-ketligi.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55080" y="4690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4690872"/>
            <a:ext cx="73152" cy="84124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48920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</a:rPr>
              <a:t>Sifat madaniyati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6611112" y="5349240"/>
            <a:ext cx="460857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Jamoada sifatga mas’uliyatli va ongli munosabatning shakllanganligi.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14400" y="5486400"/>
            <a:ext cx="10332720" cy="530352"/>
          </a:xfrm>
          <a:prstGeom prst="roundRect">
            <a:avLst>
              <a:gd name="adj" fmla="val 12069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5568" y="5614416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Yakuniy g‘oya: sifat loyiha oxirida tekshiriladigan holat emas — u boshidan rejalashtiriladi, jarayonda ta’minlanadi, natijada nazorat qilinadi va doimiy takomillashtiriladi.</a:t>
            </a:r>
            <a:endParaRPr lang="en-US" sz="14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Mirzo Ulug‘bek nomidagi O‘zbekiston Milliy universitetining Jizzax filiali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7-bob. Loyiha sifatini boshqarish</dc:title>
  <dc:subject>Loyihalarni boshqarish — 7-bob: Loyiha sifatini boshqarish</dc:subject>
  <dc:creator>OpenAI</dc:creator>
  <cp:lastModifiedBy>OpenAI</cp:lastModifiedBy>
  <cp:revision>1</cp:revision>
  <dcterms:created xsi:type="dcterms:W3CDTF">2026-09-16T06:10:44Z</dcterms:created>
  <dcterms:modified xsi:type="dcterms:W3CDTF">2026-09-16T06:10:44Z</dcterms:modified>
</cp:coreProperties>
</file>