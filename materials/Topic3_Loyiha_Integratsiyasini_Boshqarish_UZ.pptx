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notesMasterIdLst>
    <p:notesMasterId r:id="rId2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notesMaster" Target="notesMasters/notesMaster1.xml"/><Relationship Id="rId22" Type="http://schemas.openxmlformats.org/officeDocument/2006/relationships/presProps" Target="presProps.xml"/><Relationship Id="rId23" Type="http://schemas.openxmlformats.org/officeDocument/2006/relationships/viewProps" Target="viewProps.xml"/><Relationship Id="rId24" Type="http://schemas.openxmlformats.org/officeDocument/2006/relationships/theme" Target="theme/theme1.xml"/><Relationship Id="rId2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280160"/>
            <a:ext cx="4754880" cy="4754880"/>
          </a:xfrm>
          <a:prstGeom prst="ellipse">
            <a:avLst/>
          </a:prstGeom>
          <a:solidFill>
            <a:srgbClr val="065A82">
              <a:alpha val="4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881360" y="4206240"/>
            <a:ext cx="2926080" cy="2926080"/>
          </a:xfrm>
          <a:prstGeom prst="ellipse">
            <a:avLst/>
          </a:prstGeom>
          <a:solidFill>
            <a:srgbClr val="D98E04">
              <a:alpha val="35000"/>
            </a:srgbClr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822960" y="118872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D98E0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LOYB206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777240" y="1600200"/>
            <a:ext cx="96012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LOYIHALARNI BOSHQARISH</a:t>
            </a:r>
            <a:endParaRPr lang="en-US" sz="44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2788920"/>
            <a:ext cx="10058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dirty="0">
                <a:solidFill>
                  <a:srgbClr val="CA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3-mavzu: Loyiha integratsiyasini boshqarish</a:t>
            </a:r>
            <a:endParaRPr lang="en-US" sz="2100" dirty="0"/>
          </a:p>
        </p:txBody>
      </p:sp>
      <p:sp>
        <p:nvSpPr>
          <p:cNvPr id="7" name="Shape 5"/>
          <p:cNvSpPr/>
          <p:nvPr/>
        </p:nvSpPr>
        <p:spPr>
          <a:xfrm>
            <a:off x="822960" y="3794760"/>
            <a:ext cx="822960" cy="41148"/>
          </a:xfrm>
          <a:prstGeom prst="rect">
            <a:avLst/>
          </a:prstGeom>
          <a:solidFill>
            <a:srgbClr val="D98E04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822960" y="58064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FB6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Turizm va mehmondo‘stchilik • O‘zMU Jizzax filiali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822960" y="61264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E85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LOYB206 fani  ·  V semestr  ·  “Iqtisodiyot va turizm” kafedrasi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D98E0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REJA · 3-MAVZU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772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623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Nimalarni ko‘rib chiqamiz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94360" y="1572768"/>
            <a:ext cx="502920" cy="50292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94360" y="157276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700" dirty="0"/>
          </a:p>
        </p:txBody>
      </p:sp>
      <p:sp>
        <p:nvSpPr>
          <p:cNvPr id="6" name="Text 4"/>
          <p:cNvSpPr txBox="1"/>
          <p:nvPr/>
        </p:nvSpPr>
        <p:spPr>
          <a:xfrm>
            <a:off x="1325880" y="1527048"/>
            <a:ext cx="9784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Integratsiyani boshqarish nima uchun muhim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1325880" y="1865376"/>
            <a:ext cx="9784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Loyiha menejerining o‘ziga xos, boshqaga topshirib bo‘lmaydigan javobgarligi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1325880" y="2240280"/>
            <a:ext cx="9601200" cy="10058"/>
          </a:xfrm>
          <a:prstGeom prst="rect">
            <a:avLst/>
          </a:prstGeom>
          <a:solidFill>
            <a:srgbClr val="E3E9ED"/>
          </a:solidFill>
          <a:ln/>
        </p:spPr>
      </p:sp>
      <p:sp>
        <p:nvSpPr>
          <p:cNvPr id="9" name="Shape 7"/>
          <p:cNvSpPr/>
          <p:nvPr/>
        </p:nvSpPr>
        <p:spPr>
          <a:xfrm>
            <a:off x="594360" y="2359152"/>
            <a:ext cx="502920" cy="50292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594360" y="235915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700" dirty="0"/>
          </a:p>
        </p:txBody>
      </p:sp>
      <p:sp>
        <p:nvSpPr>
          <p:cNvPr id="11" name="Text 9"/>
          <p:cNvSpPr txBox="1"/>
          <p:nvPr/>
        </p:nvSpPr>
        <p:spPr>
          <a:xfrm>
            <a:off x="1325880" y="2313432"/>
            <a:ext cx="9784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Loyiha ustavini ishlab chiqish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1325880" y="2651760"/>
            <a:ext cx="9784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Loyihaning mavjudligini rasmiy tasdiqlash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1325880" y="3026664"/>
            <a:ext cx="9601200" cy="10058"/>
          </a:xfrm>
          <a:prstGeom prst="rect">
            <a:avLst/>
          </a:prstGeom>
          <a:solidFill>
            <a:srgbClr val="E3E9ED"/>
          </a:solidFill>
          <a:ln/>
        </p:spPr>
      </p:sp>
      <p:sp>
        <p:nvSpPr>
          <p:cNvPr id="14" name="Shape 12"/>
          <p:cNvSpPr/>
          <p:nvPr/>
        </p:nvSpPr>
        <p:spPr>
          <a:xfrm>
            <a:off x="594360" y="3145536"/>
            <a:ext cx="502920" cy="50292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594360" y="3145536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700" dirty="0"/>
          </a:p>
        </p:txBody>
      </p:sp>
      <p:sp>
        <p:nvSpPr>
          <p:cNvPr id="16" name="Text 14"/>
          <p:cNvSpPr txBox="1"/>
          <p:nvPr/>
        </p:nvSpPr>
        <p:spPr>
          <a:xfrm>
            <a:off x="1325880" y="3099816"/>
            <a:ext cx="9784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Loyihani boshqarish rejasini ishlab chiqish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1325880" y="3438144"/>
            <a:ext cx="9784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Barcha yordamchi rejalarni bitta hujjatga birlashtirish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1325880" y="3813048"/>
            <a:ext cx="9601200" cy="10058"/>
          </a:xfrm>
          <a:prstGeom prst="rect">
            <a:avLst/>
          </a:prstGeom>
          <a:solidFill>
            <a:srgbClr val="E3E9ED"/>
          </a:solidFill>
          <a:ln/>
        </p:spPr>
      </p:sp>
      <p:sp>
        <p:nvSpPr>
          <p:cNvPr id="19" name="Shape 17"/>
          <p:cNvSpPr/>
          <p:nvPr/>
        </p:nvSpPr>
        <p:spPr>
          <a:xfrm>
            <a:off x="594360" y="3931920"/>
            <a:ext cx="502920" cy="50292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594360" y="39319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700" dirty="0"/>
          </a:p>
        </p:txBody>
      </p:sp>
      <p:sp>
        <p:nvSpPr>
          <p:cNvPr id="21" name="Text 19"/>
          <p:cNvSpPr txBox="1"/>
          <p:nvPr/>
        </p:nvSpPr>
        <p:spPr>
          <a:xfrm>
            <a:off x="1325880" y="3886200"/>
            <a:ext cx="9784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Ishni yo‘naltirish, boshqarish va nazorat qilish</a:t>
            </a:r>
            <a:endParaRPr lang="en-US" sz="1600" dirty="0"/>
          </a:p>
        </p:txBody>
      </p:sp>
      <p:sp>
        <p:nvSpPr>
          <p:cNvPr id="22" name="Text 20"/>
          <p:cNvSpPr txBox="1"/>
          <p:nvPr/>
        </p:nvSpPr>
        <p:spPr>
          <a:xfrm>
            <a:off x="1325880" y="4224528"/>
            <a:ext cx="9784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Rejani amalga oshirish va samaradorlikni kuzatish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1325880" y="4599432"/>
            <a:ext cx="9601200" cy="10058"/>
          </a:xfrm>
          <a:prstGeom prst="rect">
            <a:avLst/>
          </a:prstGeom>
          <a:solidFill>
            <a:srgbClr val="E3E9ED"/>
          </a:solidFill>
          <a:ln/>
        </p:spPr>
      </p:sp>
      <p:sp>
        <p:nvSpPr>
          <p:cNvPr id="24" name="Shape 22"/>
          <p:cNvSpPr/>
          <p:nvPr/>
        </p:nvSpPr>
        <p:spPr>
          <a:xfrm>
            <a:off x="594360" y="4718304"/>
            <a:ext cx="502920" cy="50292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594360" y="4718304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700" dirty="0"/>
          </a:p>
        </p:txBody>
      </p:sp>
      <p:sp>
        <p:nvSpPr>
          <p:cNvPr id="26" name="Text 24"/>
          <p:cNvSpPr txBox="1"/>
          <p:nvPr/>
        </p:nvSpPr>
        <p:spPr>
          <a:xfrm>
            <a:off x="1325880" y="4672584"/>
            <a:ext cx="9784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O‘zgarishlarni integratsiyalashgan nazorat qilish</a:t>
            </a:r>
            <a:endParaRPr lang="en-US" sz="1600" dirty="0"/>
          </a:p>
        </p:txBody>
      </p:sp>
      <p:sp>
        <p:nvSpPr>
          <p:cNvPr id="27" name="Text 25"/>
          <p:cNvSpPr txBox="1"/>
          <p:nvPr/>
        </p:nvSpPr>
        <p:spPr>
          <a:xfrm>
            <a:off x="1325880" y="5010912"/>
            <a:ext cx="9784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 bir o‘zgarishni ko‘rib chiqish, qaror qabul qilish va qayd etish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1325880" y="5385816"/>
            <a:ext cx="9601200" cy="10058"/>
          </a:xfrm>
          <a:prstGeom prst="rect">
            <a:avLst/>
          </a:prstGeom>
          <a:solidFill>
            <a:srgbClr val="E3E9ED"/>
          </a:solidFill>
          <a:ln/>
        </p:spPr>
      </p:sp>
      <p:sp>
        <p:nvSpPr>
          <p:cNvPr id="29" name="Shape 27"/>
          <p:cNvSpPr/>
          <p:nvPr/>
        </p:nvSpPr>
        <p:spPr>
          <a:xfrm>
            <a:off x="594360" y="5504688"/>
            <a:ext cx="502920" cy="50292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30" name="Text 28"/>
          <p:cNvSpPr txBox="1"/>
          <p:nvPr/>
        </p:nvSpPr>
        <p:spPr>
          <a:xfrm>
            <a:off x="594360" y="550468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700" dirty="0"/>
          </a:p>
        </p:txBody>
      </p:sp>
      <p:sp>
        <p:nvSpPr>
          <p:cNvPr id="31" name="Text 29"/>
          <p:cNvSpPr txBox="1"/>
          <p:nvPr/>
        </p:nvSpPr>
        <p:spPr>
          <a:xfrm>
            <a:off x="1325880" y="5458968"/>
            <a:ext cx="9784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Loyiha yoki bosqichni yakunlash</a:t>
            </a:r>
            <a:endParaRPr lang="en-US" sz="1600" dirty="0"/>
          </a:p>
        </p:txBody>
      </p:sp>
      <p:sp>
        <p:nvSpPr>
          <p:cNvPr id="32" name="Text 30"/>
          <p:cNvSpPr txBox="1"/>
          <p:nvPr/>
        </p:nvSpPr>
        <p:spPr>
          <a:xfrm>
            <a:off x="1325880" y="5797296"/>
            <a:ext cx="9784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Yakunlash, topshirish va o‘rganilgan saboqlarni qayd etish</a:t>
            </a:r>
            <a:endParaRPr lang="en-US" sz="1150" dirty="0"/>
          </a:p>
        </p:txBody>
      </p:sp>
      <p:sp>
        <p:nvSpPr>
          <p:cNvPr id="33" name="Text 31"/>
          <p:cNvSpPr txBox="1"/>
          <p:nvPr/>
        </p:nvSpPr>
        <p:spPr>
          <a:xfrm>
            <a:off x="11274552" y="635508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D98E0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3.1 · INTEGRATSIYA NIMA UCHUN MUHIM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77240"/>
            <a:ext cx="10515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623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Butun manzarani bitta shaxs boshqaradi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6400800" cy="1417320"/>
          </a:xfrm>
          <a:prstGeom prst="roundRect">
            <a:avLst>
              <a:gd name="adj" fmla="val 5161"/>
            </a:avLst>
          </a:prstGeom>
          <a:solidFill>
            <a:srgbClr val="0B1F3A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1600200"/>
            <a:ext cx="82296" cy="1417320"/>
          </a:xfrm>
          <a:prstGeom prst="rect">
            <a:avLst/>
          </a:prstGeom>
          <a:solidFill>
            <a:srgbClr val="D98E04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914400" y="1719072"/>
            <a:ext cx="5806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“Loyiha integratsiyasini boshqarish javobgarligini boshqa birortasiga topshirib yoki o‘tkazib bo‘lmaydi.”</a:t>
            </a:r>
            <a:endParaRPr lang="en-US" sz="1550" dirty="0"/>
          </a:p>
        </p:txBody>
      </p:sp>
      <p:sp>
        <p:nvSpPr>
          <p:cNvPr id="7" name="Text 5"/>
          <p:cNvSpPr txBox="1"/>
          <p:nvPr/>
        </p:nvSpPr>
        <p:spPr>
          <a:xfrm>
            <a:off x="914400" y="2697480"/>
            <a:ext cx="5806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FB6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PMBOK® qo‘llanmasi, 4-bo‘lim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3246120"/>
            <a:ext cx="640080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16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Boshqa bilim sohalari — xarajat, jadval, xavf — mutaxassislar tomonidan boshqarilishi mumkin. Integratsiya esa mumkin emas: faqat loyiha menejeri barcha natijalarni yagona yaxlit tizimga birlashtiradi va uning uchun yakuniy javobgarlikni o‘z zimmasiga oladi.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7315200" y="1600200"/>
            <a:ext cx="4297680" cy="4709160"/>
          </a:xfrm>
          <a:prstGeom prst="roundRect">
            <a:avLst>
              <a:gd name="adj" fmla="val 1702"/>
            </a:avLst>
          </a:prstGeom>
          <a:solidFill>
            <a:srgbClr val="F2F6F9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7635240" y="1828800"/>
            <a:ext cx="3703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Loyiha integratsiyasini boshqarish quyidagilarni o‘z ichiga oladi: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7635240" y="2569464"/>
            <a:ext cx="128016" cy="128016"/>
          </a:xfrm>
          <a:prstGeom prst="ellipse">
            <a:avLst/>
          </a:prstGeom>
          <a:solidFill>
            <a:srgbClr val="D98E04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7891272" y="2404872"/>
            <a:ext cx="3566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6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Asosiy o‘zgarishlar bo‘yicha yaxlit qarorlar qabul qilish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7635240" y="3438144"/>
            <a:ext cx="128016" cy="128016"/>
          </a:xfrm>
          <a:prstGeom prst="ellipse">
            <a:avLst/>
          </a:prstGeom>
          <a:solidFill>
            <a:srgbClr val="D98E04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7891272" y="3273552"/>
            <a:ext cx="3566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6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Hajm, vaqt, xarajat va sifat o‘rtasidagi raqobatlashuvchi talablarni muvozanatlash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7635240" y="4306824"/>
            <a:ext cx="128016" cy="128016"/>
          </a:xfrm>
          <a:prstGeom prst="ellipse">
            <a:avLst/>
          </a:prstGeom>
          <a:solidFill>
            <a:srgbClr val="D98E04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7891272" y="4142232"/>
            <a:ext cx="3566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6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Jarayonni o‘lchash va tuzatuvchi choralar ko‘rish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7635240" y="5175504"/>
            <a:ext cx="128016" cy="128016"/>
          </a:xfrm>
          <a:prstGeom prst="ellipse">
            <a:avLst/>
          </a:prstGeom>
          <a:solidFill>
            <a:srgbClr val="D98E04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7891272" y="5010912"/>
            <a:ext cx="3566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6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Barcha ishlarni yakunlash va har bir bosqichni rasmiy yopish</a:t>
            </a:r>
            <a:endParaRPr lang="en-US" sz="1250" dirty="0"/>
          </a:p>
        </p:txBody>
      </p:sp>
      <p:sp>
        <p:nvSpPr>
          <p:cNvPr id="19" name="Text 17"/>
          <p:cNvSpPr txBox="1"/>
          <p:nvPr/>
        </p:nvSpPr>
        <p:spPr>
          <a:xfrm>
            <a:off x="11274552" y="635508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D98E0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3.2 · JARAYONLAR OQIMI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77240"/>
            <a:ext cx="10789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623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Oltita jarayon, bitta uzluksiz zanjir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508760"/>
            <a:ext cx="10789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Integratsiyani boshqarish loyihaning rasmiy tasdiqlanishidan uning rasmiy yopilishigacha davom etadi — yo‘l bo‘yi boshqa barcha bilim sohalarini bir-biriga bog‘lab boradi.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48640" y="2468880"/>
            <a:ext cx="1691640" cy="2468880"/>
          </a:xfrm>
          <a:prstGeom prst="roundRect">
            <a:avLst>
              <a:gd name="adj" fmla="val 4324"/>
            </a:avLst>
          </a:prstGeom>
          <a:solidFill>
            <a:srgbClr val="F2F6F9"/>
          </a:solidFill>
          <a:ln/>
        </p:spPr>
      </p:sp>
      <p:sp>
        <p:nvSpPr>
          <p:cNvPr id="6" name="Shape 4"/>
          <p:cNvSpPr/>
          <p:nvPr/>
        </p:nvSpPr>
        <p:spPr>
          <a:xfrm>
            <a:off x="548640" y="2468880"/>
            <a:ext cx="1691640" cy="82296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7" name="Shape 5"/>
          <p:cNvSpPr/>
          <p:nvPr/>
        </p:nvSpPr>
        <p:spPr>
          <a:xfrm>
            <a:off x="1156716" y="2706624"/>
            <a:ext cx="475488" cy="475488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1156716" y="2706624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640080" y="3337560"/>
            <a:ext cx="1508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6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Ustav ishlab chiqish</a:t>
            </a:r>
            <a:endParaRPr lang="en-US" sz="1150" dirty="0"/>
          </a:p>
        </p:txBody>
      </p:sp>
      <p:sp>
        <p:nvSpPr>
          <p:cNvPr id="10" name="Text 8"/>
          <p:cNvSpPr txBox="1"/>
          <p:nvPr/>
        </p:nvSpPr>
        <p:spPr>
          <a:xfrm>
            <a:off x="640080" y="4069080"/>
            <a:ext cx="1508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Loyihani tasdiqlash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2240280" y="3429000"/>
            <a:ext cx="182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2423160" y="2468880"/>
            <a:ext cx="1691640" cy="2468880"/>
          </a:xfrm>
          <a:prstGeom prst="roundRect">
            <a:avLst>
              <a:gd name="adj" fmla="val 4324"/>
            </a:avLst>
          </a:prstGeom>
          <a:solidFill>
            <a:srgbClr val="F2F6F9"/>
          </a:solidFill>
          <a:ln/>
        </p:spPr>
      </p:sp>
      <p:sp>
        <p:nvSpPr>
          <p:cNvPr id="13" name="Shape 11"/>
          <p:cNvSpPr/>
          <p:nvPr/>
        </p:nvSpPr>
        <p:spPr>
          <a:xfrm>
            <a:off x="2423160" y="2468880"/>
            <a:ext cx="1691640" cy="82296"/>
          </a:xfrm>
          <a:prstGeom prst="rect">
            <a:avLst/>
          </a:prstGeom>
          <a:solidFill>
            <a:srgbClr val="2E7A9E"/>
          </a:solidFill>
          <a:ln/>
        </p:spPr>
      </p:sp>
      <p:sp>
        <p:nvSpPr>
          <p:cNvPr id="14" name="Shape 12"/>
          <p:cNvSpPr/>
          <p:nvPr/>
        </p:nvSpPr>
        <p:spPr>
          <a:xfrm>
            <a:off x="3031236" y="2706624"/>
            <a:ext cx="475488" cy="475488"/>
          </a:xfrm>
          <a:prstGeom prst="ellipse">
            <a:avLst/>
          </a:prstGeom>
          <a:solidFill>
            <a:srgbClr val="2E7A9E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3031236" y="2706624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2514600" y="3337560"/>
            <a:ext cx="1508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6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Reja ishlab chiqish</a:t>
            </a:r>
            <a:endParaRPr lang="en-US" sz="1150" dirty="0"/>
          </a:p>
        </p:txBody>
      </p:sp>
      <p:sp>
        <p:nvSpPr>
          <p:cNvPr id="17" name="Text 15"/>
          <p:cNvSpPr txBox="1"/>
          <p:nvPr/>
        </p:nvSpPr>
        <p:spPr>
          <a:xfrm>
            <a:off x="2514600" y="4069080"/>
            <a:ext cx="1508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Rejani birlashtirish</a:t>
            </a:r>
            <a:endParaRPr lang="en-US" sz="1000" dirty="0"/>
          </a:p>
        </p:txBody>
      </p:sp>
      <p:sp>
        <p:nvSpPr>
          <p:cNvPr id="18" name="Text 16"/>
          <p:cNvSpPr txBox="1"/>
          <p:nvPr/>
        </p:nvSpPr>
        <p:spPr>
          <a:xfrm>
            <a:off x="4114800" y="3429000"/>
            <a:ext cx="182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4297680" y="2468880"/>
            <a:ext cx="1691640" cy="2468880"/>
          </a:xfrm>
          <a:prstGeom prst="roundRect">
            <a:avLst>
              <a:gd name="adj" fmla="val 4324"/>
            </a:avLst>
          </a:prstGeom>
          <a:solidFill>
            <a:srgbClr val="F2F6F9"/>
          </a:solidFill>
          <a:ln/>
        </p:spPr>
      </p:sp>
      <p:sp>
        <p:nvSpPr>
          <p:cNvPr id="20" name="Shape 18"/>
          <p:cNvSpPr/>
          <p:nvPr/>
        </p:nvSpPr>
        <p:spPr>
          <a:xfrm>
            <a:off x="4297680" y="2468880"/>
            <a:ext cx="1691640" cy="82296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21" name="Shape 19"/>
          <p:cNvSpPr/>
          <p:nvPr/>
        </p:nvSpPr>
        <p:spPr>
          <a:xfrm>
            <a:off x="4905756" y="2706624"/>
            <a:ext cx="475488" cy="475488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4905756" y="2706624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23" name="Text 21"/>
          <p:cNvSpPr txBox="1"/>
          <p:nvPr/>
        </p:nvSpPr>
        <p:spPr>
          <a:xfrm>
            <a:off x="4389120" y="3337560"/>
            <a:ext cx="1508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6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Ishni yo‘naltirish</a:t>
            </a:r>
            <a:endParaRPr lang="en-US" sz="1150" dirty="0"/>
          </a:p>
        </p:txBody>
      </p:sp>
      <p:sp>
        <p:nvSpPr>
          <p:cNvPr id="24" name="Text 22"/>
          <p:cNvSpPr txBox="1"/>
          <p:nvPr/>
        </p:nvSpPr>
        <p:spPr>
          <a:xfrm>
            <a:off x="4389120" y="4069080"/>
            <a:ext cx="1508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Bajarish va yetkazib berish</a:t>
            </a:r>
            <a:endParaRPr lang="en-US" sz="1000" dirty="0"/>
          </a:p>
        </p:txBody>
      </p:sp>
      <p:sp>
        <p:nvSpPr>
          <p:cNvPr id="25" name="Text 23"/>
          <p:cNvSpPr txBox="1"/>
          <p:nvPr/>
        </p:nvSpPr>
        <p:spPr>
          <a:xfrm>
            <a:off x="5989320" y="3429000"/>
            <a:ext cx="182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6172200" y="2468880"/>
            <a:ext cx="1691640" cy="2468880"/>
          </a:xfrm>
          <a:prstGeom prst="roundRect">
            <a:avLst>
              <a:gd name="adj" fmla="val 4324"/>
            </a:avLst>
          </a:prstGeom>
          <a:solidFill>
            <a:srgbClr val="F2F6F9"/>
          </a:solidFill>
          <a:ln/>
        </p:spPr>
      </p:sp>
      <p:sp>
        <p:nvSpPr>
          <p:cNvPr id="27" name="Shape 25"/>
          <p:cNvSpPr/>
          <p:nvPr/>
        </p:nvSpPr>
        <p:spPr>
          <a:xfrm>
            <a:off x="6172200" y="2468880"/>
            <a:ext cx="1691640" cy="82296"/>
          </a:xfrm>
          <a:prstGeom prst="rect">
            <a:avLst/>
          </a:prstGeom>
          <a:solidFill>
            <a:srgbClr val="2E7A9E"/>
          </a:solidFill>
          <a:ln/>
        </p:spPr>
      </p:sp>
      <p:sp>
        <p:nvSpPr>
          <p:cNvPr id="28" name="Shape 26"/>
          <p:cNvSpPr/>
          <p:nvPr/>
        </p:nvSpPr>
        <p:spPr>
          <a:xfrm>
            <a:off x="6780276" y="2706624"/>
            <a:ext cx="475488" cy="475488"/>
          </a:xfrm>
          <a:prstGeom prst="ellipse">
            <a:avLst/>
          </a:prstGeom>
          <a:solidFill>
            <a:srgbClr val="2E7A9E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6780276" y="2706624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30" name="Text 28"/>
          <p:cNvSpPr txBox="1"/>
          <p:nvPr/>
        </p:nvSpPr>
        <p:spPr>
          <a:xfrm>
            <a:off x="6263640" y="3337560"/>
            <a:ext cx="1508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6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Monitoring va nazorat</a:t>
            </a:r>
            <a:endParaRPr lang="en-US" sz="1150" dirty="0"/>
          </a:p>
        </p:txBody>
      </p:sp>
      <p:sp>
        <p:nvSpPr>
          <p:cNvPr id="31" name="Text 29"/>
          <p:cNvSpPr txBox="1"/>
          <p:nvPr/>
        </p:nvSpPr>
        <p:spPr>
          <a:xfrm>
            <a:off x="6263640" y="4069080"/>
            <a:ext cx="1508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Samaradorlikni kuzatish</a:t>
            </a:r>
            <a:endParaRPr lang="en-US" sz="1000" dirty="0"/>
          </a:p>
        </p:txBody>
      </p:sp>
      <p:sp>
        <p:nvSpPr>
          <p:cNvPr id="32" name="Text 30"/>
          <p:cNvSpPr txBox="1"/>
          <p:nvPr/>
        </p:nvSpPr>
        <p:spPr>
          <a:xfrm>
            <a:off x="7863840" y="3429000"/>
            <a:ext cx="182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8046720" y="2468880"/>
            <a:ext cx="1691640" cy="2468880"/>
          </a:xfrm>
          <a:prstGeom prst="roundRect">
            <a:avLst>
              <a:gd name="adj" fmla="val 4324"/>
            </a:avLst>
          </a:prstGeom>
          <a:solidFill>
            <a:srgbClr val="F2F6F9"/>
          </a:solidFill>
          <a:ln/>
        </p:spPr>
      </p:sp>
      <p:sp>
        <p:nvSpPr>
          <p:cNvPr id="34" name="Shape 32"/>
          <p:cNvSpPr/>
          <p:nvPr/>
        </p:nvSpPr>
        <p:spPr>
          <a:xfrm>
            <a:off x="8046720" y="2468880"/>
            <a:ext cx="1691640" cy="82296"/>
          </a:xfrm>
          <a:prstGeom prst="rect">
            <a:avLst/>
          </a:prstGeom>
          <a:solidFill>
            <a:srgbClr val="C77A0A"/>
          </a:solidFill>
          <a:ln/>
        </p:spPr>
      </p:sp>
      <p:sp>
        <p:nvSpPr>
          <p:cNvPr id="35" name="Shape 33"/>
          <p:cNvSpPr/>
          <p:nvPr/>
        </p:nvSpPr>
        <p:spPr>
          <a:xfrm>
            <a:off x="8654796" y="2706624"/>
            <a:ext cx="475488" cy="475488"/>
          </a:xfrm>
          <a:prstGeom prst="ellipse">
            <a:avLst/>
          </a:prstGeom>
          <a:solidFill>
            <a:srgbClr val="C77A0A"/>
          </a:solidFill>
          <a:ln/>
        </p:spPr>
      </p:sp>
      <p:sp>
        <p:nvSpPr>
          <p:cNvPr id="36" name="Text 34"/>
          <p:cNvSpPr txBox="1"/>
          <p:nvPr/>
        </p:nvSpPr>
        <p:spPr>
          <a:xfrm>
            <a:off x="8654796" y="2706624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500" dirty="0"/>
          </a:p>
        </p:txBody>
      </p:sp>
      <p:sp>
        <p:nvSpPr>
          <p:cNvPr id="37" name="Text 35"/>
          <p:cNvSpPr txBox="1"/>
          <p:nvPr/>
        </p:nvSpPr>
        <p:spPr>
          <a:xfrm>
            <a:off x="8138160" y="3337560"/>
            <a:ext cx="1508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6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O‘zgarishlarni nazorat</a:t>
            </a:r>
            <a:endParaRPr lang="en-US" sz="1150" dirty="0"/>
          </a:p>
        </p:txBody>
      </p:sp>
      <p:sp>
        <p:nvSpPr>
          <p:cNvPr id="38" name="Text 36"/>
          <p:cNvSpPr txBox="1"/>
          <p:nvPr/>
        </p:nvSpPr>
        <p:spPr>
          <a:xfrm>
            <a:off x="8138160" y="4069080"/>
            <a:ext cx="1508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O‘zgarishlar bo‘yicha qaror</a:t>
            </a:r>
            <a:endParaRPr lang="en-US" sz="1000" dirty="0"/>
          </a:p>
        </p:txBody>
      </p:sp>
      <p:sp>
        <p:nvSpPr>
          <p:cNvPr id="39" name="Text 37"/>
          <p:cNvSpPr txBox="1"/>
          <p:nvPr/>
        </p:nvSpPr>
        <p:spPr>
          <a:xfrm>
            <a:off x="9738360" y="3429000"/>
            <a:ext cx="182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40" name="Shape 38"/>
          <p:cNvSpPr/>
          <p:nvPr/>
        </p:nvSpPr>
        <p:spPr>
          <a:xfrm>
            <a:off x="9921240" y="2468880"/>
            <a:ext cx="1691640" cy="2468880"/>
          </a:xfrm>
          <a:prstGeom prst="roundRect">
            <a:avLst>
              <a:gd name="adj" fmla="val 4324"/>
            </a:avLst>
          </a:prstGeom>
          <a:solidFill>
            <a:srgbClr val="F2F6F9"/>
          </a:solidFill>
          <a:ln/>
        </p:spPr>
      </p:sp>
      <p:sp>
        <p:nvSpPr>
          <p:cNvPr id="41" name="Shape 39"/>
          <p:cNvSpPr/>
          <p:nvPr/>
        </p:nvSpPr>
        <p:spPr>
          <a:xfrm>
            <a:off x="9921240" y="2468880"/>
            <a:ext cx="1691640" cy="82296"/>
          </a:xfrm>
          <a:prstGeom prst="rect">
            <a:avLst/>
          </a:prstGeom>
          <a:solidFill>
            <a:srgbClr val="D98E04"/>
          </a:solidFill>
          <a:ln/>
        </p:spPr>
      </p:sp>
      <p:sp>
        <p:nvSpPr>
          <p:cNvPr id="42" name="Shape 40"/>
          <p:cNvSpPr/>
          <p:nvPr/>
        </p:nvSpPr>
        <p:spPr>
          <a:xfrm>
            <a:off x="10529316" y="2706624"/>
            <a:ext cx="475488" cy="475488"/>
          </a:xfrm>
          <a:prstGeom prst="ellipse">
            <a:avLst/>
          </a:prstGeom>
          <a:solidFill>
            <a:srgbClr val="D98E04"/>
          </a:solidFill>
          <a:ln/>
        </p:spPr>
      </p:sp>
      <p:sp>
        <p:nvSpPr>
          <p:cNvPr id="43" name="Text 41"/>
          <p:cNvSpPr txBox="1"/>
          <p:nvPr/>
        </p:nvSpPr>
        <p:spPr>
          <a:xfrm>
            <a:off x="10529316" y="2706624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500" dirty="0"/>
          </a:p>
        </p:txBody>
      </p:sp>
      <p:sp>
        <p:nvSpPr>
          <p:cNvPr id="44" name="Text 42"/>
          <p:cNvSpPr txBox="1"/>
          <p:nvPr/>
        </p:nvSpPr>
        <p:spPr>
          <a:xfrm>
            <a:off x="10012680" y="3337560"/>
            <a:ext cx="1508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6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Loyihani yakunlash</a:t>
            </a:r>
            <a:endParaRPr lang="en-US" sz="1150" dirty="0"/>
          </a:p>
        </p:txBody>
      </p:sp>
      <p:sp>
        <p:nvSpPr>
          <p:cNvPr id="45" name="Text 43"/>
          <p:cNvSpPr txBox="1"/>
          <p:nvPr/>
        </p:nvSpPr>
        <p:spPr>
          <a:xfrm>
            <a:off x="10012680" y="4069080"/>
            <a:ext cx="1508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Yakunlash va topshirish</a:t>
            </a:r>
            <a:endParaRPr lang="en-US" sz="1000" dirty="0"/>
          </a:p>
        </p:txBody>
      </p:sp>
      <p:sp>
        <p:nvSpPr>
          <p:cNvPr id="46" name="Text 44"/>
          <p:cNvSpPr txBox="1"/>
          <p:nvPr/>
        </p:nvSpPr>
        <p:spPr>
          <a:xfrm>
            <a:off x="11274552" y="635508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D98E0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3.3 · LOYIHANI BOSHLASH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77240"/>
            <a:ext cx="10789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623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Loyiha ustavini ishlab chiqish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10789920" cy="1417320"/>
          </a:xfrm>
          <a:prstGeom prst="roundRect">
            <a:avLst>
              <a:gd name="adj" fmla="val 4516"/>
            </a:avLst>
          </a:prstGeom>
          <a:solidFill>
            <a:srgbClr val="0B1F3A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1600200"/>
            <a:ext cx="82296" cy="1417320"/>
          </a:xfrm>
          <a:prstGeom prst="rect">
            <a:avLst/>
          </a:prstGeom>
          <a:solidFill>
            <a:srgbClr val="D98E04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68680" y="1737360"/>
            <a:ext cx="101498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“Loyiha tashabbuskori yoki homiysi tomonidan chiqarilgan, loyihaning mavjudligini rasmiy tasdiqlaydigan va loyiha menejeriga tashkiliy resurslarni loyiha faoliyatiga qo‘llash vakolatini beruvchi hujjat.”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868680" y="278892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FB6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PMBOK® qo‘llanmasi, 4.1.3.1-bo‘lim</a:t>
            </a:r>
            <a:endParaRPr lang="en-US" sz="105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3291840"/>
            <a:ext cx="10789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Asosiy foydalari: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548640" y="3794760"/>
            <a:ext cx="3520440" cy="1508760"/>
          </a:xfrm>
          <a:prstGeom prst="roundRect">
            <a:avLst>
              <a:gd name="adj" fmla="val 4242"/>
            </a:avLst>
          </a:prstGeom>
          <a:solidFill>
            <a:srgbClr val="F2F6F9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749808" y="3794760"/>
            <a:ext cx="3118104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6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Loyihani to‘g‘ridan-to‘g‘ri tashkilot strategiyasi bilan bog‘laydi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4325112" y="3794760"/>
            <a:ext cx="3520440" cy="1508760"/>
          </a:xfrm>
          <a:prstGeom prst="roundRect">
            <a:avLst>
              <a:gd name="adj" fmla="val 4242"/>
            </a:avLst>
          </a:prstGeom>
          <a:solidFill>
            <a:srgbClr val="F2F6F9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4526280" y="3794760"/>
            <a:ext cx="3118104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6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Loyihaning rasmiy, hujjatlashtirilgan yozuvini yaratadi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8101584" y="3794760"/>
            <a:ext cx="3520440" cy="1508760"/>
          </a:xfrm>
          <a:prstGeom prst="roundRect">
            <a:avLst>
              <a:gd name="adj" fmla="val 4242"/>
            </a:avLst>
          </a:prstGeom>
          <a:solidFill>
            <a:srgbClr val="F2F6F9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8302752" y="3794760"/>
            <a:ext cx="3118104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6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Tashkilotning oldindagi ishga sodiqligini bildiradi</a:t>
            </a:r>
            <a:endParaRPr lang="en-US" sz="1250" dirty="0"/>
          </a:p>
        </p:txBody>
      </p:sp>
      <p:sp>
        <p:nvSpPr>
          <p:cNvPr id="15" name="Text 13"/>
          <p:cNvSpPr txBox="1"/>
          <p:nvPr/>
        </p:nvSpPr>
        <p:spPr>
          <a:xfrm>
            <a:off x="11274552" y="635508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D98E0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3.3 · LOYIHANI BOSHLASH (DAVOMI)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77240"/>
            <a:ext cx="10789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623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Loyiha ustaviga nimalar kiritiladi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5349240" cy="4709160"/>
          </a:xfrm>
          <a:prstGeom prst="roundRect">
            <a:avLst>
              <a:gd name="adj" fmla="val 1553"/>
            </a:avLst>
          </a:prstGeom>
          <a:solidFill>
            <a:srgbClr val="F2F6F9"/>
          </a:solidFill>
          <a:ln/>
        </p:spPr>
      </p:sp>
      <p:sp>
        <p:nvSpPr>
          <p:cNvPr id="5" name="Shape 3"/>
          <p:cNvSpPr/>
          <p:nvPr/>
        </p:nvSpPr>
        <p:spPr>
          <a:xfrm>
            <a:off x="822960" y="2075688"/>
            <a:ext cx="137160" cy="13716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097280" y="1920240"/>
            <a:ext cx="4526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6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Loyiha maqsadi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822960" y="2788920"/>
            <a:ext cx="137160" cy="13716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1097280" y="2633472"/>
            <a:ext cx="4526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6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O‘lchanadigan maqsadlar va muvaffaqiyat mezonlari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822960" y="3502152"/>
            <a:ext cx="137160" cy="13716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1097280" y="3346704"/>
            <a:ext cx="4526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6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Yuqori darajadagi talablar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822960" y="4215384"/>
            <a:ext cx="137160" cy="13716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1097280" y="4059936"/>
            <a:ext cx="4526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6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Loyiha tavsifi, chegaralari va asosiy natijalar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822960" y="4928616"/>
            <a:ext cx="137160" cy="13716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1097280" y="4773168"/>
            <a:ext cx="4526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6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Loyihaning umumiy xavfi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822960" y="5641848"/>
            <a:ext cx="137160" cy="13716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1097280" y="5486400"/>
            <a:ext cx="4526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6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Muhim bosqichlar jadvali xulosasi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6172200" y="1691640"/>
            <a:ext cx="5349240" cy="4709160"/>
          </a:xfrm>
          <a:prstGeom prst="roundRect">
            <a:avLst>
              <a:gd name="adj" fmla="val 1553"/>
            </a:avLst>
          </a:prstGeom>
          <a:solidFill>
            <a:srgbClr val="F2F6F9"/>
          </a:solidFill>
          <a:ln/>
        </p:spPr>
      </p:sp>
      <p:sp>
        <p:nvSpPr>
          <p:cNvPr id="18" name="Shape 16"/>
          <p:cNvSpPr/>
          <p:nvPr/>
        </p:nvSpPr>
        <p:spPr>
          <a:xfrm>
            <a:off x="6446520" y="2075688"/>
            <a:ext cx="137160" cy="137160"/>
          </a:xfrm>
          <a:prstGeom prst="ellipse">
            <a:avLst/>
          </a:prstGeom>
          <a:solidFill>
            <a:srgbClr val="D98E04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6720840" y="1920240"/>
            <a:ext cx="4526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6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Oldindan tasdiqlangan moliyaviy resurslar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6446520" y="2788920"/>
            <a:ext cx="137160" cy="137160"/>
          </a:xfrm>
          <a:prstGeom prst="ellipse">
            <a:avLst/>
          </a:prstGeom>
          <a:solidFill>
            <a:srgbClr val="D98E04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6720840" y="2633472"/>
            <a:ext cx="4526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6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Asosiy manfaatdor tomonlar ro‘yxati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6446520" y="3502152"/>
            <a:ext cx="137160" cy="137160"/>
          </a:xfrm>
          <a:prstGeom prst="ellipse">
            <a:avLst/>
          </a:prstGeom>
          <a:solidFill>
            <a:srgbClr val="D98E04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6720840" y="3346704"/>
            <a:ext cx="4526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6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Loyihani tasdiqlash talablari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6446520" y="4215384"/>
            <a:ext cx="137160" cy="137160"/>
          </a:xfrm>
          <a:prstGeom prst="ellipse">
            <a:avLst/>
          </a:prstGeom>
          <a:solidFill>
            <a:srgbClr val="D98E04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6720840" y="4059936"/>
            <a:ext cx="4526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6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Loyihadan chiqish mezonlari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6446520" y="4928616"/>
            <a:ext cx="137160" cy="137160"/>
          </a:xfrm>
          <a:prstGeom prst="ellipse">
            <a:avLst/>
          </a:prstGeom>
          <a:solidFill>
            <a:srgbClr val="D98E04"/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6720840" y="4773168"/>
            <a:ext cx="4526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6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Tayinlangan loyiha menejeri va vakolat darajasi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6446520" y="5641848"/>
            <a:ext cx="137160" cy="137160"/>
          </a:xfrm>
          <a:prstGeom prst="ellipse">
            <a:avLst/>
          </a:prstGeom>
          <a:solidFill>
            <a:srgbClr val="D98E04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6720840" y="5486400"/>
            <a:ext cx="4526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6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Homiyning nomi va vakolati</a:t>
            </a:r>
            <a:endParaRPr lang="en-US" sz="1300" dirty="0"/>
          </a:p>
        </p:txBody>
      </p:sp>
      <p:sp>
        <p:nvSpPr>
          <p:cNvPr id="30" name="Text 28"/>
          <p:cNvSpPr txBox="1"/>
          <p:nvPr/>
        </p:nvSpPr>
        <p:spPr>
          <a:xfrm>
            <a:off x="11274552" y="635508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463040" y="4206240"/>
            <a:ext cx="5029200" cy="5029200"/>
          </a:xfrm>
          <a:prstGeom prst="ellipse">
            <a:avLst/>
          </a:prstGeom>
          <a:solidFill>
            <a:srgbClr val="065A82">
              <a:alpha val="40000"/>
            </a:srgbClr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457200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D98E0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HAYOTIY MISOL · O‘ZBEKISTON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777240"/>
            <a:ext cx="10789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Amaliy misol: “Silk Road Samarkand” uchun ustav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48640" y="1828800"/>
            <a:ext cx="11064240" cy="768096"/>
          </a:xfrm>
          <a:prstGeom prst="roundRect">
            <a:avLst>
              <a:gd name="adj" fmla="val 7143"/>
            </a:avLst>
          </a:prstGeom>
          <a:solidFill>
            <a:srgbClr val="12345C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22960" y="1828800"/>
            <a:ext cx="274320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98E0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Maqsad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3657600" y="1828800"/>
            <a:ext cx="777240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4EC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Samarqandning xalqaro miqyosdagi ko‘rinishini oshirish uchun Markaziy Osiyodagi eng yirik turizm majmuasini qurish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548640" y="2724912"/>
            <a:ext cx="11064240" cy="768096"/>
          </a:xfrm>
          <a:prstGeom prst="roundRect">
            <a:avLst>
              <a:gd name="adj" fmla="val 7143"/>
            </a:avLst>
          </a:prstGeom>
          <a:solidFill>
            <a:srgbClr val="12345C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822960" y="2724912"/>
            <a:ext cx="274320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98E0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Asosiy natijalar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3657600" y="2724912"/>
            <a:ext cx="777240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4EC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mehmonxona, “Eternal City” madaniy parki, kongress markazi, ekoqishloq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548640" y="3621024"/>
            <a:ext cx="11064240" cy="768096"/>
          </a:xfrm>
          <a:prstGeom prst="roundRect">
            <a:avLst>
              <a:gd name="adj" fmla="val 7143"/>
            </a:avLst>
          </a:prstGeom>
          <a:solidFill>
            <a:srgbClr val="12345C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822960" y="3621024"/>
            <a:ext cx="274320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98E0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Muhim bosqichlar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3657600" y="3621024"/>
            <a:ext cx="777240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4EC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2019 yilda qurilish boshlangan → 2022 yil sentyabrda ochilgan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548640" y="4517136"/>
            <a:ext cx="11064240" cy="768096"/>
          </a:xfrm>
          <a:prstGeom prst="roundRect">
            <a:avLst>
              <a:gd name="adj" fmla="val 7143"/>
            </a:avLst>
          </a:prstGeom>
          <a:solidFill>
            <a:srgbClr val="12345C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822960" y="4517136"/>
            <a:ext cx="274320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98E0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Oldindan tasdiqlangan resurslar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3657600" y="4517136"/>
            <a:ext cx="777240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4EC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580 million dollarlik xususiy investitsiya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548640" y="5413248"/>
            <a:ext cx="11064240" cy="768096"/>
          </a:xfrm>
          <a:prstGeom prst="roundRect">
            <a:avLst>
              <a:gd name="adj" fmla="val 7143"/>
            </a:avLst>
          </a:prstGeom>
          <a:solidFill>
            <a:srgbClr val="12345C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822960" y="5413248"/>
            <a:ext cx="274320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98E0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Homiy vakolati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3657600" y="5413248"/>
            <a:ext cx="777240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4EC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Milliy darajada qo‘llab-quvvatlangan, mintaqaviy hokimiyat hamkorligida</a:t>
            </a:r>
            <a:endParaRPr lang="en-US" sz="1250" dirty="0"/>
          </a:p>
        </p:txBody>
      </p:sp>
      <p:sp>
        <p:nvSpPr>
          <p:cNvPr id="20" name="Text 18"/>
          <p:cNvSpPr txBox="1"/>
          <p:nvPr/>
        </p:nvSpPr>
        <p:spPr>
          <a:xfrm>
            <a:off x="11274552" y="635508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D98E0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3.4 · LOYIHANI REJALASHTIRISH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77240"/>
            <a:ext cx="10789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623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Loyihani boshqarish rejasini ishlab chiqish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600200"/>
            <a:ext cx="10789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450" dirty="0">
                <a:solidFill>
                  <a:srgbClr val="16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Loyihani boshqarish rejasi loyiha qanday bajarilishi, monitoring qilinishi, nazorat qilinishi va yakunlanishini belgilaydi. U barcha yordamchi rejalarni bitta yaxlit hujjatga birlashtiradi.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548640" y="2788920"/>
            <a:ext cx="10789920" cy="2331720"/>
          </a:xfrm>
          <a:prstGeom prst="roundRect">
            <a:avLst>
              <a:gd name="adj" fmla="val 3529"/>
            </a:avLst>
          </a:prstGeom>
          <a:solidFill>
            <a:srgbClr val="0B1F3A"/>
          </a:solidFill>
          <a:ln/>
        </p:spPr>
      </p:sp>
      <p:sp>
        <p:nvSpPr>
          <p:cNvPr id="6" name="Shape 4"/>
          <p:cNvSpPr/>
          <p:nvPr/>
        </p:nvSpPr>
        <p:spPr>
          <a:xfrm>
            <a:off x="548640" y="2788920"/>
            <a:ext cx="91440" cy="2331720"/>
          </a:xfrm>
          <a:prstGeom prst="rect">
            <a:avLst/>
          </a:prstGeom>
          <a:solidFill>
            <a:srgbClr val="D98E04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914400" y="301752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D98E0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Bazaviy chiziq qoidasi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914400" y="3566160"/>
            <a:ext cx="996696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450" dirty="0">
                <a:solidFill>
                  <a:srgbClr val="E4EC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Bazaviy chiziqlar belgilanmagunicha, reja erkin yangilanishi mumkin. Hajm, jadval va xarajat bazaviy chiziqqa o‘rnatilgach, o‘zgarishlar faqat rasmiy Integratsiyalashgan O‘zgarishlarni Nazorat qilish jarayoni orqali amalga oshirilishi mumkin.</a:t>
            </a:r>
            <a:endParaRPr lang="en-US" sz="1450" dirty="0"/>
          </a:p>
        </p:txBody>
      </p:sp>
      <p:sp>
        <p:nvSpPr>
          <p:cNvPr id="9" name="Text 7"/>
          <p:cNvSpPr txBox="1"/>
          <p:nvPr/>
        </p:nvSpPr>
        <p:spPr>
          <a:xfrm>
            <a:off x="11274552" y="635508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D98E0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3.4 · LOYIHANI REJALASHTIRISH (DAVOMI)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77240"/>
            <a:ext cx="10789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623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O‘nta yordamchi boshqaruv rejasi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5349240" cy="786384"/>
          </a:xfrm>
          <a:prstGeom prst="roundRect">
            <a:avLst>
              <a:gd name="adj" fmla="val 8140"/>
            </a:avLst>
          </a:prstGeom>
          <a:solidFill>
            <a:srgbClr val="F2F6F9"/>
          </a:solidFill>
          <a:ln/>
        </p:spPr>
      </p:sp>
      <p:sp>
        <p:nvSpPr>
          <p:cNvPr id="5" name="Shape 3"/>
          <p:cNvSpPr/>
          <p:nvPr/>
        </p:nvSpPr>
        <p:spPr>
          <a:xfrm>
            <a:off x="749808" y="1911096"/>
            <a:ext cx="347472" cy="347472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49808" y="191109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1234440" y="1691640"/>
            <a:ext cx="443484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6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Hajmni boshqarish rejasi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172200" y="1691640"/>
            <a:ext cx="5349240" cy="786384"/>
          </a:xfrm>
          <a:prstGeom prst="roundRect">
            <a:avLst>
              <a:gd name="adj" fmla="val 8140"/>
            </a:avLst>
          </a:prstGeom>
          <a:solidFill>
            <a:srgbClr val="F2F6F9"/>
          </a:solidFill>
          <a:ln/>
        </p:spPr>
      </p:sp>
      <p:sp>
        <p:nvSpPr>
          <p:cNvPr id="9" name="Shape 7"/>
          <p:cNvSpPr/>
          <p:nvPr/>
        </p:nvSpPr>
        <p:spPr>
          <a:xfrm>
            <a:off x="6373368" y="1911096"/>
            <a:ext cx="347472" cy="347472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6373368" y="191109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6858000" y="1691640"/>
            <a:ext cx="443484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6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Talablarni boshqarish rejasi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48640" y="2660904"/>
            <a:ext cx="5349240" cy="786384"/>
          </a:xfrm>
          <a:prstGeom prst="roundRect">
            <a:avLst>
              <a:gd name="adj" fmla="val 8140"/>
            </a:avLst>
          </a:prstGeom>
          <a:solidFill>
            <a:srgbClr val="F2F6F9"/>
          </a:solidFill>
          <a:ln/>
        </p:spPr>
      </p:sp>
      <p:sp>
        <p:nvSpPr>
          <p:cNvPr id="13" name="Shape 11"/>
          <p:cNvSpPr/>
          <p:nvPr/>
        </p:nvSpPr>
        <p:spPr>
          <a:xfrm>
            <a:off x="749808" y="2880360"/>
            <a:ext cx="347472" cy="347472"/>
          </a:xfrm>
          <a:prstGeom prst="ellipse">
            <a:avLst/>
          </a:prstGeom>
          <a:solidFill>
            <a:srgbClr val="D98E04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749808" y="288036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1234440" y="2660904"/>
            <a:ext cx="443484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6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Jadvalni boshqarish rejasi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172200" y="2660904"/>
            <a:ext cx="5349240" cy="786384"/>
          </a:xfrm>
          <a:prstGeom prst="roundRect">
            <a:avLst>
              <a:gd name="adj" fmla="val 8140"/>
            </a:avLst>
          </a:prstGeom>
          <a:solidFill>
            <a:srgbClr val="F2F6F9"/>
          </a:solidFill>
          <a:ln/>
        </p:spPr>
      </p:sp>
      <p:sp>
        <p:nvSpPr>
          <p:cNvPr id="17" name="Shape 15"/>
          <p:cNvSpPr/>
          <p:nvPr/>
        </p:nvSpPr>
        <p:spPr>
          <a:xfrm>
            <a:off x="6373368" y="2880360"/>
            <a:ext cx="347472" cy="347472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6373368" y="288036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6858000" y="2660904"/>
            <a:ext cx="443484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6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Xarajatni boshqarish rejasi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548640" y="3630168"/>
            <a:ext cx="5349240" cy="786384"/>
          </a:xfrm>
          <a:prstGeom prst="roundRect">
            <a:avLst>
              <a:gd name="adj" fmla="val 8140"/>
            </a:avLst>
          </a:prstGeom>
          <a:solidFill>
            <a:srgbClr val="F2F6F9"/>
          </a:solidFill>
          <a:ln/>
        </p:spPr>
      </p:sp>
      <p:sp>
        <p:nvSpPr>
          <p:cNvPr id="21" name="Shape 19"/>
          <p:cNvSpPr/>
          <p:nvPr/>
        </p:nvSpPr>
        <p:spPr>
          <a:xfrm>
            <a:off x="749808" y="3849624"/>
            <a:ext cx="347472" cy="347472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749808" y="384962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23" name="Text 21"/>
          <p:cNvSpPr txBox="1"/>
          <p:nvPr/>
        </p:nvSpPr>
        <p:spPr>
          <a:xfrm>
            <a:off x="1234440" y="3630168"/>
            <a:ext cx="443484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6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Sifatni boshqarish rejasi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6172200" y="3630168"/>
            <a:ext cx="5349240" cy="786384"/>
          </a:xfrm>
          <a:prstGeom prst="roundRect">
            <a:avLst>
              <a:gd name="adj" fmla="val 8140"/>
            </a:avLst>
          </a:prstGeom>
          <a:solidFill>
            <a:srgbClr val="F2F6F9"/>
          </a:solidFill>
          <a:ln/>
        </p:spPr>
      </p:sp>
      <p:sp>
        <p:nvSpPr>
          <p:cNvPr id="25" name="Shape 23"/>
          <p:cNvSpPr/>
          <p:nvPr/>
        </p:nvSpPr>
        <p:spPr>
          <a:xfrm>
            <a:off x="6373368" y="3849624"/>
            <a:ext cx="347472" cy="347472"/>
          </a:xfrm>
          <a:prstGeom prst="ellipse">
            <a:avLst/>
          </a:prstGeom>
          <a:solidFill>
            <a:srgbClr val="D98E04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6373368" y="384962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300" dirty="0"/>
          </a:p>
        </p:txBody>
      </p:sp>
      <p:sp>
        <p:nvSpPr>
          <p:cNvPr id="27" name="Text 25"/>
          <p:cNvSpPr txBox="1"/>
          <p:nvPr/>
        </p:nvSpPr>
        <p:spPr>
          <a:xfrm>
            <a:off x="6858000" y="3630168"/>
            <a:ext cx="443484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6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Resurslarni boshqarish rejasi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548640" y="4599432"/>
            <a:ext cx="5349240" cy="786384"/>
          </a:xfrm>
          <a:prstGeom prst="roundRect">
            <a:avLst>
              <a:gd name="adj" fmla="val 8140"/>
            </a:avLst>
          </a:prstGeom>
          <a:solidFill>
            <a:srgbClr val="F2F6F9"/>
          </a:solidFill>
          <a:ln/>
        </p:spPr>
      </p:sp>
      <p:sp>
        <p:nvSpPr>
          <p:cNvPr id="29" name="Shape 27"/>
          <p:cNvSpPr/>
          <p:nvPr/>
        </p:nvSpPr>
        <p:spPr>
          <a:xfrm>
            <a:off x="749808" y="4818888"/>
            <a:ext cx="347472" cy="347472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30" name="Text 28"/>
          <p:cNvSpPr txBox="1"/>
          <p:nvPr/>
        </p:nvSpPr>
        <p:spPr>
          <a:xfrm>
            <a:off x="749808" y="481888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300" dirty="0"/>
          </a:p>
        </p:txBody>
      </p:sp>
      <p:sp>
        <p:nvSpPr>
          <p:cNvPr id="31" name="Text 29"/>
          <p:cNvSpPr txBox="1"/>
          <p:nvPr/>
        </p:nvSpPr>
        <p:spPr>
          <a:xfrm>
            <a:off x="1234440" y="4599432"/>
            <a:ext cx="443484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6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Kommunikatsiyalarni boshqarish rejasi</a:t>
            </a:r>
            <a:endParaRPr lang="en-US" sz="1300" dirty="0"/>
          </a:p>
        </p:txBody>
      </p:sp>
      <p:sp>
        <p:nvSpPr>
          <p:cNvPr id="32" name="Shape 30"/>
          <p:cNvSpPr/>
          <p:nvPr/>
        </p:nvSpPr>
        <p:spPr>
          <a:xfrm>
            <a:off x="6172200" y="4599432"/>
            <a:ext cx="5349240" cy="786384"/>
          </a:xfrm>
          <a:prstGeom prst="roundRect">
            <a:avLst>
              <a:gd name="adj" fmla="val 8140"/>
            </a:avLst>
          </a:prstGeom>
          <a:solidFill>
            <a:srgbClr val="F2F6F9"/>
          </a:solidFill>
          <a:ln/>
        </p:spPr>
      </p:sp>
      <p:sp>
        <p:nvSpPr>
          <p:cNvPr id="33" name="Shape 31"/>
          <p:cNvSpPr/>
          <p:nvPr/>
        </p:nvSpPr>
        <p:spPr>
          <a:xfrm>
            <a:off x="6373368" y="4818888"/>
            <a:ext cx="347472" cy="347472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34" name="Text 32"/>
          <p:cNvSpPr txBox="1"/>
          <p:nvPr/>
        </p:nvSpPr>
        <p:spPr>
          <a:xfrm>
            <a:off x="6373368" y="481888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300" dirty="0"/>
          </a:p>
        </p:txBody>
      </p:sp>
      <p:sp>
        <p:nvSpPr>
          <p:cNvPr id="35" name="Text 33"/>
          <p:cNvSpPr txBox="1"/>
          <p:nvPr/>
        </p:nvSpPr>
        <p:spPr>
          <a:xfrm>
            <a:off x="6858000" y="4599432"/>
            <a:ext cx="443484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6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Xavflarni boshqarish rejasi</a:t>
            </a:r>
            <a:endParaRPr lang="en-US" sz="1300" dirty="0"/>
          </a:p>
        </p:txBody>
      </p:sp>
      <p:sp>
        <p:nvSpPr>
          <p:cNvPr id="36" name="Shape 34"/>
          <p:cNvSpPr/>
          <p:nvPr/>
        </p:nvSpPr>
        <p:spPr>
          <a:xfrm>
            <a:off x="548640" y="5568696"/>
            <a:ext cx="5349240" cy="786384"/>
          </a:xfrm>
          <a:prstGeom prst="roundRect">
            <a:avLst>
              <a:gd name="adj" fmla="val 8140"/>
            </a:avLst>
          </a:prstGeom>
          <a:solidFill>
            <a:srgbClr val="F2F6F9"/>
          </a:solidFill>
          <a:ln/>
        </p:spPr>
      </p:sp>
      <p:sp>
        <p:nvSpPr>
          <p:cNvPr id="37" name="Shape 35"/>
          <p:cNvSpPr/>
          <p:nvPr/>
        </p:nvSpPr>
        <p:spPr>
          <a:xfrm>
            <a:off x="749808" y="5788152"/>
            <a:ext cx="347472" cy="347472"/>
          </a:xfrm>
          <a:prstGeom prst="ellipse">
            <a:avLst/>
          </a:prstGeom>
          <a:solidFill>
            <a:srgbClr val="D98E04"/>
          </a:solidFill>
          <a:ln/>
        </p:spPr>
      </p:sp>
      <p:sp>
        <p:nvSpPr>
          <p:cNvPr id="38" name="Text 36"/>
          <p:cNvSpPr txBox="1"/>
          <p:nvPr/>
        </p:nvSpPr>
        <p:spPr>
          <a:xfrm>
            <a:off x="749808" y="578815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300" dirty="0"/>
          </a:p>
        </p:txBody>
      </p:sp>
      <p:sp>
        <p:nvSpPr>
          <p:cNvPr id="39" name="Text 37"/>
          <p:cNvSpPr txBox="1"/>
          <p:nvPr/>
        </p:nvSpPr>
        <p:spPr>
          <a:xfrm>
            <a:off x="1234440" y="5568696"/>
            <a:ext cx="443484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6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Xarid qilishni boshqarish rejasi</a:t>
            </a:r>
            <a:endParaRPr lang="en-US" sz="1300" dirty="0"/>
          </a:p>
        </p:txBody>
      </p:sp>
      <p:sp>
        <p:nvSpPr>
          <p:cNvPr id="40" name="Shape 38"/>
          <p:cNvSpPr/>
          <p:nvPr/>
        </p:nvSpPr>
        <p:spPr>
          <a:xfrm>
            <a:off x="6172200" y="5568696"/>
            <a:ext cx="5349240" cy="786384"/>
          </a:xfrm>
          <a:prstGeom prst="roundRect">
            <a:avLst>
              <a:gd name="adj" fmla="val 8140"/>
            </a:avLst>
          </a:prstGeom>
          <a:solidFill>
            <a:srgbClr val="F2F6F9"/>
          </a:solidFill>
          <a:ln/>
        </p:spPr>
      </p:sp>
      <p:sp>
        <p:nvSpPr>
          <p:cNvPr id="41" name="Shape 39"/>
          <p:cNvSpPr/>
          <p:nvPr/>
        </p:nvSpPr>
        <p:spPr>
          <a:xfrm>
            <a:off x="6373368" y="5788152"/>
            <a:ext cx="347472" cy="347472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42" name="Text 40"/>
          <p:cNvSpPr txBox="1"/>
          <p:nvPr/>
        </p:nvSpPr>
        <p:spPr>
          <a:xfrm>
            <a:off x="6373368" y="578815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300" dirty="0"/>
          </a:p>
        </p:txBody>
      </p:sp>
      <p:sp>
        <p:nvSpPr>
          <p:cNvPr id="43" name="Text 41"/>
          <p:cNvSpPr txBox="1"/>
          <p:nvPr/>
        </p:nvSpPr>
        <p:spPr>
          <a:xfrm>
            <a:off x="6858000" y="5568696"/>
            <a:ext cx="443484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6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Manfaatdor tomonlar bilan ishlash rejasi</a:t>
            </a:r>
            <a:endParaRPr lang="en-US" sz="1300" dirty="0"/>
          </a:p>
        </p:txBody>
      </p:sp>
      <p:sp>
        <p:nvSpPr>
          <p:cNvPr id="44" name="Text 42"/>
          <p:cNvSpPr txBox="1"/>
          <p:nvPr/>
        </p:nvSpPr>
        <p:spPr>
          <a:xfrm>
            <a:off x="11274552" y="635508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D98E0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3.4 · LOYIHANI REJALASHTIRISH (DAVOMI)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77240"/>
            <a:ext cx="10789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623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Bazaviy chiziqlar va qo‘shimcha elementlar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5349240" cy="4480560"/>
          </a:xfrm>
          <a:prstGeom prst="roundRect">
            <a:avLst>
              <a:gd name="adj" fmla="val 1633"/>
            </a:avLst>
          </a:prstGeom>
          <a:solidFill>
            <a:srgbClr val="F2F6F9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777240" y="1965960"/>
            <a:ext cx="4892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Uchta bazaviy chiziq</a:t>
            </a:r>
            <a:endParaRPr lang="en-US" sz="1550" dirty="0"/>
          </a:p>
        </p:txBody>
      </p:sp>
      <p:sp>
        <p:nvSpPr>
          <p:cNvPr id="6" name="Shape 4"/>
          <p:cNvSpPr/>
          <p:nvPr/>
        </p:nvSpPr>
        <p:spPr>
          <a:xfrm>
            <a:off x="777240" y="2606040"/>
            <a:ext cx="4892040" cy="82296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DCE4EA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005840" y="2606040"/>
            <a:ext cx="4434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6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Hajm bazaviy chizig‘i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777240" y="3657600"/>
            <a:ext cx="4892040" cy="82296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DCE4EA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1005840" y="3657600"/>
            <a:ext cx="4434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6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Jadval bazaviy chizig‘i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777240" y="4709160"/>
            <a:ext cx="4892040" cy="82296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DCE4EA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1005840" y="4709160"/>
            <a:ext cx="4434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6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Xarajat bazaviy chizig‘i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6172200" y="1737360"/>
            <a:ext cx="5349240" cy="4480560"/>
          </a:xfrm>
          <a:prstGeom prst="roundRect">
            <a:avLst>
              <a:gd name="adj" fmla="val 1633"/>
            </a:avLst>
          </a:prstGeom>
          <a:solidFill>
            <a:srgbClr val="F2F6F9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6400800" y="1965960"/>
            <a:ext cx="4892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D98E0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Qo‘shimcha elementlar</a:t>
            </a:r>
            <a:endParaRPr lang="en-US" sz="1550" dirty="0"/>
          </a:p>
        </p:txBody>
      </p:sp>
      <p:sp>
        <p:nvSpPr>
          <p:cNvPr id="14" name="Shape 12"/>
          <p:cNvSpPr/>
          <p:nvPr/>
        </p:nvSpPr>
        <p:spPr>
          <a:xfrm>
            <a:off x="6446520" y="2615184"/>
            <a:ext cx="118872" cy="118872"/>
          </a:xfrm>
          <a:prstGeom prst="ellipse">
            <a:avLst/>
          </a:prstGeom>
          <a:solidFill>
            <a:srgbClr val="D98E04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6675120" y="2468880"/>
            <a:ext cx="4572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6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O‘zgarishlarni boshqarish rejasi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446520" y="3273552"/>
            <a:ext cx="118872" cy="118872"/>
          </a:xfrm>
          <a:prstGeom prst="ellipse">
            <a:avLst/>
          </a:prstGeom>
          <a:solidFill>
            <a:srgbClr val="D98E04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6675120" y="3127248"/>
            <a:ext cx="4572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6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Konfiguratsiyani boshqarish rejasi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6446520" y="3931920"/>
            <a:ext cx="118872" cy="118872"/>
          </a:xfrm>
          <a:prstGeom prst="ellipse">
            <a:avLst/>
          </a:prstGeom>
          <a:solidFill>
            <a:srgbClr val="D98E04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6675120" y="3785616"/>
            <a:ext cx="4572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6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Samaradorlikni o‘lchash bazaviy chizig‘i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6446520" y="4590288"/>
            <a:ext cx="118872" cy="118872"/>
          </a:xfrm>
          <a:prstGeom prst="ellipse">
            <a:avLst/>
          </a:prstGeom>
          <a:solidFill>
            <a:srgbClr val="D98E04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6675120" y="4443984"/>
            <a:ext cx="4572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6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Loyiha hayot sikli tavsifi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6446520" y="5248656"/>
            <a:ext cx="118872" cy="118872"/>
          </a:xfrm>
          <a:prstGeom prst="ellipse">
            <a:avLst/>
          </a:prstGeom>
          <a:solidFill>
            <a:srgbClr val="D98E04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6675120" y="5102352"/>
            <a:ext cx="4572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6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Rivojlantirish yondashuvi</a:t>
            </a:r>
            <a:endParaRPr lang="en-US" sz="1250" dirty="0"/>
          </a:p>
        </p:txBody>
      </p:sp>
      <p:sp>
        <p:nvSpPr>
          <p:cNvPr id="24" name="Text 22"/>
          <p:cNvSpPr txBox="1"/>
          <p:nvPr/>
        </p:nvSpPr>
        <p:spPr>
          <a:xfrm>
            <a:off x="11274552" y="635508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D98E0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3.5 · REJANI AMALGA OSHIRISH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77240"/>
            <a:ext cx="10789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623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Ishni yo‘naltirish va boshqarish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508760"/>
            <a:ext cx="10789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 bosqichda reja haqiqatga aylanadi: jamoani yetaklash, resurslarni taqsimlash va loyiha natijalarini yaratish uchun tasdiqlangan o‘zgarishlarni amalga oshirish.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2286000"/>
            <a:ext cx="10789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Asosiy natijalar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48640" y="2743200"/>
            <a:ext cx="2606040" cy="2423160"/>
          </a:xfrm>
          <a:prstGeom prst="roundRect">
            <a:avLst>
              <a:gd name="adj" fmla="val 3019"/>
            </a:avLst>
          </a:prstGeom>
          <a:solidFill>
            <a:srgbClr val="F2F6F9"/>
          </a:solidFill>
          <a:ln/>
        </p:spPr>
      </p:sp>
      <p:sp>
        <p:nvSpPr>
          <p:cNvPr id="7" name="Shape 5"/>
          <p:cNvSpPr/>
          <p:nvPr/>
        </p:nvSpPr>
        <p:spPr>
          <a:xfrm>
            <a:off x="548640" y="2743200"/>
            <a:ext cx="2606040" cy="73152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713232" y="2944368"/>
            <a:ext cx="22768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6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Natijalar (deliverables)</a:t>
            </a:r>
            <a:endParaRPr lang="en-US" sz="1350" dirty="0"/>
          </a:p>
        </p:txBody>
      </p:sp>
      <p:sp>
        <p:nvSpPr>
          <p:cNvPr id="9" name="Text 7"/>
          <p:cNvSpPr txBox="1"/>
          <p:nvPr/>
        </p:nvSpPr>
        <p:spPr>
          <a:xfrm>
            <a:off x="713232" y="3520440"/>
            <a:ext cx="2276856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Loyiha yaratish uchun vakolat berilgan tekshiriladigan mahsulot yoki natijalar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3410712" y="2743200"/>
            <a:ext cx="2606040" cy="2423160"/>
          </a:xfrm>
          <a:prstGeom prst="roundRect">
            <a:avLst>
              <a:gd name="adj" fmla="val 3019"/>
            </a:avLst>
          </a:prstGeom>
          <a:solidFill>
            <a:srgbClr val="F2F6F9"/>
          </a:solidFill>
          <a:ln/>
        </p:spPr>
      </p:sp>
      <p:sp>
        <p:nvSpPr>
          <p:cNvPr id="11" name="Shape 9"/>
          <p:cNvSpPr/>
          <p:nvPr/>
        </p:nvSpPr>
        <p:spPr>
          <a:xfrm>
            <a:off x="3410712" y="2743200"/>
            <a:ext cx="2606040" cy="73152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3575304" y="2944368"/>
            <a:ext cx="22768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6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Ish samaradorligi ma’lumotlari</a:t>
            </a:r>
            <a:endParaRPr lang="en-US" sz="1350" dirty="0"/>
          </a:p>
        </p:txBody>
      </p:sp>
      <p:sp>
        <p:nvSpPr>
          <p:cNvPr id="13" name="Text 11"/>
          <p:cNvSpPr txBox="1"/>
          <p:nvPr/>
        </p:nvSpPr>
        <p:spPr>
          <a:xfrm>
            <a:off x="3575304" y="3520440"/>
            <a:ext cx="2276856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Xom o‘lchovlar — bajarilgan foiz, haqiqiy xarajatlar, aniqlangan nuqsonlar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6272784" y="2743200"/>
            <a:ext cx="2606040" cy="2423160"/>
          </a:xfrm>
          <a:prstGeom prst="roundRect">
            <a:avLst>
              <a:gd name="adj" fmla="val 3019"/>
            </a:avLst>
          </a:prstGeom>
          <a:solidFill>
            <a:srgbClr val="F2F6F9"/>
          </a:solidFill>
          <a:ln/>
        </p:spPr>
      </p:sp>
      <p:sp>
        <p:nvSpPr>
          <p:cNvPr id="15" name="Shape 13"/>
          <p:cNvSpPr/>
          <p:nvPr/>
        </p:nvSpPr>
        <p:spPr>
          <a:xfrm>
            <a:off x="6272784" y="2743200"/>
            <a:ext cx="2606040" cy="73152"/>
          </a:xfrm>
          <a:prstGeom prst="rect">
            <a:avLst/>
          </a:prstGeom>
          <a:solidFill>
            <a:srgbClr val="D98E04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6437376" y="2944368"/>
            <a:ext cx="22768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6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Muammolar jurnali</a:t>
            </a:r>
            <a:endParaRPr lang="en-US" sz="1350" dirty="0"/>
          </a:p>
        </p:txBody>
      </p:sp>
      <p:sp>
        <p:nvSpPr>
          <p:cNvPr id="17" name="Text 15"/>
          <p:cNvSpPr txBox="1"/>
          <p:nvPr/>
        </p:nvSpPr>
        <p:spPr>
          <a:xfrm>
            <a:off x="6437376" y="3520440"/>
            <a:ext cx="2276856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 bir muammo, bo‘shliq yoki ziddiyat hal etilgunga qadar kuzatiladi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9134856" y="2743200"/>
            <a:ext cx="2606040" cy="2423160"/>
          </a:xfrm>
          <a:prstGeom prst="roundRect">
            <a:avLst>
              <a:gd name="adj" fmla="val 3019"/>
            </a:avLst>
          </a:prstGeom>
          <a:solidFill>
            <a:srgbClr val="F2F6F9"/>
          </a:solidFill>
          <a:ln/>
        </p:spPr>
      </p:sp>
      <p:sp>
        <p:nvSpPr>
          <p:cNvPr id="19" name="Shape 17"/>
          <p:cNvSpPr/>
          <p:nvPr/>
        </p:nvSpPr>
        <p:spPr>
          <a:xfrm>
            <a:off x="9134856" y="2743200"/>
            <a:ext cx="2606040" cy="73152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9299448" y="2944368"/>
            <a:ext cx="22768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6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O‘zgarish so‘rovlari</a:t>
            </a:r>
            <a:endParaRPr lang="en-US" sz="1350" dirty="0"/>
          </a:p>
        </p:txBody>
      </p:sp>
      <p:sp>
        <p:nvSpPr>
          <p:cNvPr id="21" name="Text 19"/>
          <p:cNvSpPr txBox="1"/>
          <p:nvPr/>
        </p:nvSpPr>
        <p:spPr>
          <a:xfrm>
            <a:off x="9299448" y="3520440"/>
            <a:ext cx="2276856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Tuzatuvchi harakat, oldini oluvchi harakat yoki nuqsonni tuzatish takliflari</a:t>
            </a:r>
            <a:endParaRPr lang="en-US" sz="1150" dirty="0"/>
          </a:p>
        </p:txBody>
      </p:sp>
      <p:sp>
        <p:nvSpPr>
          <p:cNvPr id="22" name="Text 20"/>
          <p:cNvSpPr txBox="1"/>
          <p:nvPr/>
        </p:nvSpPr>
        <p:spPr>
          <a:xfrm>
            <a:off x="11274552" y="635508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D98E0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3.6 · SAMARADORLIKNI KUZATISH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77240"/>
            <a:ext cx="10789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623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Ishni monitoring va nazorat qilish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508760"/>
            <a:ext cx="10789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Reja bo‘yicha jarayonni kuzatish, ko‘rib chiqish va hisobot berish — shunda manfaatdor tomonlar loyihaning haqiqiy holatini doim bilib turadi.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2286000"/>
            <a:ext cx="5349240" cy="3931920"/>
          </a:xfrm>
          <a:prstGeom prst="roundRect">
            <a:avLst>
              <a:gd name="adj" fmla="val 1860"/>
            </a:avLst>
          </a:prstGeom>
          <a:solidFill>
            <a:srgbClr val="F2F6F9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77240" y="2514600"/>
            <a:ext cx="4892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 jarayon quyidagilarga qaratilgan: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822960" y="3209544"/>
            <a:ext cx="128016" cy="128016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1051560" y="3063240"/>
            <a:ext cx="4572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6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Haqiqiy samaradorlikni reja bilan solishtirish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822960" y="4169664"/>
            <a:ext cx="128016" cy="128016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1051560" y="4023360"/>
            <a:ext cx="4572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6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Tuzatuvchi yoki oldini oluvchi choralarni tavsiya qilish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822960" y="5129784"/>
            <a:ext cx="128016" cy="128016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1051560" y="4983480"/>
            <a:ext cx="4572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6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Xarajat va jadval bo‘yicha aniq prognozlarni taqdim etish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172200" y="2286000"/>
            <a:ext cx="5349240" cy="3931920"/>
          </a:xfrm>
          <a:prstGeom prst="roundRect">
            <a:avLst>
              <a:gd name="adj" fmla="val 1860"/>
            </a:avLst>
          </a:prstGeom>
          <a:solidFill>
            <a:srgbClr val="0B1F3A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6400800" y="2514600"/>
            <a:ext cx="4892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98E0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Keng qo‘llaniladigan tahlil usullari: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6446520" y="3154680"/>
            <a:ext cx="4800600" cy="548640"/>
          </a:xfrm>
          <a:prstGeom prst="roundRect">
            <a:avLst>
              <a:gd name="adj" fmla="val 10000"/>
            </a:avLst>
          </a:prstGeom>
          <a:solidFill>
            <a:srgbClr val="12345C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6629400" y="3154680"/>
            <a:ext cx="4434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4EC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Ishlab topilgan qiymat tahlili (EVM)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6446520" y="3867912"/>
            <a:ext cx="4800600" cy="548640"/>
          </a:xfrm>
          <a:prstGeom prst="roundRect">
            <a:avLst>
              <a:gd name="adj" fmla="val 10000"/>
            </a:avLst>
          </a:prstGeom>
          <a:solidFill>
            <a:srgbClr val="12345C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6629400" y="3867912"/>
            <a:ext cx="4434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4EC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Og‘ish tahlili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6446520" y="4581144"/>
            <a:ext cx="4800600" cy="548640"/>
          </a:xfrm>
          <a:prstGeom prst="roundRect">
            <a:avLst>
              <a:gd name="adj" fmla="val 10000"/>
            </a:avLst>
          </a:prstGeom>
          <a:solidFill>
            <a:srgbClr val="12345C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6629400" y="4581144"/>
            <a:ext cx="4434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4EC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Trend tahlili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6446520" y="5294376"/>
            <a:ext cx="4800600" cy="548640"/>
          </a:xfrm>
          <a:prstGeom prst="roundRect">
            <a:avLst>
              <a:gd name="adj" fmla="val 10000"/>
            </a:avLst>
          </a:prstGeom>
          <a:solidFill>
            <a:srgbClr val="12345C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6629400" y="5294376"/>
            <a:ext cx="4434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4EC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Sabab-oqibat tahlili</a:t>
            </a:r>
            <a:endParaRPr lang="en-US" sz="1300" dirty="0"/>
          </a:p>
        </p:txBody>
      </p:sp>
      <p:sp>
        <p:nvSpPr>
          <p:cNvPr id="23" name="Text 21"/>
          <p:cNvSpPr txBox="1"/>
          <p:nvPr/>
        </p:nvSpPr>
        <p:spPr>
          <a:xfrm>
            <a:off x="11274552" y="635508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D98E0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3.7 · O‘ZGARISHLARNI BOSHQARISH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77240"/>
            <a:ext cx="10789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623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Integratsiyalashgan o‘zgarishlarni nazorat qilish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554480"/>
            <a:ext cx="10789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16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Hajm, jadval, xarajat yoki har qanday bazaviy chiziqqa oid har bir o‘zgarish so‘rovi yagona yaxlit jarayonda ko‘rib chiqiladi — shunda hech qanday o‘zgarish loyihaning qolgan qismiga ta’sirini hisobga olmasdan tasdiqlanmaydi.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2606040"/>
            <a:ext cx="10789920" cy="1691640"/>
          </a:xfrm>
          <a:prstGeom prst="roundRect">
            <a:avLst>
              <a:gd name="adj" fmla="val 4324"/>
            </a:avLst>
          </a:prstGeom>
          <a:solidFill>
            <a:srgbClr val="0B1F3A"/>
          </a:solidFill>
          <a:ln/>
        </p:spPr>
      </p:sp>
      <p:sp>
        <p:nvSpPr>
          <p:cNvPr id="6" name="Shape 4"/>
          <p:cNvSpPr/>
          <p:nvPr/>
        </p:nvSpPr>
        <p:spPr>
          <a:xfrm>
            <a:off x="548640" y="2606040"/>
            <a:ext cx="91440" cy="1691640"/>
          </a:xfrm>
          <a:prstGeom prst="rect">
            <a:avLst/>
          </a:prstGeom>
          <a:solidFill>
            <a:srgbClr val="D98E04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914400" y="2788920"/>
            <a:ext cx="10058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D98E0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O‘zgarishlarni nazorat qilish kengashi (CCB)</a:t>
            </a:r>
            <a:endParaRPr lang="en-US" sz="1700" dirty="0"/>
          </a:p>
        </p:txBody>
      </p:sp>
      <p:sp>
        <p:nvSpPr>
          <p:cNvPr id="8" name="Text 6"/>
          <p:cNvSpPr txBox="1"/>
          <p:nvPr/>
        </p:nvSpPr>
        <p:spPr>
          <a:xfrm>
            <a:off x="914400" y="3246120"/>
            <a:ext cx="9966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E4EC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O‘zgarishlarni ko‘rib chiqish, baholash, tasdiqlash, kechiktirish yoki rad etish uchun rasmiy tashkil etilgan guruh — va har bir qarorni manfaatdor tomonlarga yetkazish.</a:t>
            </a:r>
            <a:endParaRPr lang="en-US" sz="135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4526280"/>
            <a:ext cx="10789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Loyiha bazaviy chiziqqa o‘rnatilgach, bu — bazaviy chiziqning qonuniy ravishda o‘zgarishi mumkin bo‘lgan yagona jarayondir.</a:t>
            </a:r>
            <a:endParaRPr lang="en-US" sz="1250" dirty="0"/>
          </a:p>
        </p:txBody>
      </p:sp>
      <p:sp>
        <p:nvSpPr>
          <p:cNvPr id="10" name="Text 8"/>
          <p:cNvSpPr txBox="1"/>
          <p:nvPr/>
        </p:nvSpPr>
        <p:spPr>
          <a:xfrm>
            <a:off x="11274552" y="635508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D98E0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3.7 · O‘ZGARISHLARNI BOSHQARISH (DAVOMI)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77240"/>
            <a:ext cx="10789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623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O‘zgarish so‘rovining hayot sikli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2377440"/>
            <a:ext cx="1691640" cy="2834640"/>
          </a:xfrm>
          <a:prstGeom prst="roundRect">
            <a:avLst>
              <a:gd name="adj" fmla="val 4324"/>
            </a:avLst>
          </a:prstGeom>
          <a:solidFill>
            <a:srgbClr val="F2F6F9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2377440"/>
            <a:ext cx="1691640" cy="82296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6" name="Shape 4"/>
          <p:cNvSpPr/>
          <p:nvPr/>
        </p:nvSpPr>
        <p:spPr>
          <a:xfrm>
            <a:off x="1175004" y="2596896"/>
            <a:ext cx="438912" cy="438912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1175004" y="2596896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640080" y="3182112"/>
            <a:ext cx="1508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6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Aniqlash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640080" y="3675888"/>
            <a:ext cx="15087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 qanday manfaatdor tomon o‘zgarish ko‘taradi</a:t>
            </a:r>
            <a:endParaRPr lang="en-US" sz="1000" dirty="0"/>
          </a:p>
        </p:txBody>
      </p:sp>
      <p:sp>
        <p:nvSpPr>
          <p:cNvPr id="10" name="Text 8"/>
          <p:cNvSpPr txBox="1"/>
          <p:nvPr/>
        </p:nvSpPr>
        <p:spPr>
          <a:xfrm>
            <a:off x="2240280" y="3520440"/>
            <a:ext cx="182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2423160" y="2377440"/>
            <a:ext cx="1691640" cy="2834640"/>
          </a:xfrm>
          <a:prstGeom prst="roundRect">
            <a:avLst>
              <a:gd name="adj" fmla="val 4324"/>
            </a:avLst>
          </a:prstGeom>
          <a:solidFill>
            <a:srgbClr val="F2F6F9"/>
          </a:solidFill>
          <a:ln/>
        </p:spPr>
      </p:sp>
      <p:sp>
        <p:nvSpPr>
          <p:cNvPr id="12" name="Shape 10"/>
          <p:cNvSpPr/>
          <p:nvPr/>
        </p:nvSpPr>
        <p:spPr>
          <a:xfrm>
            <a:off x="2423160" y="2377440"/>
            <a:ext cx="1691640" cy="82296"/>
          </a:xfrm>
          <a:prstGeom prst="rect">
            <a:avLst/>
          </a:prstGeom>
          <a:solidFill>
            <a:srgbClr val="2E7A9E"/>
          </a:solidFill>
          <a:ln/>
        </p:spPr>
      </p:sp>
      <p:sp>
        <p:nvSpPr>
          <p:cNvPr id="13" name="Shape 11"/>
          <p:cNvSpPr/>
          <p:nvPr/>
        </p:nvSpPr>
        <p:spPr>
          <a:xfrm>
            <a:off x="3049524" y="2596896"/>
            <a:ext cx="438912" cy="438912"/>
          </a:xfrm>
          <a:prstGeom prst="ellipse">
            <a:avLst/>
          </a:prstGeom>
          <a:solidFill>
            <a:srgbClr val="2E7A9E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3049524" y="2596896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2514600" y="3182112"/>
            <a:ext cx="1508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6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Taqdim etish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2514600" y="3675888"/>
            <a:ext cx="15087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Rasmiy so‘rov sifatida hujjatlashtiriladi</a:t>
            </a:r>
            <a:endParaRPr lang="en-US" sz="1000" dirty="0"/>
          </a:p>
        </p:txBody>
      </p:sp>
      <p:sp>
        <p:nvSpPr>
          <p:cNvPr id="17" name="Text 15"/>
          <p:cNvSpPr txBox="1"/>
          <p:nvPr/>
        </p:nvSpPr>
        <p:spPr>
          <a:xfrm>
            <a:off x="4114800" y="3520440"/>
            <a:ext cx="182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4297680" y="2377440"/>
            <a:ext cx="1691640" cy="2834640"/>
          </a:xfrm>
          <a:prstGeom prst="roundRect">
            <a:avLst>
              <a:gd name="adj" fmla="val 4324"/>
            </a:avLst>
          </a:prstGeom>
          <a:solidFill>
            <a:srgbClr val="F2F6F9"/>
          </a:solidFill>
          <a:ln/>
        </p:spPr>
      </p:sp>
      <p:sp>
        <p:nvSpPr>
          <p:cNvPr id="19" name="Shape 17"/>
          <p:cNvSpPr/>
          <p:nvPr/>
        </p:nvSpPr>
        <p:spPr>
          <a:xfrm>
            <a:off x="4297680" y="2377440"/>
            <a:ext cx="1691640" cy="82296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20" name="Shape 18"/>
          <p:cNvSpPr/>
          <p:nvPr/>
        </p:nvSpPr>
        <p:spPr>
          <a:xfrm>
            <a:off x="4924044" y="2596896"/>
            <a:ext cx="438912" cy="438912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4924044" y="2596896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4389120" y="3182112"/>
            <a:ext cx="1508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6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CCB ko‘rib chiqadi</a:t>
            </a:r>
            <a:endParaRPr lang="en-US" sz="1200" dirty="0"/>
          </a:p>
        </p:txBody>
      </p:sp>
      <p:sp>
        <p:nvSpPr>
          <p:cNvPr id="23" name="Text 21"/>
          <p:cNvSpPr txBox="1"/>
          <p:nvPr/>
        </p:nvSpPr>
        <p:spPr>
          <a:xfrm>
            <a:off x="4389120" y="3675888"/>
            <a:ext cx="15087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Hajm, xarajat, jadvalga ta’siri baholanadi</a:t>
            </a:r>
            <a:endParaRPr lang="en-US" sz="1000" dirty="0"/>
          </a:p>
        </p:txBody>
      </p:sp>
      <p:sp>
        <p:nvSpPr>
          <p:cNvPr id="24" name="Text 22"/>
          <p:cNvSpPr txBox="1"/>
          <p:nvPr/>
        </p:nvSpPr>
        <p:spPr>
          <a:xfrm>
            <a:off x="5989320" y="3520440"/>
            <a:ext cx="182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6172200" y="2377440"/>
            <a:ext cx="1691640" cy="2834640"/>
          </a:xfrm>
          <a:prstGeom prst="roundRect">
            <a:avLst>
              <a:gd name="adj" fmla="val 4324"/>
            </a:avLst>
          </a:prstGeom>
          <a:solidFill>
            <a:srgbClr val="F2F6F9"/>
          </a:solidFill>
          <a:ln/>
        </p:spPr>
      </p:sp>
      <p:sp>
        <p:nvSpPr>
          <p:cNvPr id="26" name="Shape 24"/>
          <p:cNvSpPr/>
          <p:nvPr/>
        </p:nvSpPr>
        <p:spPr>
          <a:xfrm>
            <a:off x="6172200" y="2377440"/>
            <a:ext cx="1691640" cy="82296"/>
          </a:xfrm>
          <a:prstGeom prst="rect">
            <a:avLst/>
          </a:prstGeom>
          <a:solidFill>
            <a:srgbClr val="C77A0A"/>
          </a:solidFill>
          <a:ln/>
        </p:spPr>
      </p:sp>
      <p:sp>
        <p:nvSpPr>
          <p:cNvPr id="27" name="Shape 25"/>
          <p:cNvSpPr/>
          <p:nvPr/>
        </p:nvSpPr>
        <p:spPr>
          <a:xfrm>
            <a:off x="6798564" y="2596896"/>
            <a:ext cx="438912" cy="438912"/>
          </a:xfrm>
          <a:prstGeom prst="ellipse">
            <a:avLst/>
          </a:prstGeom>
          <a:solidFill>
            <a:srgbClr val="C77A0A"/>
          </a:solidFill>
          <a:ln/>
        </p:spPr>
      </p:sp>
      <p:sp>
        <p:nvSpPr>
          <p:cNvPr id="28" name="Text 26"/>
          <p:cNvSpPr txBox="1"/>
          <p:nvPr/>
        </p:nvSpPr>
        <p:spPr>
          <a:xfrm>
            <a:off x="6798564" y="2596896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29" name="Text 27"/>
          <p:cNvSpPr txBox="1"/>
          <p:nvPr/>
        </p:nvSpPr>
        <p:spPr>
          <a:xfrm>
            <a:off x="6263640" y="3182112"/>
            <a:ext cx="1508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6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Qaror qabul qilish</a:t>
            </a:r>
            <a:endParaRPr lang="en-US" sz="1200" dirty="0"/>
          </a:p>
        </p:txBody>
      </p:sp>
      <p:sp>
        <p:nvSpPr>
          <p:cNvPr id="30" name="Text 28"/>
          <p:cNvSpPr txBox="1"/>
          <p:nvPr/>
        </p:nvSpPr>
        <p:spPr>
          <a:xfrm>
            <a:off x="6263640" y="3675888"/>
            <a:ext cx="15087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Tasdiqlanadi, kechiktiriladi yoki rad etiladi</a:t>
            </a:r>
            <a:endParaRPr lang="en-US" sz="1000" dirty="0"/>
          </a:p>
        </p:txBody>
      </p:sp>
      <p:sp>
        <p:nvSpPr>
          <p:cNvPr id="31" name="Text 29"/>
          <p:cNvSpPr txBox="1"/>
          <p:nvPr/>
        </p:nvSpPr>
        <p:spPr>
          <a:xfrm>
            <a:off x="7863840" y="3520440"/>
            <a:ext cx="182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32" name="Shape 30"/>
          <p:cNvSpPr/>
          <p:nvPr/>
        </p:nvSpPr>
        <p:spPr>
          <a:xfrm>
            <a:off x="8046720" y="2377440"/>
            <a:ext cx="1691640" cy="2834640"/>
          </a:xfrm>
          <a:prstGeom prst="roundRect">
            <a:avLst>
              <a:gd name="adj" fmla="val 4324"/>
            </a:avLst>
          </a:prstGeom>
          <a:solidFill>
            <a:srgbClr val="F2F6F9"/>
          </a:solidFill>
          <a:ln/>
        </p:spPr>
      </p:sp>
      <p:sp>
        <p:nvSpPr>
          <p:cNvPr id="33" name="Shape 31"/>
          <p:cNvSpPr/>
          <p:nvPr/>
        </p:nvSpPr>
        <p:spPr>
          <a:xfrm>
            <a:off x="8046720" y="2377440"/>
            <a:ext cx="1691640" cy="82296"/>
          </a:xfrm>
          <a:prstGeom prst="rect">
            <a:avLst/>
          </a:prstGeom>
          <a:solidFill>
            <a:srgbClr val="D98E04"/>
          </a:solidFill>
          <a:ln/>
        </p:spPr>
      </p:sp>
      <p:sp>
        <p:nvSpPr>
          <p:cNvPr id="34" name="Shape 32"/>
          <p:cNvSpPr/>
          <p:nvPr/>
        </p:nvSpPr>
        <p:spPr>
          <a:xfrm>
            <a:off x="8673084" y="2596896"/>
            <a:ext cx="438912" cy="438912"/>
          </a:xfrm>
          <a:prstGeom prst="ellipse">
            <a:avLst/>
          </a:prstGeom>
          <a:solidFill>
            <a:srgbClr val="D98E04"/>
          </a:solidFill>
          <a:ln/>
        </p:spPr>
      </p:sp>
      <p:sp>
        <p:nvSpPr>
          <p:cNvPr id="35" name="Text 33"/>
          <p:cNvSpPr txBox="1"/>
          <p:nvPr/>
        </p:nvSpPr>
        <p:spPr>
          <a:xfrm>
            <a:off x="8673084" y="2596896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36" name="Text 34"/>
          <p:cNvSpPr txBox="1"/>
          <p:nvPr/>
        </p:nvSpPr>
        <p:spPr>
          <a:xfrm>
            <a:off x="8138160" y="3182112"/>
            <a:ext cx="1508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6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Amalga oshirish</a:t>
            </a:r>
            <a:endParaRPr lang="en-US" sz="1200" dirty="0"/>
          </a:p>
        </p:txBody>
      </p:sp>
      <p:sp>
        <p:nvSpPr>
          <p:cNvPr id="37" name="Text 35"/>
          <p:cNvSpPr txBox="1"/>
          <p:nvPr/>
        </p:nvSpPr>
        <p:spPr>
          <a:xfrm>
            <a:off x="8138160" y="3675888"/>
            <a:ext cx="15087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Tasdiqlangan o‘zgarishlar Ishni Yo‘naltirishga o‘tadi</a:t>
            </a:r>
            <a:endParaRPr lang="en-US" sz="1000" dirty="0"/>
          </a:p>
        </p:txBody>
      </p:sp>
      <p:sp>
        <p:nvSpPr>
          <p:cNvPr id="38" name="Text 36"/>
          <p:cNvSpPr txBox="1"/>
          <p:nvPr/>
        </p:nvSpPr>
        <p:spPr>
          <a:xfrm>
            <a:off x="9738360" y="3520440"/>
            <a:ext cx="182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39" name="Shape 37"/>
          <p:cNvSpPr/>
          <p:nvPr/>
        </p:nvSpPr>
        <p:spPr>
          <a:xfrm>
            <a:off x="9921240" y="2377440"/>
            <a:ext cx="1691640" cy="2834640"/>
          </a:xfrm>
          <a:prstGeom prst="roundRect">
            <a:avLst>
              <a:gd name="adj" fmla="val 4324"/>
            </a:avLst>
          </a:prstGeom>
          <a:solidFill>
            <a:srgbClr val="F2F6F9"/>
          </a:solidFill>
          <a:ln/>
        </p:spPr>
      </p:sp>
      <p:sp>
        <p:nvSpPr>
          <p:cNvPr id="40" name="Shape 38"/>
          <p:cNvSpPr/>
          <p:nvPr/>
        </p:nvSpPr>
        <p:spPr>
          <a:xfrm>
            <a:off x="9921240" y="2377440"/>
            <a:ext cx="1691640" cy="82296"/>
          </a:xfrm>
          <a:prstGeom prst="rect">
            <a:avLst/>
          </a:prstGeom>
          <a:solidFill>
            <a:srgbClr val="8A5A00"/>
          </a:solidFill>
          <a:ln/>
        </p:spPr>
      </p:sp>
      <p:sp>
        <p:nvSpPr>
          <p:cNvPr id="41" name="Shape 39"/>
          <p:cNvSpPr/>
          <p:nvPr/>
        </p:nvSpPr>
        <p:spPr>
          <a:xfrm>
            <a:off x="10547604" y="2596896"/>
            <a:ext cx="438912" cy="438912"/>
          </a:xfrm>
          <a:prstGeom prst="ellipse">
            <a:avLst/>
          </a:prstGeom>
          <a:solidFill>
            <a:srgbClr val="8A5A00"/>
          </a:solidFill>
          <a:ln/>
        </p:spPr>
      </p:sp>
      <p:sp>
        <p:nvSpPr>
          <p:cNvPr id="42" name="Text 40"/>
          <p:cNvSpPr txBox="1"/>
          <p:nvPr/>
        </p:nvSpPr>
        <p:spPr>
          <a:xfrm>
            <a:off x="10547604" y="2596896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400" dirty="0"/>
          </a:p>
        </p:txBody>
      </p:sp>
      <p:sp>
        <p:nvSpPr>
          <p:cNvPr id="43" name="Text 41"/>
          <p:cNvSpPr txBox="1"/>
          <p:nvPr/>
        </p:nvSpPr>
        <p:spPr>
          <a:xfrm>
            <a:off x="10012680" y="3182112"/>
            <a:ext cx="1508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6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Qayd etish</a:t>
            </a:r>
            <a:endParaRPr lang="en-US" sz="1200" dirty="0"/>
          </a:p>
        </p:txBody>
      </p:sp>
      <p:sp>
        <p:nvSpPr>
          <p:cNvPr id="44" name="Text 42"/>
          <p:cNvSpPr txBox="1"/>
          <p:nvPr/>
        </p:nvSpPr>
        <p:spPr>
          <a:xfrm>
            <a:off x="10012680" y="3675888"/>
            <a:ext cx="15087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Qaror o‘zgarishlar jurnaliga yoziladi</a:t>
            </a:r>
            <a:endParaRPr lang="en-US" sz="1000" dirty="0"/>
          </a:p>
        </p:txBody>
      </p:sp>
      <p:sp>
        <p:nvSpPr>
          <p:cNvPr id="45" name="Text 43"/>
          <p:cNvSpPr txBox="1"/>
          <p:nvPr/>
        </p:nvSpPr>
        <p:spPr>
          <a:xfrm>
            <a:off x="11274552" y="635508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966960" y="-1554480"/>
            <a:ext cx="4572000" cy="4572000"/>
          </a:xfrm>
          <a:prstGeom prst="ellipse">
            <a:avLst/>
          </a:prstGeom>
          <a:solidFill>
            <a:srgbClr val="7A2E2E">
              <a:alpha val="45000"/>
            </a:srgbClr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457200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D98E0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HAYOTIY MISOL · NEGA O‘ZGARISHLARNI NAZORAT QILISH MUHIM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777240"/>
            <a:ext cx="10515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Ogohlantiruvchi misol: Bostondagi “Big Dig”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600200"/>
            <a:ext cx="8686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CA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AQSH tarixidagi eng qimmat avtomobil yo‘li loyihasi hajm yaxlit nazoratsiz kengayib borganda nima sodir bo‘lishini ko‘rsatadi: tunellar, ko‘priklar va qayta loyihalashlar asl bazaviy chiziq o‘rnatilganidan ancha keyin qo‘shilgan.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48640" y="3063240"/>
            <a:ext cx="3520440" cy="1783080"/>
          </a:xfrm>
          <a:prstGeom prst="roundRect">
            <a:avLst>
              <a:gd name="adj" fmla="val 4103"/>
            </a:avLst>
          </a:prstGeom>
          <a:solidFill>
            <a:srgbClr val="2A1414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713232" y="3291840"/>
            <a:ext cx="319125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E8A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2,8 mlrd $ – 14,8 mlrd $</a:t>
            </a:r>
            <a:endParaRPr lang="en-US" sz="2100" dirty="0"/>
          </a:p>
        </p:txBody>
      </p:sp>
      <p:sp>
        <p:nvSpPr>
          <p:cNvPr id="8" name="Text 6"/>
          <p:cNvSpPr txBox="1"/>
          <p:nvPr/>
        </p:nvSpPr>
        <p:spPr>
          <a:xfrm>
            <a:off x="713232" y="4023360"/>
            <a:ext cx="319125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CA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1985 yilgi boshlang‘ich baho va 2007 yilgi yakuniy qurilish xarajati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4325112" y="3063240"/>
            <a:ext cx="3520440" cy="1783080"/>
          </a:xfrm>
          <a:prstGeom prst="roundRect">
            <a:avLst>
              <a:gd name="adj" fmla="val 4103"/>
            </a:avLst>
          </a:prstGeom>
          <a:solidFill>
            <a:srgbClr val="2A1414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4489704" y="3291840"/>
            <a:ext cx="319125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E8A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25 yil</a:t>
            </a:r>
            <a:endParaRPr lang="en-US" sz="2100" dirty="0"/>
          </a:p>
        </p:txBody>
      </p:sp>
      <p:sp>
        <p:nvSpPr>
          <p:cNvPr id="11" name="Text 9"/>
          <p:cNvSpPr txBox="1"/>
          <p:nvPr/>
        </p:nvSpPr>
        <p:spPr>
          <a:xfrm>
            <a:off x="4489704" y="4023360"/>
            <a:ext cx="319125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CA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rejalashtirishdan (1982) yakunlanishgacha (2007)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8101584" y="3063240"/>
            <a:ext cx="3520440" cy="1783080"/>
          </a:xfrm>
          <a:prstGeom prst="roundRect">
            <a:avLst>
              <a:gd name="adj" fmla="val 4103"/>
            </a:avLst>
          </a:prstGeom>
          <a:solidFill>
            <a:srgbClr val="2A1414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8266176" y="3291840"/>
            <a:ext cx="319125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E8A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~430%</a:t>
            </a:r>
            <a:endParaRPr lang="en-US" sz="2100" dirty="0"/>
          </a:p>
        </p:txBody>
      </p:sp>
      <p:sp>
        <p:nvSpPr>
          <p:cNvPr id="14" name="Text 12"/>
          <p:cNvSpPr txBox="1"/>
          <p:nvPr/>
        </p:nvSpPr>
        <p:spPr>
          <a:xfrm>
            <a:off x="8266176" y="4023360"/>
            <a:ext cx="319125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CA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asosan hajm kengayishi hisobiga xarajatning oshib ketishi</a:t>
            </a:r>
            <a:endParaRPr lang="en-US" sz="1150" dirty="0"/>
          </a:p>
        </p:txBody>
      </p:sp>
      <p:sp>
        <p:nvSpPr>
          <p:cNvPr id="15" name="Text 13"/>
          <p:cNvSpPr txBox="1"/>
          <p:nvPr/>
        </p:nvSpPr>
        <p:spPr>
          <a:xfrm>
            <a:off x="548640" y="5166360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E85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Manbalar: PMI; Massachusets Turnpike Boshqarmasi loyiha tahlillari</a:t>
            </a:r>
            <a:endParaRPr lang="en-US" sz="1050" dirty="0"/>
          </a:p>
        </p:txBody>
      </p:sp>
      <p:sp>
        <p:nvSpPr>
          <p:cNvPr id="16" name="Text 14"/>
          <p:cNvSpPr txBox="1"/>
          <p:nvPr/>
        </p:nvSpPr>
        <p:spPr>
          <a:xfrm>
            <a:off x="11274552" y="635508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D98E0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3.8 · LOYIHANI YAKUNLASH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77240"/>
            <a:ext cx="10789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623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Loyiha yoki bosqichni yakunlash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10789920" cy="822960"/>
          </a:xfrm>
          <a:prstGeom prst="roundRect">
            <a:avLst>
              <a:gd name="adj" fmla="val 7778"/>
            </a:avLst>
          </a:prstGeom>
          <a:solidFill>
            <a:srgbClr val="F2F6F9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22960" y="1627632"/>
            <a:ext cx="8778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1623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“Loyiha, bosqich yoki shartnoma bo‘yicha barcha faoliyatni yakunlash jarayoni.”</a:t>
            </a:r>
            <a:endParaRPr lang="en-US" sz="135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2103120"/>
            <a:ext cx="8778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PMBOK® qo‘llanmasi, 4.7-bo‘lim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548640" y="2651760"/>
            <a:ext cx="5349240" cy="9144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DCE4E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49808" y="2935224"/>
            <a:ext cx="347472" cy="347472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749808" y="293522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1207008" y="2651760"/>
            <a:ext cx="4480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6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Mijoz tomonidan natijalarning rasmiy qabul qilinishini tasdiqlash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6172200" y="2651760"/>
            <a:ext cx="5349240" cy="9144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DCE4EA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373368" y="2935224"/>
            <a:ext cx="347472" cy="347472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6373368" y="293522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6830568" y="2651760"/>
            <a:ext cx="4480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6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Loyiha hisoblarini yopish va xodimlarni qayta tayinlash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548640" y="3749040"/>
            <a:ext cx="5349240" cy="9144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DCE4EA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49808" y="4032504"/>
            <a:ext cx="347472" cy="347472"/>
          </a:xfrm>
          <a:prstGeom prst="ellipse">
            <a:avLst/>
          </a:prstGeom>
          <a:solidFill>
            <a:srgbClr val="D98E04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749808" y="403250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1207008" y="3749040"/>
            <a:ext cx="4480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6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Ob’ektlar, uskunalar va boshqa resurslarni qayta taqsimlash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6172200" y="3749040"/>
            <a:ext cx="5349240" cy="9144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DCE4EA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373368" y="4032504"/>
            <a:ext cx="347472" cy="347472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6373368" y="403250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6830568" y="3749040"/>
            <a:ext cx="4480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6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O‘rganilgan saboqlarni yig‘ish va arxivlash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548640" y="4846320"/>
            <a:ext cx="5349240" cy="9144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DCE4EA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749808" y="5129784"/>
            <a:ext cx="347472" cy="347472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749808" y="512978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26" name="Text 24"/>
          <p:cNvSpPr txBox="1"/>
          <p:nvPr/>
        </p:nvSpPr>
        <p:spPr>
          <a:xfrm>
            <a:off x="1207008" y="4846320"/>
            <a:ext cx="4480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6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Manfaatdor tomonlar mamnuniyatini o‘lchash</a:t>
            </a:r>
            <a:endParaRPr lang="en-US" sz="1250" dirty="0"/>
          </a:p>
        </p:txBody>
      </p:sp>
      <p:sp>
        <p:nvSpPr>
          <p:cNvPr id="27" name="Shape 25"/>
          <p:cNvSpPr/>
          <p:nvPr/>
        </p:nvSpPr>
        <p:spPr>
          <a:xfrm>
            <a:off x="6172200" y="4846320"/>
            <a:ext cx="5349240" cy="9144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DCE4EA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6373368" y="5129784"/>
            <a:ext cx="347472" cy="347472"/>
          </a:xfrm>
          <a:prstGeom prst="ellipse">
            <a:avLst/>
          </a:prstGeom>
          <a:solidFill>
            <a:srgbClr val="D98E04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6373368" y="512978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30" name="Text 28"/>
          <p:cNvSpPr txBox="1"/>
          <p:nvPr/>
        </p:nvSpPr>
        <p:spPr>
          <a:xfrm>
            <a:off x="6830568" y="4846320"/>
            <a:ext cx="4480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6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Yakuniy mahsulot, xizmat yoki natijani topshirish</a:t>
            </a:r>
            <a:endParaRPr lang="en-US" sz="1250" dirty="0"/>
          </a:p>
        </p:txBody>
      </p:sp>
      <p:sp>
        <p:nvSpPr>
          <p:cNvPr id="31" name="Text 29"/>
          <p:cNvSpPr txBox="1"/>
          <p:nvPr/>
        </p:nvSpPr>
        <p:spPr>
          <a:xfrm>
            <a:off x="11274552" y="635508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D98E0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3.8 · LOYIHANI YAKUNLASH (DAVOMI)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77240"/>
            <a:ext cx="10789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623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Yakuniy hisobot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508760"/>
            <a:ext cx="10789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Loyihaning umumiy samaradorligi xulosasi — tashkilot va kelajakdagi loyihalar uchun yozuvni yakunlaydi.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2240280"/>
            <a:ext cx="5349240" cy="1783080"/>
          </a:xfrm>
          <a:prstGeom prst="roundRect">
            <a:avLst>
              <a:gd name="adj" fmla="val 4103"/>
            </a:avLst>
          </a:prstGeom>
          <a:solidFill>
            <a:srgbClr val="F2F6F9"/>
          </a:solidFill>
          <a:ln/>
        </p:spPr>
      </p:sp>
      <p:sp>
        <p:nvSpPr>
          <p:cNvPr id="6" name="Shape 4"/>
          <p:cNvSpPr/>
          <p:nvPr/>
        </p:nvSpPr>
        <p:spPr>
          <a:xfrm>
            <a:off x="548640" y="2240280"/>
            <a:ext cx="64008" cy="178308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822960" y="2423160"/>
            <a:ext cx="4800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6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Hajm va sifat maqsadlari</a:t>
            </a:r>
            <a:endParaRPr lang="en-US" sz="145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2898648"/>
            <a:ext cx="4800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Qo‘llanilgan mezonlar va ularga erishilganligi haqida dalillar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172200" y="2240280"/>
            <a:ext cx="5349240" cy="1783080"/>
          </a:xfrm>
          <a:prstGeom prst="roundRect">
            <a:avLst>
              <a:gd name="adj" fmla="val 4103"/>
            </a:avLst>
          </a:prstGeom>
          <a:solidFill>
            <a:srgbClr val="F2F6F9"/>
          </a:solidFill>
          <a:ln/>
        </p:spPr>
      </p:sp>
      <p:sp>
        <p:nvSpPr>
          <p:cNvPr id="10" name="Shape 8"/>
          <p:cNvSpPr/>
          <p:nvPr/>
        </p:nvSpPr>
        <p:spPr>
          <a:xfrm>
            <a:off x="6172200" y="2240280"/>
            <a:ext cx="64008" cy="178308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446520" y="2423160"/>
            <a:ext cx="4800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6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Xarajat va jadval maqsadlari</a:t>
            </a:r>
            <a:endParaRPr lang="en-US" sz="1450" dirty="0"/>
          </a:p>
        </p:txBody>
      </p:sp>
      <p:sp>
        <p:nvSpPr>
          <p:cNvPr id="12" name="Text 10"/>
          <p:cNvSpPr txBox="1"/>
          <p:nvPr/>
        </p:nvSpPr>
        <p:spPr>
          <a:xfrm>
            <a:off x="6446520" y="2898648"/>
            <a:ext cx="4800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Haqiqiy natijalar rejaga solishtirilgan holda, og‘ish sabablari bilan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48640" y="4251960"/>
            <a:ext cx="5349240" cy="1783080"/>
          </a:xfrm>
          <a:prstGeom prst="roundRect">
            <a:avLst>
              <a:gd name="adj" fmla="val 4103"/>
            </a:avLst>
          </a:prstGeom>
          <a:solidFill>
            <a:srgbClr val="F2F6F9"/>
          </a:solidFill>
          <a:ln/>
        </p:spPr>
      </p:sp>
      <p:sp>
        <p:nvSpPr>
          <p:cNvPr id="14" name="Shape 12"/>
          <p:cNvSpPr/>
          <p:nvPr/>
        </p:nvSpPr>
        <p:spPr>
          <a:xfrm>
            <a:off x="548640" y="4251960"/>
            <a:ext cx="64008" cy="1783080"/>
          </a:xfrm>
          <a:prstGeom prst="rect">
            <a:avLst/>
          </a:prstGeom>
          <a:solidFill>
            <a:srgbClr val="D98E04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822960" y="4434840"/>
            <a:ext cx="4800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6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Erishilgan foydalar</a:t>
            </a:r>
            <a:endParaRPr lang="en-US" sz="1450" dirty="0"/>
          </a:p>
        </p:txBody>
      </p:sp>
      <p:sp>
        <p:nvSpPr>
          <p:cNvPr id="16" name="Text 14"/>
          <p:cNvSpPr txBox="1"/>
          <p:nvPr/>
        </p:nvSpPr>
        <p:spPr>
          <a:xfrm>
            <a:off x="822960" y="4910328"/>
            <a:ext cx="4800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Boshida aniqlangan biznes ehtiyojlari qondirilganmi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172200" y="4251960"/>
            <a:ext cx="5349240" cy="1783080"/>
          </a:xfrm>
          <a:prstGeom prst="roundRect">
            <a:avLst>
              <a:gd name="adj" fmla="val 4103"/>
            </a:avLst>
          </a:prstGeom>
          <a:solidFill>
            <a:srgbClr val="F2F6F9"/>
          </a:solidFill>
          <a:ln/>
        </p:spPr>
      </p:sp>
      <p:sp>
        <p:nvSpPr>
          <p:cNvPr id="18" name="Shape 16"/>
          <p:cNvSpPr/>
          <p:nvPr/>
        </p:nvSpPr>
        <p:spPr>
          <a:xfrm>
            <a:off x="6172200" y="4251960"/>
            <a:ext cx="64008" cy="178308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6446520" y="4434840"/>
            <a:ext cx="4800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6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Xavflar va muammolar</a:t>
            </a:r>
            <a:endParaRPr lang="en-US" sz="1450" dirty="0"/>
          </a:p>
        </p:txBody>
      </p:sp>
      <p:sp>
        <p:nvSpPr>
          <p:cNvPr id="20" name="Text 18"/>
          <p:cNvSpPr txBox="1"/>
          <p:nvPr/>
        </p:nvSpPr>
        <p:spPr>
          <a:xfrm>
            <a:off x="6446520" y="4910328"/>
            <a:ext cx="4800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Nima yuz berganligi va qanday hal qilinganligi xulosasi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11274552" y="635508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10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966960" y="-1554480"/>
            <a:ext cx="4572000" cy="4572000"/>
          </a:xfrm>
          <a:prstGeom prst="ellipse">
            <a:avLst/>
          </a:prstGeom>
          <a:solidFill>
            <a:srgbClr val="065A82">
              <a:alpha val="45000"/>
            </a:srgbClr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457200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D98E0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3.9 · DALILLAR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777240"/>
            <a:ext cx="10515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Nega integratsiya intizomi muhim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48640" y="2194560"/>
            <a:ext cx="3429000" cy="2377440"/>
          </a:xfrm>
          <a:prstGeom prst="roundRect">
            <a:avLst>
              <a:gd name="adj" fmla="val 3077"/>
            </a:avLst>
          </a:prstGeom>
          <a:solidFill>
            <a:srgbClr val="12345C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31520" y="2468880"/>
            <a:ext cx="3063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D98E0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52%</a:t>
            </a:r>
            <a:endParaRPr lang="en-US" sz="2800" dirty="0"/>
          </a:p>
        </p:txBody>
      </p:sp>
      <p:sp>
        <p:nvSpPr>
          <p:cNvPr id="7" name="Text 5"/>
          <p:cNvSpPr txBox="1"/>
          <p:nvPr/>
        </p:nvSpPr>
        <p:spPr>
          <a:xfrm>
            <a:off x="731520" y="3429000"/>
            <a:ext cx="30632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CA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loyihalarda hajmning nazoratsiz kengayishi (scope creep) kuzatiladi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4251960" y="2194560"/>
            <a:ext cx="3429000" cy="2377440"/>
          </a:xfrm>
          <a:prstGeom prst="roundRect">
            <a:avLst>
              <a:gd name="adj" fmla="val 3077"/>
            </a:avLst>
          </a:prstGeom>
          <a:solidFill>
            <a:srgbClr val="12345C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4434840" y="2468880"/>
            <a:ext cx="3063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D98E0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43% → 52%</a:t>
            </a:r>
            <a:endParaRPr lang="en-US" sz="2800" dirty="0"/>
          </a:p>
        </p:txBody>
      </p:sp>
      <p:sp>
        <p:nvSpPr>
          <p:cNvPr id="10" name="Text 8"/>
          <p:cNvSpPr txBox="1"/>
          <p:nvPr/>
        </p:nvSpPr>
        <p:spPr>
          <a:xfrm>
            <a:off x="4434840" y="3429000"/>
            <a:ext cx="30632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CA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besh yil ichida sohada hajm kengayishi shu darajada oshdi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7955280" y="2194560"/>
            <a:ext cx="3429000" cy="2377440"/>
          </a:xfrm>
          <a:prstGeom prst="roundRect">
            <a:avLst>
              <a:gd name="adj" fmla="val 3077"/>
            </a:avLst>
          </a:prstGeom>
          <a:solidFill>
            <a:srgbClr val="12345C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8138160" y="2468880"/>
            <a:ext cx="3063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D98E0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1/3</a:t>
            </a:r>
            <a:endParaRPr lang="en-US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8138160" y="3429000"/>
            <a:ext cx="30632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CA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 yuqori samarali tashkilotlarda ham loyihalarning uchdan biri hajm kengayishiga duch keladi</a:t>
            </a:r>
            <a:endParaRPr lang="en-US" sz="1250" dirty="0"/>
          </a:p>
        </p:txBody>
      </p:sp>
      <p:sp>
        <p:nvSpPr>
          <p:cNvPr id="14" name="Text 12"/>
          <p:cNvSpPr txBox="1"/>
          <p:nvPr/>
        </p:nvSpPr>
        <p:spPr>
          <a:xfrm>
            <a:off x="548640" y="4937760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E85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Manba: PMI, Pulse of the Profession® (2018 Scope Patrol tadqiqoti)</a:t>
            </a:r>
            <a:endParaRPr lang="en-US" sz="1050" dirty="0"/>
          </a:p>
        </p:txBody>
      </p:sp>
      <p:sp>
        <p:nvSpPr>
          <p:cNvPr id="15" name="Text 13"/>
          <p:cNvSpPr txBox="1"/>
          <p:nvPr/>
        </p:nvSpPr>
        <p:spPr>
          <a:xfrm>
            <a:off x="11274552" y="635508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10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645920" y="-1645920"/>
            <a:ext cx="4572000" cy="4572000"/>
          </a:xfrm>
          <a:prstGeom prst="ellipse">
            <a:avLst/>
          </a:prstGeom>
          <a:solidFill>
            <a:srgbClr val="065A82">
              <a:alpha val="45000"/>
            </a:srgbClr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457200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D98E0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XULOSA · 3-MAVZU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777240"/>
            <a:ext cx="9144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Asosiy xulosalar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594360" y="1792224"/>
            <a:ext cx="365760" cy="365760"/>
          </a:xfrm>
          <a:prstGeom prst="ellipse">
            <a:avLst/>
          </a:prstGeom>
          <a:solidFill>
            <a:srgbClr val="D98E04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594360" y="179222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1143000" y="1691640"/>
            <a:ext cx="10424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E4EC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Integratsiyani boshqarish — loyiha menejeri hech qachon boshqasiga topshira olmaydigan yagona javobgarlikdir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594360" y="2633472"/>
            <a:ext cx="365760" cy="365760"/>
          </a:xfrm>
          <a:prstGeom prst="ellipse">
            <a:avLst/>
          </a:prstGeom>
          <a:solidFill>
            <a:srgbClr val="D98E04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594360" y="263347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1143000" y="2532888"/>
            <a:ext cx="10424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E4EC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Loyiha ustavi loyihani tasdiqlaydi; loyihani boshqarish rejasi esa uning qanday ishlashini belgilaydi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594360" y="3474720"/>
            <a:ext cx="365760" cy="365760"/>
          </a:xfrm>
          <a:prstGeom prst="ellipse">
            <a:avLst/>
          </a:prstGeom>
          <a:solidFill>
            <a:srgbClr val="D98E04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594360" y="34747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1143000" y="3374136"/>
            <a:ext cx="10424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E4EC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Bazaviy chiziq o‘rnatilgach, reja faqat Integratsiyalashgan O‘zgarishlarni Nazorat qilish orqali o‘zgaradi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594360" y="4315968"/>
            <a:ext cx="365760" cy="365760"/>
          </a:xfrm>
          <a:prstGeom prst="ellipse">
            <a:avLst/>
          </a:prstGeom>
          <a:solidFill>
            <a:srgbClr val="D98E04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594360" y="431596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1143000" y="4215384"/>
            <a:ext cx="10424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E4EC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O‘zgarishlarni Nazorat Kengashi har bir so‘rovning ta’sirini tasdiqlash, kechiktirish yoki rad etishdan oldin ko‘rib chiqadi</a:t>
            </a:r>
            <a:endParaRPr lang="en-US" sz="1350" dirty="0"/>
          </a:p>
        </p:txBody>
      </p:sp>
      <p:sp>
        <p:nvSpPr>
          <p:cNvPr id="17" name="Shape 15"/>
          <p:cNvSpPr/>
          <p:nvPr/>
        </p:nvSpPr>
        <p:spPr>
          <a:xfrm>
            <a:off x="594360" y="5157216"/>
            <a:ext cx="365760" cy="365760"/>
          </a:xfrm>
          <a:prstGeom prst="ellipse">
            <a:avLst/>
          </a:prstGeom>
          <a:solidFill>
            <a:srgbClr val="D98E04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594360" y="515721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1143000" y="5056632"/>
            <a:ext cx="10424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E4EC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Loyihani yakunlash — qabul qilinishini tasdiqlash, saboqlarni qayd etish va natijani rasmiy topshirish demakdir</a:t>
            </a:r>
            <a:endParaRPr lang="en-US" sz="1350" dirty="0"/>
          </a:p>
        </p:txBody>
      </p:sp>
      <p:sp>
        <p:nvSpPr>
          <p:cNvPr id="20" name="Shape 18"/>
          <p:cNvSpPr/>
          <p:nvPr/>
        </p:nvSpPr>
        <p:spPr>
          <a:xfrm>
            <a:off x="548640" y="6035040"/>
            <a:ext cx="11064240" cy="10973"/>
          </a:xfrm>
          <a:prstGeom prst="rect">
            <a:avLst/>
          </a:prstGeom>
          <a:solidFill>
            <a:srgbClr val="2A3F55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548640" y="621792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9FB6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Keyingi mavzu: 4-mavzu — Loyiha hajmini boshqarish</a:t>
            </a:r>
            <a:endParaRPr lang="en-US" sz="1350" dirty="0"/>
          </a:p>
        </p:txBody>
      </p:sp>
      <p:sp>
        <p:nvSpPr>
          <p:cNvPr id="22" name="Text 20"/>
          <p:cNvSpPr txBox="1"/>
          <p:nvPr/>
        </p:nvSpPr>
        <p:spPr>
          <a:xfrm>
            <a:off x="11274552" y="635508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19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2026-09-14T17:48:14Z</dcterms:created>
  <dcterms:modified xsi:type="dcterms:W3CDTF">2026-09-14T17:48:14Z</dcterms:modified>
</cp:coreProperties>
</file>