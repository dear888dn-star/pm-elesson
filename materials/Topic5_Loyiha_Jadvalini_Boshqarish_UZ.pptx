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9692640" y="-1280160"/>
            <a:ext cx="4754880" cy="4754880"/>
          </a:xfrm>
          <a:prstGeom prst="ellipse">
            <a:avLst/>
          </a:prstGeom>
          <a:solidFill>
            <a:srgbClr val="065A82">
              <a:alpha val="45000"/>
            </a:srgbClr>
          </a:solidFill>
          <a:ln/>
        </p:spPr>
      </p:sp>
      <p:sp>
        <p:nvSpPr>
          <p:cNvPr id="3" name="Shape 1"/>
          <p:cNvSpPr/>
          <p:nvPr/>
        </p:nvSpPr>
        <p:spPr>
          <a:xfrm>
            <a:off x="10881360" y="4206240"/>
            <a:ext cx="2926080" cy="2926080"/>
          </a:xfrm>
          <a:prstGeom prst="ellipse">
            <a:avLst/>
          </a:prstGeom>
          <a:solidFill>
            <a:srgbClr val="D98E04">
              <a:alpha val="35000"/>
            </a:srgbClr>
          </a:solidFill>
          <a:ln/>
        </p:spPr>
      </p:sp>
      <p:sp>
        <p:nvSpPr>
          <p:cNvPr id="4" name="Text 2"/>
          <p:cNvSpPr txBox="1"/>
          <p:nvPr/>
        </p:nvSpPr>
        <p:spPr>
          <a:xfrm>
            <a:off x="822960" y="1188720"/>
            <a:ext cx="4572000" cy="365760"/>
          </a:xfrm>
          <a:prstGeom prst="rect">
            <a:avLst/>
          </a:prstGeom>
          <a:noFill/>
          <a:ln/>
        </p:spPr>
        <p:txBody>
          <a:bodyPr wrap="square" lIns="0" tIns="0" rIns="0" bIns="0" rtlCol="0" anchor="ctr"/>
          <a:lstStyle/>
          <a:p>
            <a:pPr indent="0" marL="0">
              <a:buNone/>
            </a:pPr>
            <a:r>
              <a:rPr lang="en-US" sz="1300" b="1" spc="300" kern="0" dirty="0">
                <a:solidFill>
                  <a:srgbClr val="D98E04"/>
                </a:solidFill>
                <a:latin typeface="Calibri" pitchFamily="34" charset="0"/>
                <a:ea typeface="Calibri" pitchFamily="34" charset="-122"/>
                <a:cs typeface="Calibri" pitchFamily="34" charset="-120"/>
              </a:rPr>
              <a:t>LOYB206</a:t>
            </a:r>
            <a:endParaRPr lang="en-US" sz="1300" dirty="0"/>
          </a:p>
        </p:txBody>
      </p:sp>
      <p:sp>
        <p:nvSpPr>
          <p:cNvPr id="5" name="Text 3"/>
          <p:cNvSpPr txBox="1"/>
          <p:nvPr/>
        </p:nvSpPr>
        <p:spPr>
          <a:xfrm>
            <a:off x="777240" y="1600200"/>
            <a:ext cx="9601200"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LOYIHALARNI BOSHQARISH</a:t>
            </a:r>
            <a:endParaRPr lang="en-US" sz="4400" dirty="0"/>
          </a:p>
        </p:txBody>
      </p:sp>
      <p:sp>
        <p:nvSpPr>
          <p:cNvPr id="6" name="Text 4"/>
          <p:cNvSpPr txBox="1"/>
          <p:nvPr/>
        </p:nvSpPr>
        <p:spPr>
          <a:xfrm>
            <a:off x="822960" y="2788920"/>
            <a:ext cx="10058400" cy="914400"/>
          </a:xfrm>
          <a:prstGeom prst="rect">
            <a:avLst/>
          </a:prstGeom>
          <a:noFill/>
          <a:ln/>
        </p:spPr>
        <p:txBody>
          <a:bodyPr wrap="square" lIns="0" tIns="0" rIns="0" bIns="0" rtlCol="0" anchor="ctr"/>
          <a:lstStyle/>
          <a:p>
            <a:pPr indent="0" marL="0">
              <a:buNone/>
            </a:pPr>
            <a:r>
              <a:rPr lang="en-US" sz="2100" dirty="0">
                <a:solidFill>
                  <a:srgbClr val="CADCE8"/>
                </a:solidFill>
                <a:latin typeface="Calibri" pitchFamily="34" charset="0"/>
                <a:ea typeface="Calibri" pitchFamily="34" charset="-122"/>
                <a:cs typeface="Calibri" pitchFamily="34" charset="-120"/>
              </a:rPr>
              <a:t>5-mavzu: Loyiha jadvalini boshqarish</a:t>
            </a:r>
            <a:endParaRPr lang="en-US" sz="2100" dirty="0"/>
          </a:p>
        </p:txBody>
      </p:sp>
      <p:sp>
        <p:nvSpPr>
          <p:cNvPr id="7" name="Shape 5"/>
          <p:cNvSpPr/>
          <p:nvPr/>
        </p:nvSpPr>
        <p:spPr>
          <a:xfrm>
            <a:off x="822960" y="3794760"/>
            <a:ext cx="822960" cy="41148"/>
          </a:xfrm>
          <a:prstGeom prst="rect">
            <a:avLst/>
          </a:prstGeom>
          <a:solidFill>
            <a:srgbClr val="D98E04"/>
          </a:solidFill>
          <a:ln/>
        </p:spPr>
      </p:sp>
      <p:sp>
        <p:nvSpPr>
          <p:cNvPr id="8" name="Text 6"/>
          <p:cNvSpPr txBox="1"/>
          <p:nvPr/>
        </p:nvSpPr>
        <p:spPr>
          <a:xfrm>
            <a:off x="822960" y="5806440"/>
            <a:ext cx="8229600" cy="365760"/>
          </a:xfrm>
          <a:prstGeom prst="rect">
            <a:avLst/>
          </a:prstGeom>
          <a:noFill/>
          <a:ln/>
        </p:spPr>
        <p:txBody>
          <a:bodyPr wrap="square" lIns="0" tIns="0" rIns="0" bIns="0" rtlCol="0" anchor="ctr"/>
          <a:lstStyle/>
          <a:p>
            <a:pPr indent="0" marL="0">
              <a:buNone/>
            </a:pPr>
            <a:r>
              <a:rPr lang="en-US" sz="1300" dirty="0">
                <a:solidFill>
                  <a:srgbClr val="9FB6C8"/>
                </a:solidFill>
                <a:latin typeface="Calibri" pitchFamily="34" charset="0"/>
                <a:ea typeface="Calibri" pitchFamily="34" charset="-122"/>
                <a:cs typeface="Calibri" pitchFamily="34" charset="-120"/>
              </a:rPr>
              <a:t>Turizm va mehmondo‘stchilik • O‘zMU Jizzax filiali</a:t>
            </a:r>
            <a:endParaRPr lang="en-US" sz="1300" dirty="0"/>
          </a:p>
        </p:txBody>
      </p:sp>
      <p:sp>
        <p:nvSpPr>
          <p:cNvPr id="9" name="Text 7"/>
          <p:cNvSpPr txBox="1"/>
          <p:nvPr/>
        </p:nvSpPr>
        <p:spPr>
          <a:xfrm>
            <a:off x="822960" y="6126480"/>
            <a:ext cx="8229600" cy="365760"/>
          </a:xfrm>
          <a:prstGeom prst="rect">
            <a:avLst/>
          </a:prstGeom>
          <a:noFill/>
          <a:ln/>
        </p:spPr>
        <p:txBody>
          <a:bodyPr wrap="square" lIns="0" tIns="0" rIns="0" bIns="0" rtlCol="0" anchor="ctr"/>
          <a:lstStyle/>
          <a:p>
            <a:pPr indent="0" marL="0">
              <a:buNone/>
            </a:pPr>
            <a:r>
              <a:rPr lang="en-US" sz="1100" dirty="0">
                <a:solidFill>
                  <a:srgbClr val="6E859A"/>
                </a:solidFill>
                <a:latin typeface="Calibri" pitchFamily="34" charset="0"/>
                <a:ea typeface="Calibri" pitchFamily="34" charset="-122"/>
                <a:cs typeface="Calibri" pitchFamily="34" charset="-120"/>
              </a:rPr>
              <a:t>LOYB206 fani  ·  V semestr  ·  “Iqtisodiyot va turizm” kafedrasi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9601200" cy="365760"/>
          </a:xfrm>
          <a:prstGeom prst="rect">
            <a:avLst/>
          </a:prstGeom>
          <a:noFill/>
          <a:ln/>
        </p:spPr>
        <p:txBody>
          <a:bodyPr wrap="square" lIns="0" tIns="0" rIns="0" bIns="0" rtlCol="0" anchor="ctr"/>
          <a:lstStyle/>
          <a:p>
            <a:pPr indent="0" marL="0">
              <a:buNone/>
            </a:pPr>
            <a:r>
              <a:rPr lang="en-US" sz="1200" b="1" spc="200" kern="0" dirty="0">
                <a:solidFill>
                  <a:srgbClr val="D98E04"/>
                </a:solidFill>
                <a:latin typeface="Calibri" pitchFamily="34" charset="0"/>
                <a:ea typeface="Calibri" pitchFamily="34" charset="-122"/>
                <a:cs typeface="Calibri" pitchFamily="34" charset="-120"/>
              </a:rPr>
              <a:t>REJA · 5-MAVZU</a:t>
            </a:r>
            <a:endParaRPr lang="en-US" sz="1200" dirty="0"/>
          </a:p>
        </p:txBody>
      </p:sp>
      <p:sp>
        <p:nvSpPr>
          <p:cNvPr id="3" name="Text 1"/>
          <p:cNvSpPr txBox="1"/>
          <p:nvPr/>
        </p:nvSpPr>
        <p:spPr>
          <a:xfrm>
            <a:off x="548640" y="777240"/>
            <a:ext cx="8229600" cy="640080"/>
          </a:xfrm>
          <a:prstGeom prst="rect">
            <a:avLst/>
          </a:prstGeom>
          <a:noFill/>
          <a:ln/>
        </p:spPr>
        <p:txBody>
          <a:bodyPr wrap="square" lIns="0" tIns="0" rIns="0" bIns="0" rtlCol="0" anchor="ctr"/>
          <a:lstStyle/>
          <a:p>
            <a:pPr indent="0" marL="0">
              <a:buNone/>
            </a:pPr>
            <a:r>
              <a:rPr lang="en-US" sz="3200" b="1" dirty="0">
                <a:solidFill>
                  <a:srgbClr val="16232E"/>
                </a:solidFill>
                <a:latin typeface="Cambria" pitchFamily="34" charset="0"/>
                <a:ea typeface="Cambria" pitchFamily="34" charset="-122"/>
                <a:cs typeface="Cambria" pitchFamily="34" charset="-120"/>
              </a:rPr>
              <a:t>Nimalarni ko‘rib chiqamiz</a:t>
            </a:r>
            <a:endParaRPr lang="en-US" sz="3200" dirty="0"/>
          </a:p>
        </p:txBody>
      </p:sp>
      <p:sp>
        <p:nvSpPr>
          <p:cNvPr id="4" name="Shape 2"/>
          <p:cNvSpPr/>
          <p:nvPr/>
        </p:nvSpPr>
        <p:spPr>
          <a:xfrm>
            <a:off x="594360" y="1572768"/>
            <a:ext cx="502920" cy="502920"/>
          </a:xfrm>
          <a:prstGeom prst="ellipse">
            <a:avLst/>
          </a:prstGeom>
          <a:solidFill>
            <a:srgbClr val="065A82"/>
          </a:solidFill>
          <a:ln/>
        </p:spPr>
      </p:sp>
      <p:sp>
        <p:nvSpPr>
          <p:cNvPr id="5" name="Text 3"/>
          <p:cNvSpPr txBox="1"/>
          <p:nvPr/>
        </p:nvSpPr>
        <p:spPr>
          <a:xfrm>
            <a:off x="594360" y="1572768"/>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6" name="Text 4"/>
          <p:cNvSpPr txBox="1"/>
          <p:nvPr/>
        </p:nvSpPr>
        <p:spPr>
          <a:xfrm>
            <a:off x="1325880" y="1527048"/>
            <a:ext cx="9784080" cy="365760"/>
          </a:xfrm>
          <a:prstGeom prst="rect">
            <a:avLst/>
          </a:prstGeom>
          <a:noFill/>
          <a:ln/>
        </p:spPr>
        <p:txBody>
          <a:bodyPr wrap="square" lIns="0" tIns="0" rIns="0" bIns="0" rtlCol="0" anchor="ctr"/>
          <a:lstStyle/>
          <a:p>
            <a:pPr indent="0" marL="0">
              <a:buNone/>
            </a:pPr>
            <a:r>
              <a:rPr lang="en-US" sz="1600" b="1" dirty="0">
                <a:solidFill>
                  <a:srgbClr val="16232E"/>
                </a:solidFill>
                <a:latin typeface="Calibri" pitchFamily="34" charset="0"/>
                <a:ea typeface="Calibri" pitchFamily="34" charset="-122"/>
                <a:cs typeface="Calibri" pitchFamily="34" charset="-120"/>
              </a:rPr>
              <a:t>Jadval modeli nima</a:t>
            </a:r>
            <a:endParaRPr lang="en-US" sz="1600" dirty="0"/>
          </a:p>
        </p:txBody>
      </p:sp>
      <p:sp>
        <p:nvSpPr>
          <p:cNvPr id="7" name="Text 5"/>
          <p:cNvSpPr txBox="1"/>
          <p:nvPr/>
        </p:nvSpPr>
        <p:spPr>
          <a:xfrm>
            <a:off x="1325880" y="1865376"/>
            <a:ext cx="9784080" cy="329184"/>
          </a:xfrm>
          <a:prstGeom prst="rect">
            <a:avLst/>
          </a:prstGeom>
          <a:noFill/>
          <a:ln/>
        </p:spPr>
        <p:txBody>
          <a:bodyPr wrap="square" lIns="0" tIns="0" rIns="0" bIns="0" rtlCol="0" anchor="ctr"/>
          <a:lstStyle/>
          <a:p>
            <a:pPr indent="0" marL="0">
              <a:buNone/>
            </a:pPr>
            <a:r>
              <a:rPr lang="en-US" sz="1150" dirty="0">
                <a:solidFill>
                  <a:srgbClr val="5B6B77"/>
                </a:solidFill>
                <a:latin typeface="Calibri" pitchFamily="34" charset="0"/>
                <a:ea typeface="Calibri" pitchFamily="34" charset="-122"/>
                <a:cs typeface="Calibri" pitchFamily="34" charset="-120"/>
              </a:rPr>
              <a:t>Faoliyatlar, vositalar va usullar qanday birlashib jadval hosil qiladi</a:t>
            </a:r>
            <a:endParaRPr lang="en-US" sz="1150" dirty="0"/>
          </a:p>
        </p:txBody>
      </p:sp>
      <p:sp>
        <p:nvSpPr>
          <p:cNvPr id="8" name="Shape 6"/>
          <p:cNvSpPr/>
          <p:nvPr/>
        </p:nvSpPr>
        <p:spPr>
          <a:xfrm>
            <a:off x="1325880" y="2240280"/>
            <a:ext cx="9601200" cy="10058"/>
          </a:xfrm>
          <a:prstGeom prst="rect">
            <a:avLst/>
          </a:prstGeom>
          <a:solidFill>
            <a:srgbClr val="E3E9ED"/>
          </a:solidFill>
          <a:ln/>
        </p:spPr>
      </p:sp>
      <p:sp>
        <p:nvSpPr>
          <p:cNvPr id="9" name="Shape 7"/>
          <p:cNvSpPr/>
          <p:nvPr/>
        </p:nvSpPr>
        <p:spPr>
          <a:xfrm>
            <a:off x="594360" y="2359152"/>
            <a:ext cx="502920" cy="502920"/>
          </a:xfrm>
          <a:prstGeom prst="ellipse">
            <a:avLst/>
          </a:prstGeom>
          <a:solidFill>
            <a:srgbClr val="1C7293"/>
          </a:solidFill>
          <a:ln/>
        </p:spPr>
      </p:sp>
      <p:sp>
        <p:nvSpPr>
          <p:cNvPr id="10" name="Text 8"/>
          <p:cNvSpPr txBox="1"/>
          <p:nvPr/>
        </p:nvSpPr>
        <p:spPr>
          <a:xfrm>
            <a:off x="594360" y="2359152"/>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1" name="Text 9"/>
          <p:cNvSpPr txBox="1"/>
          <p:nvPr/>
        </p:nvSpPr>
        <p:spPr>
          <a:xfrm>
            <a:off x="1325880" y="2313432"/>
            <a:ext cx="9784080" cy="365760"/>
          </a:xfrm>
          <a:prstGeom prst="rect">
            <a:avLst/>
          </a:prstGeom>
          <a:noFill/>
          <a:ln/>
        </p:spPr>
        <p:txBody>
          <a:bodyPr wrap="square" lIns="0" tIns="0" rIns="0" bIns="0" rtlCol="0" anchor="ctr"/>
          <a:lstStyle/>
          <a:p>
            <a:pPr indent="0" marL="0">
              <a:buNone/>
            </a:pPr>
            <a:r>
              <a:rPr lang="en-US" sz="1600" b="1" dirty="0">
                <a:solidFill>
                  <a:srgbClr val="16232E"/>
                </a:solidFill>
                <a:latin typeface="Calibri" pitchFamily="34" charset="0"/>
                <a:ea typeface="Calibri" pitchFamily="34" charset="-122"/>
                <a:cs typeface="Calibri" pitchFamily="34" charset="-120"/>
              </a:rPr>
              <a:t>Faoliyatlarni aniqlash va ketma-ketlashtirish</a:t>
            </a:r>
            <a:endParaRPr lang="en-US" sz="1600" dirty="0"/>
          </a:p>
        </p:txBody>
      </p:sp>
      <p:sp>
        <p:nvSpPr>
          <p:cNvPr id="12" name="Text 10"/>
          <p:cNvSpPr txBox="1"/>
          <p:nvPr/>
        </p:nvSpPr>
        <p:spPr>
          <a:xfrm>
            <a:off x="1325880" y="2651760"/>
            <a:ext cx="9784080" cy="329184"/>
          </a:xfrm>
          <a:prstGeom prst="rect">
            <a:avLst/>
          </a:prstGeom>
          <a:noFill/>
          <a:ln/>
        </p:spPr>
        <p:txBody>
          <a:bodyPr wrap="square" lIns="0" tIns="0" rIns="0" bIns="0" rtlCol="0" anchor="ctr"/>
          <a:lstStyle/>
          <a:p>
            <a:pPr indent="0" marL="0">
              <a:buNone/>
            </a:pPr>
            <a:r>
              <a:rPr lang="en-US" sz="1150" dirty="0">
                <a:solidFill>
                  <a:srgbClr val="5B6B77"/>
                </a:solidFill>
                <a:latin typeface="Calibri" pitchFamily="34" charset="0"/>
                <a:ea typeface="Calibri" pitchFamily="34" charset="-122"/>
                <a:cs typeface="Calibri" pitchFamily="34" charset="-120"/>
              </a:rPr>
              <a:t>Ish paketlarini tartiblangan tarmoqqa aylantirish</a:t>
            </a:r>
            <a:endParaRPr lang="en-US" sz="1150" dirty="0"/>
          </a:p>
        </p:txBody>
      </p:sp>
      <p:sp>
        <p:nvSpPr>
          <p:cNvPr id="13" name="Shape 11"/>
          <p:cNvSpPr/>
          <p:nvPr/>
        </p:nvSpPr>
        <p:spPr>
          <a:xfrm>
            <a:off x="1325880" y="3026664"/>
            <a:ext cx="9601200" cy="10058"/>
          </a:xfrm>
          <a:prstGeom prst="rect">
            <a:avLst/>
          </a:prstGeom>
          <a:solidFill>
            <a:srgbClr val="E3E9ED"/>
          </a:solidFill>
          <a:ln/>
        </p:spPr>
      </p:sp>
      <p:sp>
        <p:nvSpPr>
          <p:cNvPr id="14" name="Shape 12"/>
          <p:cNvSpPr/>
          <p:nvPr/>
        </p:nvSpPr>
        <p:spPr>
          <a:xfrm>
            <a:off x="594360" y="3145536"/>
            <a:ext cx="502920" cy="502920"/>
          </a:xfrm>
          <a:prstGeom prst="ellipse">
            <a:avLst/>
          </a:prstGeom>
          <a:solidFill>
            <a:srgbClr val="065A82"/>
          </a:solidFill>
          <a:ln/>
        </p:spPr>
      </p:sp>
      <p:sp>
        <p:nvSpPr>
          <p:cNvPr id="15" name="Text 13"/>
          <p:cNvSpPr txBox="1"/>
          <p:nvPr/>
        </p:nvSpPr>
        <p:spPr>
          <a:xfrm>
            <a:off x="594360" y="3145536"/>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6" name="Text 14"/>
          <p:cNvSpPr txBox="1"/>
          <p:nvPr/>
        </p:nvSpPr>
        <p:spPr>
          <a:xfrm>
            <a:off x="1325880" y="3099816"/>
            <a:ext cx="9784080" cy="365760"/>
          </a:xfrm>
          <a:prstGeom prst="rect">
            <a:avLst/>
          </a:prstGeom>
          <a:noFill/>
          <a:ln/>
        </p:spPr>
        <p:txBody>
          <a:bodyPr wrap="square" lIns="0" tIns="0" rIns="0" bIns="0" rtlCol="0" anchor="ctr"/>
          <a:lstStyle/>
          <a:p>
            <a:pPr indent="0" marL="0">
              <a:buNone/>
            </a:pPr>
            <a:r>
              <a:rPr lang="en-US" sz="1600" b="1" dirty="0">
                <a:solidFill>
                  <a:srgbClr val="16232E"/>
                </a:solidFill>
                <a:latin typeface="Calibri" pitchFamily="34" charset="0"/>
                <a:ea typeface="Calibri" pitchFamily="34" charset="-122"/>
                <a:cs typeface="Calibri" pitchFamily="34" charset="-120"/>
              </a:rPr>
              <a:t>Faoliyat davomiyligini baholash</a:t>
            </a:r>
            <a:endParaRPr lang="en-US" sz="1600" dirty="0"/>
          </a:p>
        </p:txBody>
      </p:sp>
      <p:sp>
        <p:nvSpPr>
          <p:cNvPr id="17" name="Text 15"/>
          <p:cNvSpPr txBox="1"/>
          <p:nvPr/>
        </p:nvSpPr>
        <p:spPr>
          <a:xfrm>
            <a:off x="1325880" y="3438144"/>
            <a:ext cx="9784080" cy="329184"/>
          </a:xfrm>
          <a:prstGeom prst="rect">
            <a:avLst/>
          </a:prstGeom>
          <a:noFill/>
          <a:ln/>
        </p:spPr>
        <p:txBody>
          <a:bodyPr wrap="square" lIns="0" tIns="0" rIns="0" bIns="0" rtlCol="0" anchor="ctr"/>
          <a:lstStyle/>
          <a:p>
            <a:pPr indent="0" marL="0">
              <a:buNone/>
            </a:pPr>
            <a:r>
              <a:rPr lang="en-US" sz="1150" dirty="0">
                <a:solidFill>
                  <a:srgbClr val="5B6B77"/>
                </a:solidFill>
                <a:latin typeface="Calibri" pitchFamily="34" charset="0"/>
                <a:ea typeface="Calibri" pitchFamily="34" charset="-122"/>
                <a:cs typeface="Calibri" pitchFamily="34" charset="-120"/>
              </a:rPr>
              <a:t>Analogik, parametrik va uch nuqtali usullar</a:t>
            </a:r>
            <a:endParaRPr lang="en-US" sz="1150" dirty="0"/>
          </a:p>
        </p:txBody>
      </p:sp>
      <p:sp>
        <p:nvSpPr>
          <p:cNvPr id="18" name="Shape 16"/>
          <p:cNvSpPr/>
          <p:nvPr/>
        </p:nvSpPr>
        <p:spPr>
          <a:xfrm>
            <a:off x="1325880" y="3813048"/>
            <a:ext cx="9601200" cy="10058"/>
          </a:xfrm>
          <a:prstGeom prst="rect">
            <a:avLst/>
          </a:prstGeom>
          <a:solidFill>
            <a:srgbClr val="E3E9ED"/>
          </a:solidFill>
          <a:ln/>
        </p:spPr>
      </p:sp>
      <p:sp>
        <p:nvSpPr>
          <p:cNvPr id="19" name="Shape 17"/>
          <p:cNvSpPr/>
          <p:nvPr/>
        </p:nvSpPr>
        <p:spPr>
          <a:xfrm>
            <a:off x="594360" y="3931920"/>
            <a:ext cx="502920" cy="502920"/>
          </a:xfrm>
          <a:prstGeom prst="ellipse">
            <a:avLst/>
          </a:prstGeom>
          <a:solidFill>
            <a:srgbClr val="1C7293"/>
          </a:solidFill>
          <a:ln/>
        </p:spPr>
      </p:sp>
      <p:sp>
        <p:nvSpPr>
          <p:cNvPr id="20" name="Text 18"/>
          <p:cNvSpPr txBox="1"/>
          <p:nvPr/>
        </p:nvSpPr>
        <p:spPr>
          <a:xfrm>
            <a:off x="594360" y="3931920"/>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21" name="Text 19"/>
          <p:cNvSpPr txBox="1"/>
          <p:nvPr/>
        </p:nvSpPr>
        <p:spPr>
          <a:xfrm>
            <a:off x="1325880" y="3886200"/>
            <a:ext cx="9784080" cy="365760"/>
          </a:xfrm>
          <a:prstGeom prst="rect">
            <a:avLst/>
          </a:prstGeom>
          <a:noFill/>
          <a:ln/>
        </p:spPr>
        <p:txBody>
          <a:bodyPr wrap="square" lIns="0" tIns="0" rIns="0" bIns="0" rtlCol="0" anchor="ctr"/>
          <a:lstStyle/>
          <a:p>
            <a:pPr indent="0" marL="0">
              <a:buNone/>
            </a:pPr>
            <a:r>
              <a:rPr lang="en-US" sz="1600" b="1" dirty="0">
                <a:solidFill>
                  <a:srgbClr val="16232E"/>
                </a:solidFill>
                <a:latin typeface="Calibri" pitchFamily="34" charset="0"/>
                <a:ea typeface="Calibri" pitchFamily="34" charset="-122"/>
                <a:cs typeface="Calibri" pitchFamily="34" charset="-120"/>
              </a:rPr>
              <a:t>Jadvalni ishlab chiqish va kritik yo‘l</a:t>
            </a:r>
            <a:endParaRPr lang="en-US" sz="1600" dirty="0"/>
          </a:p>
        </p:txBody>
      </p:sp>
      <p:sp>
        <p:nvSpPr>
          <p:cNvPr id="22" name="Text 20"/>
          <p:cNvSpPr txBox="1"/>
          <p:nvPr/>
        </p:nvSpPr>
        <p:spPr>
          <a:xfrm>
            <a:off x="1325880" y="4224528"/>
            <a:ext cx="9784080" cy="329184"/>
          </a:xfrm>
          <a:prstGeom prst="rect">
            <a:avLst/>
          </a:prstGeom>
          <a:noFill/>
          <a:ln/>
        </p:spPr>
        <p:txBody>
          <a:bodyPr wrap="square" lIns="0" tIns="0" rIns="0" bIns="0" rtlCol="0" anchor="ctr"/>
          <a:lstStyle/>
          <a:p>
            <a:pPr indent="0" marL="0">
              <a:buNone/>
            </a:pPr>
            <a:r>
              <a:rPr lang="en-US" sz="1150" dirty="0">
                <a:solidFill>
                  <a:srgbClr val="5B6B77"/>
                </a:solidFill>
                <a:latin typeface="Calibri" pitchFamily="34" charset="0"/>
                <a:ea typeface="Calibri" pitchFamily="34" charset="-122"/>
                <a:cs typeface="Calibri" pitchFamily="34" charset="-120"/>
              </a:rPr>
              <a:t>Loyihadagi eng uzun yo‘lni topish</a:t>
            </a:r>
            <a:endParaRPr lang="en-US" sz="1150" dirty="0"/>
          </a:p>
        </p:txBody>
      </p:sp>
      <p:sp>
        <p:nvSpPr>
          <p:cNvPr id="23" name="Shape 21"/>
          <p:cNvSpPr/>
          <p:nvPr/>
        </p:nvSpPr>
        <p:spPr>
          <a:xfrm>
            <a:off x="1325880" y="4599432"/>
            <a:ext cx="9601200" cy="10058"/>
          </a:xfrm>
          <a:prstGeom prst="rect">
            <a:avLst/>
          </a:prstGeom>
          <a:solidFill>
            <a:srgbClr val="E3E9ED"/>
          </a:solidFill>
          <a:ln/>
        </p:spPr>
      </p:sp>
      <p:sp>
        <p:nvSpPr>
          <p:cNvPr id="24" name="Shape 22"/>
          <p:cNvSpPr/>
          <p:nvPr/>
        </p:nvSpPr>
        <p:spPr>
          <a:xfrm>
            <a:off x="594360" y="4718304"/>
            <a:ext cx="502920" cy="502920"/>
          </a:xfrm>
          <a:prstGeom prst="ellipse">
            <a:avLst/>
          </a:prstGeom>
          <a:solidFill>
            <a:srgbClr val="065A82"/>
          </a:solidFill>
          <a:ln/>
        </p:spPr>
      </p:sp>
      <p:sp>
        <p:nvSpPr>
          <p:cNvPr id="25" name="Text 23"/>
          <p:cNvSpPr txBox="1"/>
          <p:nvPr/>
        </p:nvSpPr>
        <p:spPr>
          <a:xfrm>
            <a:off x="594360" y="4718304"/>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5</a:t>
            </a:r>
            <a:endParaRPr lang="en-US" sz="1700" dirty="0"/>
          </a:p>
        </p:txBody>
      </p:sp>
      <p:sp>
        <p:nvSpPr>
          <p:cNvPr id="26" name="Text 24"/>
          <p:cNvSpPr txBox="1"/>
          <p:nvPr/>
        </p:nvSpPr>
        <p:spPr>
          <a:xfrm>
            <a:off x="1325880" y="4672584"/>
            <a:ext cx="9784080" cy="365760"/>
          </a:xfrm>
          <a:prstGeom prst="rect">
            <a:avLst/>
          </a:prstGeom>
          <a:noFill/>
          <a:ln/>
        </p:spPr>
        <p:txBody>
          <a:bodyPr wrap="square" lIns="0" tIns="0" rIns="0" bIns="0" rtlCol="0" anchor="ctr"/>
          <a:lstStyle/>
          <a:p>
            <a:pPr indent="0" marL="0">
              <a:buNone/>
            </a:pPr>
            <a:r>
              <a:rPr lang="en-US" sz="1600" b="1" dirty="0">
                <a:solidFill>
                  <a:srgbClr val="16232E"/>
                </a:solidFill>
                <a:latin typeface="Calibri" pitchFamily="34" charset="0"/>
                <a:ea typeface="Calibri" pitchFamily="34" charset="-122"/>
                <a:cs typeface="Calibri" pitchFamily="34" charset="-120"/>
              </a:rPr>
              <a:t>Jadvalni taqdim etish va siqish</a:t>
            </a:r>
            <a:endParaRPr lang="en-US" sz="1600" dirty="0"/>
          </a:p>
        </p:txBody>
      </p:sp>
      <p:sp>
        <p:nvSpPr>
          <p:cNvPr id="27" name="Text 25"/>
          <p:cNvSpPr txBox="1"/>
          <p:nvPr/>
        </p:nvSpPr>
        <p:spPr>
          <a:xfrm>
            <a:off x="1325880" y="5010912"/>
            <a:ext cx="9784080" cy="329184"/>
          </a:xfrm>
          <a:prstGeom prst="rect">
            <a:avLst/>
          </a:prstGeom>
          <a:noFill/>
          <a:ln/>
        </p:spPr>
        <p:txBody>
          <a:bodyPr wrap="square" lIns="0" tIns="0" rIns="0" bIns="0" rtlCol="0" anchor="ctr"/>
          <a:lstStyle/>
          <a:p>
            <a:pPr indent="0" marL="0">
              <a:buNone/>
            </a:pPr>
            <a:r>
              <a:rPr lang="en-US" sz="1150" dirty="0">
                <a:solidFill>
                  <a:srgbClr val="5B6B77"/>
                </a:solidFill>
                <a:latin typeface="Calibri" pitchFamily="34" charset="0"/>
                <a:ea typeface="Calibri" pitchFamily="34" charset="-122"/>
                <a:cs typeface="Calibri" pitchFamily="34" charset="-120"/>
              </a:rPr>
              <a:t>Gantt jadvallari, crashing va fast tracking</a:t>
            </a:r>
            <a:endParaRPr lang="en-US" sz="1150" dirty="0"/>
          </a:p>
        </p:txBody>
      </p:sp>
      <p:sp>
        <p:nvSpPr>
          <p:cNvPr id="28" name="Shape 26"/>
          <p:cNvSpPr/>
          <p:nvPr/>
        </p:nvSpPr>
        <p:spPr>
          <a:xfrm>
            <a:off x="1325880" y="5385816"/>
            <a:ext cx="9601200" cy="10058"/>
          </a:xfrm>
          <a:prstGeom prst="rect">
            <a:avLst/>
          </a:prstGeom>
          <a:solidFill>
            <a:srgbClr val="E3E9ED"/>
          </a:solidFill>
          <a:ln/>
        </p:spPr>
      </p:sp>
      <p:sp>
        <p:nvSpPr>
          <p:cNvPr id="29" name="Shape 27"/>
          <p:cNvSpPr/>
          <p:nvPr/>
        </p:nvSpPr>
        <p:spPr>
          <a:xfrm>
            <a:off x="594360" y="5504688"/>
            <a:ext cx="502920" cy="502920"/>
          </a:xfrm>
          <a:prstGeom prst="ellipse">
            <a:avLst/>
          </a:prstGeom>
          <a:solidFill>
            <a:srgbClr val="1C7293"/>
          </a:solidFill>
          <a:ln/>
        </p:spPr>
      </p:sp>
      <p:sp>
        <p:nvSpPr>
          <p:cNvPr id="30" name="Text 28"/>
          <p:cNvSpPr txBox="1"/>
          <p:nvPr/>
        </p:nvSpPr>
        <p:spPr>
          <a:xfrm>
            <a:off x="594360" y="5504688"/>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6</a:t>
            </a:r>
            <a:endParaRPr lang="en-US" sz="1700" dirty="0"/>
          </a:p>
        </p:txBody>
      </p:sp>
      <p:sp>
        <p:nvSpPr>
          <p:cNvPr id="31" name="Text 29"/>
          <p:cNvSpPr txBox="1"/>
          <p:nvPr/>
        </p:nvSpPr>
        <p:spPr>
          <a:xfrm>
            <a:off x="1325880" y="5458968"/>
            <a:ext cx="9784080" cy="365760"/>
          </a:xfrm>
          <a:prstGeom prst="rect">
            <a:avLst/>
          </a:prstGeom>
          <a:noFill/>
          <a:ln/>
        </p:spPr>
        <p:txBody>
          <a:bodyPr wrap="square" lIns="0" tIns="0" rIns="0" bIns="0" rtlCol="0" anchor="ctr"/>
          <a:lstStyle/>
          <a:p>
            <a:pPr indent="0" marL="0">
              <a:buNone/>
            </a:pPr>
            <a:r>
              <a:rPr lang="en-US" sz="1600" b="1" dirty="0">
                <a:solidFill>
                  <a:srgbClr val="16232E"/>
                </a:solidFill>
                <a:latin typeface="Calibri" pitchFamily="34" charset="0"/>
                <a:ea typeface="Calibri" pitchFamily="34" charset="-122"/>
                <a:cs typeface="Calibri" pitchFamily="34" charset="-120"/>
              </a:rPr>
              <a:t>Jadvalni nazorat qilish</a:t>
            </a:r>
            <a:endParaRPr lang="en-US" sz="1600" dirty="0"/>
          </a:p>
        </p:txBody>
      </p:sp>
      <p:sp>
        <p:nvSpPr>
          <p:cNvPr id="32" name="Text 30"/>
          <p:cNvSpPr txBox="1"/>
          <p:nvPr/>
        </p:nvSpPr>
        <p:spPr>
          <a:xfrm>
            <a:off x="1325880" y="5797296"/>
            <a:ext cx="9784080" cy="329184"/>
          </a:xfrm>
          <a:prstGeom prst="rect">
            <a:avLst/>
          </a:prstGeom>
          <a:noFill/>
          <a:ln/>
        </p:spPr>
        <p:txBody>
          <a:bodyPr wrap="square" lIns="0" tIns="0" rIns="0" bIns="0" rtlCol="0" anchor="ctr"/>
          <a:lstStyle/>
          <a:p>
            <a:pPr indent="0" marL="0">
              <a:buNone/>
            </a:pPr>
            <a:r>
              <a:rPr lang="en-US" sz="1150" dirty="0">
                <a:solidFill>
                  <a:srgbClr val="5B6B77"/>
                </a:solidFill>
                <a:latin typeface="Calibri" pitchFamily="34" charset="0"/>
                <a:ea typeface="Calibri" pitchFamily="34" charset="-122"/>
                <a:cs typeface="Calibri" pitchFamily="34" charset="-120"/>
              </a:rPr>
              <a:t>Ish davom etar ekan bazaviy chiziqni to‘g‘ri saqlash</a:t>
            </a:r>
            <a:endParaRPr lang="en-US" sz="1150" dirty="0"/>
          </a:p>
        </p:txBody>
      </p:sp>
      <p:sp>
        <p:nvSpPr>
          <p:cNvPr id="33" name="Text 31"/>
          <p:cNvSpPr txBox="1"/>
          <p:nvPr/>
        </p:nvSpPr>
        <p:spPr>
          <a:xfrm>
            <a:off x="11274552" y="6355080"/>
            <a:ext cx="548640" cy="320040"/>
          </a:xfrm>
          <a:prstGeom prst="rect">
            <a:avLst/>
          </a:prstGeom>
          <a:noFill/>
          <a:ln/>
        </p:spPr>
        <p:txBody>
          <a:bodyPr wrap="square" lIns="0" tIns="0" rIns="0" bIns="0" rtlCol="0" anchor="ctr"/>
          <a:lstStyle/>
          <a:p>
            <a:pPr algn="r" indent="0" marL="0">
              <a:buNone/>
            </a:pPr>
            <a:r>
              <a:rPr lang="en-US" sz="1000" dirty="0">
                <a:solidFill>
                  <a:srgbClr val="5B6B77"/>
                </a:solidFill>
                <a:latin typeface="Calibri" pitchFamily="34" charset="0"/>
                <a:ea typeface="Calibri" pitchFamily="34" charset="-122"/>
                <a:cs typeface="Calibri" pitchFamily="34" charset="-120"/>
              </a:rPr>
              <a:t>01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9601200" cy="365760"/>
          </a:xfrm>
          <a:prstGeom prst="rect">
            <a:avLst/>
          </a:prstGeom>
          <a:noFill/>
          <a:ln/>
        </p:spPr>
        <p:txBody>
          <a:bodyPr wrap="square" lIns="0" tIns="0" rIns="0" bIns="0" rtlCol="0" anchor="ctr"/>
          <a:lstStyle/>
          <a:p>
            <a:pPr indent="0" marL="0">
              <a:buNone/>
            </a:pPr>
            <a:r>
              <a:rPr lang="en-US" sz="1200" b="1" spc="200" kern="0" dirty="0">
                <a:solidFill>
                  <a:srgbClr val="D98E04"/>
                </a:solidFill>
                <a:latin typeface="Calibri" pitchFamily="34" charset="0"/>
                <a:ea typeface="Calibri" pitchFamily="34" charset="-122"/>
                <a:cs typeface="Calibri" pitchFamily="34" charset="-120"/>
              </a:rPr>
              <a:t>5.1 · TUSHUNCHA</a:t>
            </a:r>
            <a:endParaRPr lang="en-US" sz="1200" dirty="0"/>
          </a:p>
        </p:txBody>
      </p:sp>
      <p:sp>
        <p:nvSpPr>
          <p:cNvPr id="3" name="Text 1"/>
          <p:cNvSpPr txBox="1"/>
          <p:nvPr/>
        </p:nvSpPr>
        <p:spPr>
          <a:xfrm>
            <a:off x="548640" y="777240"/>
            <a:ext cx="10789920" cy="777240"/>
          </a:xfrm>
          <a:prstGeom prst="rect">
            <a:avLst/>
          </a:prstGeom>
          <a:noFill/>
          <a:ln/>
        </p:spPr>
        <p:txBody>
          <a:bodyPr wrap="square" lIns="0" tIns="0" rIns="0" bIns="0" rtlCol="0" anchor="ctr"/>
          <a:lstStyle/>
          <a:p>
            <a:pPr indent="0" marL="0">
              <a:buNone/>
            </a:pPr>
            <a:r>
              <a:rPr lang="en-US" sz="2800" b="1" dirty="0">
                <a:solidFill>
                  <a:srgbClr val="16232E"/>
                </a:solidFill>
                <a:latin typeface="Cambria" pitchFamily="34" charset="0"/>
                <a:ea typeface="Cambria" pitchFamily="34" charset="-122"/>
                <a:cs typeface="Cambria" pitchFamily="34" charset="-120"/>
              </a:rPr>
              <a:t>Jadval modeli qanday tuziladi</a:t>
            </a:r>
            <a:endParaRPr lang="en-US" sz="2800" dirty="0"/>
          </a:p>
        </p:txBody>
      </p:sp>
      <p:sp>
        <p:nvSpPr>
          <p:cNvPr id="4" name="Text 2"/>
          <p:cNvSpPr txBox="1"/>
          <p:nvPr/>
        </p:nvSpPr>
        <p:spPr>
          <a:xfrm>
            <a:off x="548640" y="1554480"/>
            <a:ext cx="10789920" cy="1188720"/>
          </a:xfrm>
          <a:prstGeom prst="rect">
            <a:avLst/>
          </a:prstGeom>
          <a:noFill/>
          <a:ln/>
        </p:spPr>
        <p:txBody>
          <a:bodyPr wrap="square" lIns="0" tIns="0" rIns="0" bIns="0" rtlCol="0" anchor="ctr"/>
          <a:lstStyle/>
          <a:p>
            <a:pPr indent="0" marL="0">
              <a:lnSpc>
                <a:spcPct val="130000"/>
              </a:lnSpc>
              <a:buNone/>
            </a:pPr>
            <a:r>
              <a:rPr lang="en-US" sz="1400" dirty="0">
                <a:solidFill>
                  <a:srgbClr val="16232E"/>
                </a:solidFill>
                <a:latin typeface="Calibri" pitchFamily="34" charset="0"/>
                <a:ea typeface="Calibri" pitchFamily="34" charset="-122"/>
                <a:cs typeface="Calibri" pitchFamily="34" charset="-120"/>
              </a:rPr>
              <a:t>Loyiha jadvali hajm belgilagan narsani loyiha qachon va qanday yetkazib berishini ifodalaydi. Jamoa jadvallash usulini tanlaydi (masalan, kritik yo‘l metodi), loyihaga oid ma’lumotlarni jadvallash vositasiga kiritadi va natijada jadval modeli hosil bo‘ladi — tarmoq diagrammasi, faoliyatlar ro‘yxati yoki ustunli diagramma sifatida taqdim etiladi.</a:t>
            </a:r>
            <a:endParaRPr lang="en-US" sz="1400" dirty="0"/>
          </a:p>
        </p:txBody>
      </p:sp>
      <p:sp>
        <p:nvSpPr>
          <p:cNvPr id="5" name="Shape 3"/>
          <p:cNvSpPr/>
          <p:nvPr/>
        </p:nvSpPr>
        <p:spPr>
          <a:xfrm>
            <a:off x="333756" y="3108960"/>
            <a:ext cx="3291840" cy="1554480"/>
          </a:xfrm>
          <a:prstGeom prst="roundRect">
            <a:avLst>
              <a:gd name="adj" fmla="val 4706"/>
            </a:avLst>
          </a:prstGeom>
          <a:solidFill>
            <a:srgbClr val="F2F6F9"/>
          </a:solidFill>
          <a:ln/>
        </p:spPr>
      </p:sp>
      <p:sp>
        <p:nvSpPr>
          <p:cNvPr id="6" name="Shape 4"/>
          <p:cNvSpPr/>
          <p:nvPr/>
        </p:nvSpPr>
        <p:spPr>
          <a:xfrm>
            <a:off x="333756" y="3108960"/>
            <a:ext cx="3291840" cy="73152"/>
          </a:xfrm>
          <a:prstGeom prst="rect">
            <a:avLst/>
          </a:prstGeom>
          <a:solidFill>
            <a:srgbClr val="065A82"/>
          </a:solidFill>
          <a:ln/>
        </p:spPr>
      </p:sp>
      <p:sp>
        <p:nvSpPr>
          <p:cNvPr id="7" name="Text 5"/>
          <p:cNvSpPr txBox="1"/>
          <p:nvPr/>
        </p:nvSpPr>
        <p:spPr>
          <a:xfrm>
            <a:off x="516636" y="3364992"/>
            <a:ext cx="2926080" cy="457200"/>
          </a:xfrm>
          <a:prstGeom prst="rect">
            <a:avLst/>
          </a:prstGeom>
          <a:noFill/>
          <a:ln/>
        </p:spPr>
        <p:txBody>
          <a:bodyPr wrap="square" lIns="0" tIns="0" rIns="0" bIns="0" rtlCol="0" anchor="ctr"/>
          <a:lstStyle/>
          <a:p>
            <a:pPr algn="ctr" indent="0" marL="0">
              <a:buNone/>
            </a:pPr>
            <a:r>
              <a:rPr lang="en-US" sz="1500" b="1" dirty="0">
                <a:solidFill>
                  <a:srgbClr val="16232E"/>
                </a:solidFill>
                <a:latin typeface="Calibri" pitchFamily="34" charset="0"/>
                <a:ea typeface="Calibri" pitchFamily="34" charset="-122"/>
                <a:cs typeface="Calibri" pitchFamily="34" charset="-120"/>
              </a:rPr>
              <a:t>Jadvallash usuli</a:t>
            </a:r>
            <a:endParaRPr lang="en-US" sz="1500" dirty="0"/>
          </a:p>
        </p:txBody>
      </p:sp>
      <p:sp>
        <p:nvSpPr>
          <p:cNvPr id="8" name="Text 6"/>
          <p:cNvSpPr txBox="1"/>
          <p:nvPr/>
        </p:nvSpPr>
        <p:spPr>
          <a:xfrm>
            <a:off x="516636" y="3886200"/>
            <a:ext cx="2926080" cy="685800"/>
          </a:xfrm>
          <a:prstGeom prst="rect">
            <a:avLst/>
          </a:prstGeom>
          <a:noFill/>
          <a:ln/>
        </p:spPr>
        <p:txBody>
          <a:bodyPr wrap="square" lIns="0" tIns="0" rIns="0" bIns="0" rtlCol="0" anchor="t"/>
          <a:lstStyle/>
          <a:p>
            <a:pPr algn="ctr" indent="0" marL="0">
              <a:buNone/>
            </a:pPr>
            <a:r>
              <a:rPr lang="en-US" sz="1100" dirty="0">
                <a:solidFill>
                  <a:srgbClr val="5B6B77"/>
                </a:solidFill>
                <a:latin typeface="Calibri" pitchFamily="34" charset="0"/>
                <a:ea typeface="Calibri" pitchFamily="34" charset="-122"/>
                <a:cs typeface="Calibri" pitchFamily="34" charset="-120"/>
              </a:rPr>
              <a:t>masalan, Kritik yo‘l metodi</a:t>
            </a:r>
            <a:endParaRPr lang="en-US" sz="1100" dirty="0"/>
          </a:p>
        </p:txBody>
      </p:sp>
      <p:sp>
        <p:nvSpPr>
          <p:cNvPr id="9" name="Text 7"/>
          <p:cNvSpPr txBox="1"/>
          <p:nvPr/>
        </p:nvSpPr>
        <p:spPr>
          <a:xfrm>
            <a:off x="3625596" y="3611880"/>
            <a:ext cx="822960" cy="548640"/>
          </a:xfrm>
          <a:prstGeom prst="rect">
            <a:avLst/>
          </a:prstGeom>
          <a:noFill/>
          <a:ln/>
        </p:spPr>
        <p:txBody>
          <a:bodyPr wrap="square" lIns="0" tIns="0" rIns="0" bIns="0" rtlCol="0" anchor="ctr"/>
          <a:lstStyle/>
          <a:p>
            <a:pPr algn="ctr" indent="0" marL="0">
              <a:buNone/>
            </a:pPr>
            <a:r>
              <a:rPr lang="en-US" sz="2000" b="1" dirty="0">
                <a:solidFill>
                  <a:srgbClr val="5B6B77"/>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4448556" y="3108960"/>
            <a:ext cx="3291840" cy="1554480"/>
          </a:xfrm>
          <a:prstGeom prst="roundRect">
            <a:avLst>
              <a:gd name="adj" fmla="val 4706"/>
            </a:avLst>
          </a:prstGeom>
          <a:solidFill>
            <a:srgbClr val="F2F6F9"/>
          </a:solidFill>
          <a:ln/>
        </p:spPr>
      </p:sp>
      <p:sp>
        <p:nvSpPr>
          <p:cNvPr id="11" name="Shape 9"/>
          <p:cNvSpPr/>
          <p:nvPr/>
        </p:nvSpPr>
        <p:spPr>
          <a:xfrm>
            <a:off x="4448556" y="3108960"/>
            <a:ext cx="3291840" cy="73152"/>
          </a:xfrm>
          <a:prstGeom prst="rect">
            <a:avLst/>
          </a:prstGeom>
          <a:solidFill>
            <a:srgbClr val="1C7293"/>
          </a:solidFill>
          <a:ln/>
        </p:spPr>
      </p:sp>
      <p:sp>
        <p:nvSpPr>
          <p:cNvPr id="12" name="Text 10"/>
          <p:cNvSpPr txBox="1"/>
          <p:nvPr/>
        </p:nvSpPr>
        <p:spPr>
          <a:xfrm>
            <a:off x="4631436" y="3364992"/>
            <a:ext cx="2926080" cy="457200"/>
          </a:xfrm>
          <a:prstGeom prst="rect">
            <a:avLst/>
          </a:prstGeom>
          <a:noFill/>
          <a:ln/>
        </p:spPr>
        <p:txBody>
          <a:bodyPr wrap="square" lIns="0" tIns="0" rIns="0" bIns="0" rtlCol="0" anchor="ctr"/>
          <a:lstStyle/>
          <a:p>
            <a:pPr algn="ctr" indent="0" marL="0">
              <a:buNone/>
            </a:pPr>
            <a:r>
              <a:rPr lang="en-US" sz="1500" b="1" dirty="0">
                <a:solidFill>
                  <a:srgbClr val="16232E"/>
                </a:solidFill>
                <a:latin typeface="Calibri" pitchFamily="34" charset="0"/>
                <a:ea typeface="Calibri" pitchFamily="34" charset="-122"/>
                <a:cs typeface="Calibri" pitchFamily="34" charset="-120"/>
              </a:rPr>
              <a:t>Jadvallash vositasi</a:t>
            </a:r>
            <a:endParaRPr lang="en-US" sz="1500" dirty="0"/>
          </a:p>
        </p:txBody>
      </p:sp>
      <p:sp>
        <p:nvSpPr>
          <p:cNvPr id="13" name="Text 11"/>
          <p:cNvSpPr txBox="1"/>
          <p:nvPr/>
        </p:nvSpPr>
        <p:spPr>
          <a:xfrm>
            <a:off x="4631436" y="3886200"/>
            <a:ext cx="2926080" cy="685800"/>
          </a:xfrm>
          <a:prstGeom prst="rect">
            <a:avLst/>
          </a:prstGeom>
          <a:noFill/>
          <a:ln/>
        </p:spPr>
        <p:txBody>
          <a:bodyPr wrap="square" lIns="0" tIns="0" rIns="0" bIns="0" rtlCol="0" anchor="t"/>
          <a:lstStyle/>
          <a:p>
            <a:pPr algn="ctr" indent="0" marL="0">
              <a:buNone/>
            </a:pPr>
            <a:r>
              <a:rPr lang="en-US" sz="1100" dirty="0">
                <a:solidFill>
                  <a:srgbClr val="5B6B77"/>
                </a:solidFill>
                <a:latin typeface="Calibri" pitchFamily="34" charset="0"/>
                <a:ea typeface="Calibri" pitchFamily="34" charset="-122"/>
                <a:cs typeface="Calibri" pitchFamily="34" charset="-120"/>
              </a:rPr>
              <a:t>Dastur + loyiha ma’lumotlari</a:t>
            </a:r>
            <a:endParaRPr lang="en-US" sz="1100" dirty="0"/>
          </a:p>
        </p:txBody>
      </p:sp>
      <p:sp>
        <p:nvSpPr>
          <p:cNvPr id="14" name="Text 12"/>
          <p:cNvSpPr txBox="1"/>
          <p:nvPr/>
        </p:nvSpPr>
        <p:spPr>
          <a:xfrm>
            <a:off x="7740396" y="3611880"/>
            <a:ext cx="822960" cy="548640"/>
          </a:xfrm>
          <a:prstGeom prst="rect">
            <a:avLst/>
          </a:prstGeom>
          <a:noFill/>
          <a:ln/>
        </p:spPr>
        <p:txBody>
          <a:bodyPr wrap="square" lIns="0" tIns="0" rIns="0" bIns="0" rtlCol="0" anchor="ctr"/>
          <a:lstStyle/>
          <a:p>
            <a:pPr algn="ctr" indent="0" marL="0">
              <a:buNone/>
            </a:pPr>
            <a:r>
              <a:rPr lang="en-US" sz="2000" b="1" dirty="0">
                <a:solidFill>
                  <a:srgbClr val="5B6B77"/>
                </a:solidFill>
                <a:latin typeface="Calibri" pitchFamily="34" charset="0"/>
                <a:ea typeface="Calibri" pitchFamily="34" charset="-122"/>
                <a:cs typeface="Calibri" pitchFamily="34" charset="-120"/>
              </a:rPr>
              <a:t>→</a:t>
            </a:r>
            <a:endParaRPr lang="en-US" sz="2000" dirty="0"/>
          </a:p>
        </p:txBody>
      </p:sp>
      <p:sp>
        <p:nvSpPr>
          <p:cNvPr id="15" name="Shape 13"/>
          <p:cNvSpPr/>
          <p:nvPr/>
        </p:nvSpPr>
        <p:spPr>
          <a:xfrm>
            <a:off x="8563356" y="3108960"/>
            <a:ext cx="3291840" cy="1554480"/>
          </a:xfrm>
          <a:prstGeom prst="roundRect">
            <a:avLst>
              <a:gd name="adj" fmla="val 4706"/>
            </a:avLst>
          </a:prstGeom>
          <a:solidFill>
            <a:srgbClr val="F2F6F9"/>
          </a:solidFill>
          <a:ln/>
        </p:spPr>
      </p:sp>
      <p:sp>
        <p:nvSpPr>
          <p:cNvPr id="16" name="Shape 14"/>
          <p:cNvSpPr/>
          <p:nvPr/>
        </p:nvSpPr>
        <p:spPr>
          <a:xfrm>
            <a:off x="8563356" y="3108960"/>
            <a:ext cx="3291840" cy="73152"/>
          </a:xfrm>
          <a:prstGeom prst="rect">
            <a:avLst/>
          </a:prstGeom>
          <a:solidFill>
            <a:srgbClr val="D98E04"/>
          </a:solidFill>
          <a:ln/>
        </p:spPr>
      </p:sp>
      <p:sp>
        <p:nvSpPr>
          <p:cNvPr id="17" name="Text 15"/>
          <p:cNvSpPr txBox="1"/>
          <p:nvPr/>
        </p:nvSpPr>
        <p:spPr>
          <a:xfrm>
            <a:off x="8746236" y="3364992"/>
            <a:ext cx="2926080" cy="457200"/>
          </a:xfrm>
          <a:prstGeom prst="rect">
            <a:avLst/>
          </a:prstGeom>
          <a:noFill/>
          <a:ln/>
        </p:spPr>
        <p:txBody>
          <a:bodyPr wrap="square" lIns="0" tIns="0" rIns="0" bIns="0" rtlCol="0" anchor="ctr"/>
          <a:lstStyle/>
          <a:p>
            <a:pPr algn="ctr" indent="0" marL="0">
              <a:buNone/>
            </a:pPr>
            <a:r>
              <a:rPr lang="en-US" sz="1500" b="1" dirty="0">
                <a:solidFill>
                  <a:srgbClr val="16232E"/>
                </a:solidFill>
                <a:latin typeface="Calibri" pitchFamily="34" charset="0"/>
                <a:ea typeface="Calibri" pitchFamily="34" charset="-122"/>
                <a:cs typeface="Calibri" pitchFamily="34" charset="-120"/>
              </a:rPr>
              <a:t>Loyiha jadvali</a:t>
            </a:r>
            <a:endParaRPr lang="en-US" sz="1500" dirty="0"/>
          </a:p>
        </p:txBody>
      </p:sp>
      <p:sp>
        <p:nvSpPr>
          <p:cNvPr id="18" name="Text 16"/>
          <p:cNvSpPr txBox="1"/>
          <p:nvPr/>
        </p:nvSpPr>
        <p:spPr>
          <a:xfrm>
            <a:off x="8746236" y="3886200"/>
            <a:ext cx="2926080" cy="685800"/>
          </a:xfrm>
          <a:prstGeom prst="rect">
            <a:avLst/>
          </a:prstGeom>
          <a:noFill/>
          <a:ln/>
        </p:spPr>
        <p:txBody>
          <a:bodyPr wrap="square" lIns="0" tIns="0" rIns="0" bIns="0" rtlCol="0" anchor="t"/>
          <a:lstStyle/>
          <a:p>
            <a:pPr algn="ctr" indent="0" marL="0">
              <a:buNone/>
            </a:pPr>
            <a:r>
              <a:rPr lang="en-US" sz="1100" dirty="0">
                <a:solidFill>
                  <a:srgbClr val="5B6B77"/>
                </a:solidFill>
                <a:latin typeface="Calibri" pitchFamily="34" charset="0"/>
                <a:ea typeface="Calibri" pitchFamily="34" charset="-122"/>
                <a:cs typeface="Calibri" pitchFamily="34" charset="-120"/>
              </a:rPr>
              <a:t>Tarmoq diagrammasi, ustunli diagramma, faoliyatlar ro‘yxati</a:t>
            </a:r>
            <a:endParaRPr lang="en-US" sz="1100" dirty="0"/>
          </a:p>
        </p:txBody>
      </p:sp>
      <p:sp>
        <p:nvSpPr>
          <p:cNvPr id="19" name="Text 17"/>
          <p:cNvSpPr txBox="1"/>
          <p:nvPr/>
        </p:nvSpPr>
        <p:spPr>
          <a:xfrm>
            <a:off x="11274552" y="6355080"/>
            <a:ext cx="548640" cy="320040"/>
          </a:xfrm>
          <a:prstGeom prst="rect">
            <a:avLst/>
          </a:prstGeom>
          <a:noFill/>
          <a:ln/>
        </p:spPr>
        <p:txBody>
          <a:bodyPr wrap="square" lIns="0" tIns="0" rIns="0" bIns="0" rtlCol="0" anchor="ctr"/>
          <a:lstStyle/>
          <a:p>
            <a:pPr algn="r" indent="0" marL="0">
              <a:buNone/>
            </a:pPr>
            <a:r>
              <a:rPr lang="en-US" sz="1000" dirty="0">
                <a:solidFill>
                  <a:srgbClr val="5B6B77"/>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9601200" cy="365760"/>
          </a:xfrm>
          <a:prstGeom prst="rect">
            <a:avLst/>
          </a:prstGeom>
          <a:noFill/>
          <a:ln/>
        </p:spPr>
        <p:txBody>
          <a:bodyPr wrap="square" lIns="0" tIns="0" rIns="0" bIns="0" rtlCol="0" anchor="ctr"/>
          <a:lstStyle/>
          <a:p>
            <a:pPr indent="0" marL="0">
              <a:buNone/>
            </a:pPr>
            <a:r>
              <a:rPr lang="en-US" sz="1200" b="1" spc="200" kern="0" dirty="0">
                <a:solidFill>
                  <a:srgbClr val="D98E04"/>
                </a:solidFill>
                <a:latin typeface="Calibri" pitchFamily="34" charset="0"/>
                <a:ea typeface="Calibri" pitchFamily="34" charset="-122"/>
                <a:cs typeface="Calibri" pitchFamily="34" charset="-120"/>
              </a:rPr>
              <a:t>5.2 · JARAYONLAR OQIMI</a:t>
            </a:r>
            <a:endParaRPr lang="en-US" sz="1200" dirty="0"/>
          </a:p>
        </p:txBody>
      </p:sp>
      <p:sp>
        <p:nvSpPr>
          <p:cNvPr id="3" name="Text 1"/>
          <p:cNvSpPr txBox="1"/>
          <p:nvPr/>
        </p:nvSpPr>
        <p:spPr>
          <a:xfrm>
            <a:off x="548640" y="777240"/>
            <a:ext cx="10789920" cy="777240"/>
          </a:xfrm>
          <a:prstGeom prst="rect">
            <a:avLst/>
          </a:prstGeom>
          <a:noFill/>
          <a:ln/>
        </p:spPr>
        <p:txBody>
          <a:bodyPr wrap="square" lIns="0" tIns="0" rIns="0" bIns="0" rtlCol="0" anchor="ctr"/>
          <a:lstStyle/>
          <a:p>
            <a:pPr indent="0" marL="0">
              <a:buNone/>
            </a:pPr>
            <a:r>
              <a:rPr lang="en-US" sz="3200" b="1" dirty="0">
                <a:solidFill>
                  <a:srgbClr val="16232E"/>
                </a:solidFill>
                <a:latin typeface="Cambria" pitchFamily="34" charset="0"/>
                <a:ea typeface="Cambria" pitchFamily="34" charset="-122"/>
                <a:cs typeface="Cambria" pitchFamily="34" charset="-120"/>
              </a:rPr>
              <a:t>Oltita jarayon, bitta vaqt jadvali</a:t>
            </a:r>
            <a:endParaRPr lang="en-US" sz="3200" dirty="0"/>
          </a:p>
        </p:txBody>
      </p:sp>
      <p:sp>
        <p:nvSpPr>
          <p:cNvPr id="4" name="Text 2"/>
          <p:cNvSpPr txBox="1"/>
          <p:nvPr/>
        </p:nvSpPr>
        <p:spPr>
          <a:xfrm>
            <a:off x="548640" y="1508760"/>
            <a:ext cx="10789920" cy="548640"/>
          </a:xfrm>
          <a:prstGeom prst="rect">
            <a:avLst/>
          </a:prstGeom>
          <a:noFill/>
          <a:ln/>
        </p:spPr>
        <p:txBody>
          <a:bodyPr wrap="square" lIns="0" tIns="0" rIns="0" bIns="0" rtlCol="0" anchor="ctr"/>
          <a:lstStyle/>
          <a:p>
            <a:pPr indent="0" marL="0">
              <a:buNone/>
            </a:pPr>
            <a:r>
              <a:rPr lang="en-US" sz="1350" dirty="0">
                <a:solidFill>
                  <a:srgbClr val="5B6B77"/>
                </a:solidFill>
                <a:latin typeface="Calibri" pitchFamily="34" charset="0"/>
                <a:ea typeface="Calibri" pitchFamily="34" charset="-122"/>
                <a:cs typeface="Calibri" pitchFamily="34" charset="-120"/>
              </a:rPr>
              <a:t>Jadvalni boshqarish metodologiyani belgilashdan boshlanib, bazaviy chiziqni og‘ishdan himoya qilishgacha davom etadi.</a:t>
            </a:r>
            <a:endParaRPr lang="en-US" sz="1350" dirty="0"/>
          </a:p>
        </p:txBody>
      </p:sp>
      <p:sp>
        <p:nvSpPr>
          <p:cNvPr id="5" name="Shape 3"/>
          <p:cNvSpPr/>
          <p:nvPr/>
        </p:nvSpPr>
        <p:spPr>
          <a:xfrm>
            <a:off x="548640" y="2468880"/>
            <a:ext cx="1691640" cy="2468880"/>
          </a:xfrm>
          <a:prstGeom prst="roundRect">
            <a:avLst>
              <a:gd name="adj" fmla="val 4324"/>
            </a:avLst>
          </a:prstGeom>
          <a:solidFill>
            <a:srgbClr val="F2F6F9"/>
          </a:solidFill>
          <a:ln/>
        </p:spPr>
      </p:sp>
      <p:sp>
        <p:nvSpPr>
          <p:cNvPr id="6" name="Shape 4"/>
          <p:cNvSpPr/>
          <p:nvPr/>
        </p:nvSpPr>
        <p:spPr>
          <a:xfrm>
            <a:off x="548640" y="2468880"/>
            <a:ext cx="1691640" cy="82296"/>
          </a:xfrm>
          <a:prstGeom prst="rect">
            <a:avLst/>
          </a:prstGeom>
          <a:solidFill>
            <a:srgbClr val="065A82"/>
          </a:solidFill>
          <a:ln/>
        </p:spPr>
      </p:sp>
      <p:sp>
        <p:nvSpPr>
          <p:cNvPr id="7" name="Shape 5"/>
          <p:cNvSpPr/>
          <p:nvPr/>
        </p:nvSpPr>
        <p:spPr>
          <a:xfrm>
            <a:off x="1156716" y="2706624"/>
            <a:ext cx="475488" cy="475488"/>
          </a:xfrm>
          <a:prstGeom prst="ellipse">
            <a:avLst/>
          </a:prstGeom>
          <a:solidFill>
            <a:srgbClr val="065A82"/>
          </a:solidFill>
          <a:ln/>
        </p:spPr>
      </p:sp>
      <p:sp>
        <p:nvSpPr>
          <p:cNvPr id="8" name="Text 6"/>
          <p:cNvSpPr txBox="1"/>
          <p:nvPr/>
        </p:nvSpPr>
        <p:spPr>
          <a:xfrm>
            <a:off x="1156716" y="2706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621792" y="3337560"/>
            <a:ext cx="1545336" cy="685800"/>
          </a:xfrm>
          <a:prstGeom prst="rect">
            <a:avLst/>
          </a:prstGeom>
          <a:noFill/>
          <a:ln/>
        </p:spPr>
        <p:txBody>
          <a:bodyPr wrap="square" lIns="0" tIns="0" rIns="0" bIns="0" rtlCol="0" anchor="t"/>
          <a:lstStyle/>
          <a:p>
            <a:pPr algn="ctr" indent="0" marL="0">
              <a:buNone/>
            </a:pPr>
            <a:r>
              <a:rPr lang="en-US" sz="1050" b="1" dirty="0">
                <a:solidFill>
                  <a:srgbClr val="16232E"/>
                </a:solidFill>
                <a:latin typeface="Calibri" pitchFamily="34" charset="0"/>
                <a:ea typeface="Calibri" pitchFamily="34" charset="-122"/>
                <a:cs typeface="Calibri" pitchFamily="34" charset="-120"/>
              </a:rPr>
              <a:t>Jadvalni rejalashtirish</a:t>
            </a:r>
            <a:endParaRPr lang="en-US" sz="1050" dirty="0"/>
          </a:p>
        </p:txBody>
      </p:sp>
      <p:sp>
        <p:nvSpPr>
          <p:cNvPr id="10" name="Text 8"/>
          <p:cNvSpPr txBox="1"/>
          <p:nvPr/>
        </p:nvSpPr>
        <p:spPr>
          <a:xfrm>
            <a:off x="621792" y="4069080"/>
            <a:ext cx="1545336" cy="777240"/>
          </a:xfrm>
          <a:prstGeom prst="rect">
            <a:avLst/>
          </a:prstGeom>
          <a:noFill/>
          <a:ln/>
        </p:spPr>
        <p:txBody>
          <a:bodyPr wrap="square" lIns="0" tIns="0" rIns="0" bIns="0" rtlCol="0" anchor="t"/>
          <a:lstStyle/>
          <a:p>
            <a:pPr algn="ctr" indent="0" marL="0">
              <a:buNone/>
            </a:pPr>
            <a:r>
              <a:rPr lang="en-US" sz="950" dirty="0">
                <a:solidFill>
                  <a:srgbClr val="5B6B77"/>
                </a:solidFill>
                <a:latin typeface="Calibri" pitchFamily="34" charset="0"/>
                <a:ea typeface="Calibri" pitchFamily="34" charset="-122"/>
                <a:cs typeface="Calibri" pitchFamily="34" charset="-120"/>
              </a:rPr>
              <a:t>Usul va vositalarni tanlash</a:t>
            </a:r>
            <a:endParaRPr lang="en-US" sz="950" dirty="0"/>
          </a:p>
        </p:txBody>
      </p:sp>
      <p:sp>
        <p:nvSpPr>
          <p:cNvPr id="11" name="Text 9"/>
          <p:cNvSpPr txBox="1"/>
          <p:nvPr/>
        </p:nvSpPr>
        <p:spPr>
          <a:xfrm>
            <a:off x="2240280" y="3429000"/>
            <a:ext cx="182880" cy="548640"/>
          </a:xfrm>
          <a:prstGeom prst="rect">
            <a:avLst/>
          </a:prstGeom>
          <a:noFill/>
          <a:ln/>
        </p:spPr>
        <p:txBody>
          <a:bodyPr wrap="square" lIns="0" tIns="0" rIns="0" bIns="0" rtlCol="0" anchor="ctr"/>
          <a:lstStyle/>
          <a:p>
            <a:pPr algn="ctr" indent="0" marL="0">
              <a:buNone/>
            </a:pPr>
            <a:r>
              <a:rPr lang="en-US" sz="1600" b="1" dirty="0">
                <a:solidFill>
                  <a:srgbClr val="5B6B77"/>
                </a:solidFill>
                <a:latin typeface="Calibri" pitchFamily="34" charset="0"/>
                <a:ea typeface="Calibri" pitchFamily="34" charset="-122"/>
                <a:cs typeface="Calibri" pitchFamily="34" charset="-120"/>
              </a:rPr>
              <a:t>→</a:t>
            </a:r>
            <a:endParaRPr lang="en-US" sz="1600" dirty="0"/>
          </a:p>
        </p:txBody>
      </p:sp>
      <p:sp>
        <p:nvSpPr>
          <p:cNvPr id="12" name="Shape 10"/>
          <p:cNvSpPr/>
          <p:nvPr/>
        </p:nvSpPr>
        <p:spPr>
          <a:xfrm>
            <a:off x="2423160" y="2468880"/>
            <a:ext cx="1691640" cy="2468880"/>
          </a:xfrm>
          <a:prstGeom prst="roundRect">
            <a:avLst>
              <a:gd name="adj" fmla="val 4324"/>
            </a:avLst>
          </a:prstGeom>
          <a:solidFill>
            <a:srgbClr val="F2F6F9"/>
          </a:solidFill>
          <a:ln/>
        </p:spPr>
      </p:sp>
      <p:sp>
        <p:nvSpPr>
          <p:cNvPr id="13" name="Shape 11"/>
          <p:cNvSpPr/>
          <p:nvPr/>
        </p:nvSpPr>
        <p:spPr>
          <a:xfrm>
            <a:off x="2423160" y="2468880"/>
            <a:ext cx="1691640" cy="82296"/>
          </a:xfrm>
          <a:prstGeom prst="rect">
            <a:avLst/>
          </a:prstGeom>
          <a:solidFill>
            <a:srgbClr val="2E7A9E"/>
          </a:solidFill>
          <a:ln/>
        </p:spPr>
      </p:sp>
      <p:sp>
        <p:nvSpPr>
          <p:cNvPr id="14" name="Shape 12"/>
          <p:cNvSpPr/>
          <p:nvPr/>
        </p:nvSpPr>
        <p:spPr>
          <a:xfrm>
            <a:off x="3031236" y="2706624"/>
            <a:ext cx="475488" cy="475488"/>
          </a:xfrm>
          <a:prstGeom prst="ellipse">
            <a:avLst/>
          </a:prstGeom>
          <a:solidFill>
            <a:srgbClr val="2E7A9E"/>
          </a:solidFill>
          <a:ln/>
        </p:spPr>
      </p:sp>
      <p:sp>
        <p:nvSpPr>
          <p:cNvPr id="15" name="Text 13"/>
          <p:cNvSpPr txBox="1"/>
          <p:nvPr/>
        </p:nvSpPr>
        <p:spPr>
          <a:xfrm>
            <a:off x="3031236" y="2706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4"/>
          <p:cNvSpPr txBox="1"/>
          <p:nvPr/>
        </p:nvSpPr>
        <p:spPr>
          <a:xfrm>
            <a:off x="2496312" y="3337560"/>
            <a:ext cx="1545336" cy="685800"/>
          </a:xfrm>
          <a:prstGeom prst="rect">
            <a:avLst/>
          </a:prstGeom>
          <a:noFill/>
          <a:ln/>
        </p:spPr>
        <p:txBody>
          <a:bodyPr wrap="square" lIns="0" tIns="0" rIns="0" bIns="0" rtlCol="0" anchor="t"/>
          <a:lstStyle/>
          <a:p>
            <a:pPr algn="ctr" indent="0" marL="0">
              <a:buNone/>
            </a:pPr>
            <a:r>
              <a:rPr lang="en-US" sz="1050" b="1" dirty="0">
                <a:solidFill>
                  <a:srgbClr val="16232E"/>
                </a:solidFill>
                <a:latin typeface="Calibri" pitchFamily="34" charset="0"/>
                <a:ea typeface="Calibri" pitchFamily="34" charset="-122"/>
                <a:cs typeface="Calibri" pitchFamily="34" charset="-120"/>
              </a:rPr>
              <a:t>Faoliyatlarni aniqlash</a:t>
            </a:r>
            <a:endParaRPr lang="en-US" sz="1050" dirty="0"/>
          </a:p>
        </p:txBody>
      </p:sp>
      <p:sp>
        <p:nvSpPr>
          <p:cNvPr id="17" name="Text 15"/>
          <p:cNvSpPr txBox="1"/>
          <p:nvPr/>
        </p:nvSpPr>
        <p:spPr>
          <a:xfrm>
            <a:off x="2496312" y="4069080"/>
            <a:ext cx="1545336" cy="777240"/>
          </a:xfrm>
          <a:prstGeom prst="rect">
            <a:avLst/>
          </a:prstGeom>
          <a:noFill/>
          <a:ln/>
        </p:spPr>
        <p:txBody>
          <a:bodyPr wrap="square" lIns="0" tIns="0" rIns="0" bIns="0" rtlCol="0" anchor="t"/>
          <a:lstStyle/>
          <a:p>
            <a:pPr algn="ctr" indent="0" marL="0">
              <a:buNone/>
            </a:pPr>
            <a:r>
              <a:rPr lang="en-US" sz="950" dirty="0">
                <a:solidFill>
                  <a:srgbClr val="5B6B77"/>
                </a:solidFill>
                <a:latin typeface="Calibri" pitchFamily="34" charset="0"/>
                <a:ea typeface="Calibri" pitchFamily="34" charset="-122"/>
                <a:cs typeface="Calibri" pitchFamily="34" charset="-120"/>
              </a:rPr>
              <a:t>Aniq harakatlarni ro‘yxatlash</a:t>
            </a:r>
            <a:endParaRPr lang="en-US" sz="950" dirty="0"/>
          </a:p>
        </p:txBody>
      </p:sp>
      <p:sp>
        <p:nvSpPr>
          <p:cNvPr id="18" name="Text 16"/>
          <p:cNvSpPr txBox="1"/>
          <p:nvPr/>
        </p:nvSpPr>
        <p:spPr>
          <a:xfrm>
            <a:off x="4114800" y="3429000"/>
            <a:ext cx="182880" cy="548640"/>
          </a:xfrm>
          <a:prstGeom prst="rect">
            <a:avLst/>
          </a:prstGeom>
          <a:noFill/>
          <a:ln/>
        </p:spPr>
        <p:txBody>
          <a:bodyPr wrap="square" lIns="0" tIns="0" rIns="0" bIns="0" rtlCol="0" anchor="ctr"/>
          <a:lstStyle/>
          <a:p>
            <a:pPr algn="ctr" indent="0" marL="0">
              <a:buNone/>
            </a:pPr>
            <a:r>
              <a:rPr lang="en-US" sz="1600" b="1" dirty="0">
                <a:solidFill>
                  <a:srgbClr val="5B6B77"/>
                </a:solidFill>
                <a:latin typeface="Calibri" pitchFamily="34" charset="0"/>
                <a:ea typeface="Calibri" pitchFamily="34" charset="-122"/>
                <a:cs typeface="Calibri" pitchFamily="34" charset="-120"/>
              </a:rPr>
              <a:t>→</a:t>
            </a:r>
            <a:endParaRPr lang="en-US" sz="1600" dirty="0"/>
          </a:p>
        </p:txBody>
      </p:sp>
      <p:sp>
        <p:nvSpPr>
          <p:cNvPr id="19" name="Shape 17"/>
          <p:cNvSpPr/>
          <p:nvPr/>
        </p:nvSpPr>
        <p:spPr>
          <a:xfrm>
            <a:off x="4297680" y="2468880"/>
            <a:ext cx="1691640" cy="2468880"/>
          </a:xfrm>
          <a:prstGeom prst="roundRect">
            <a:avLst>
              <a:gd name="adj" fmla="val 4324"/>
            </a:avLst>
          </a:prstGeom>
          <a:solidFill>
            <a:srgbClr val="F2F6F9"/>
          </a:solidFill>
          <a:ln/>
        </p:spPr>
      </p:sp>
      <p:sp>
        <p:nvSpPr>
          <p:cNvPr id="20" name="Shape 18"/>
          <p:cNvSpPr/>
          <p:nvPr/>
        </p:nvSpPr>
        <p:spPr>
          <a:xfrm>
            <a:off x="4297680" y="2468880"/>
            <a:ext cx="1691640" cy="82296"/>
          </a:xfrm>
          <a:prstGeom prst="rect">
            <a:avLst/>
          </a:prstGeom>
          <a:solidFill>
            <a:srgbClr val="1C7293"/>
          </a:solidFill>
          <a:ln/>
        </p:spPr>
      </p:sp>
      <p:sp>
        <p:nvSpPr>
          <p:cNvPr id="21" name="Shape 19"/>
          <p:cNvSpPr/>
          <p:nvPr/>
        </p:nvSpPr>
        <p:spPr>
          <a:xfrm>
            <a:off x="4905756" y="2706624"/>
            <a:ext cx="475488" cy="475488"/>
          </a:xfrm>
          <a:prstGeom prst="ellipse">
            <a:avLst/>
          </a:prstGeom>
          <a:solidFill>
            <a:srgbClr val="1C7293"/>
          </a:solidFill>
          <a:ln/>
        </p:spPr>
      </p:sp>
      <p:sp>
        <p:nvSpPr>
          <p:cNvPr id="22" name="Text 20"/>
          <p:cNvSpPr txBox="1"/>
          <p:nvPr/>
        </p:nvSpPr>
        <p:spPr>
          <a:xfrm>
            <a:off x="4905756" y="2706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3" name="Text 21"/>
          <p:cNvSpPr txBox="1"/>
          <p:nvPr/>
        </p:nvSpPr>
        <p:spPr>
          <a:xfrm>
            <a:off x="4370832" y="3337560"/>
            <a:ext cx="1545336" cy="685800"/>
          </a:xfrm>
          <a:prstGeom prst="rect">
            <a:avLst/>
          </a:prstGeom>
          <a:noFill/>
          <a:ln/>
        </p:spPr>
        <p:txBody>
          <a:bodyPr wrap="square" lIns="0" tIns="0" rIns="0" bIns="0" rtlCol="0" anchor="t"/>
          <a:lstStyle/>
          <a:p>
            <a:pPr algn="ctr" indent="0" marL="0">
              <a:buNone/>
            </a:pPr>
            <a:r>
              <a:rPr lang="en-US" sz="1050" b="1" dirty="0">
                <a:solidFill>
                  <a:srgbClr val="16232E"/>
                </a:solidFill>
                <a:latin typeface="Calibri" pitchFamily="34" charset="0"/>
                <a:ea typeface="Calibri" pitchFamily="34" charset="-122"/>
                <a:cs typeface="Calibri" pitchFamily="34" charset="-120"/>
              </a:rPr>
              <a:t>Ketma-ketlashtirish</a:t>
            </a:r>
            <a:endParaRPr lang="en-US" sz="1050" dirty="0"/>
          </a:p>
        </p:txBody>
      </p:sp>
      <p:sp>
        <p:nvSpPr>
          <p:cNvPr id="24" name="Text 22"/>
          <p:cNvSpPr txBox="1"/>
          <p:nvPr/>
        </p:nvSpPr>
        <p:spPr>
          <a:xfrm>
            <a:off x="4370832" y="4069080"/>
            <a:ext cx="1545336" cy="777240"/>
          </a:xfrm>
          <a:prstGeom prst="rect">
            <a:avLst/>
          </a:prstGeom>
          <a:noFill/>
          <a:ln/>
        </p:spPr>
        <p:txBody>
          <a:bodyPr wrap="square" lIns="0" tIns="0" rIns="0" bIns="0" rtlCol="0" anchor="t"/>
          <a:lstStyle/>
          <a:p>
            <a:pPr algn="ctr" indent="0" marL="0">
              <a:buNone/>
            </a:pPr>
            <a:r>
              <a:rPr lang="en-US" sz="950" dirty="0">
                <a:solidFill>
                  <a:srgbClr val="5B6B77"/>
                </a:solidFill>
                <a:latin typeface="Calibri" pitchFamily="34" charset="0"/>
                <a:ea typeface="Calibri" pitchFamily="34" charset="-122"/>
                <a:cs typeface="Calibri" pitchFamily="34" charset="-120"/>
              </a:rPr>
              <a:t>Bog‘liqliklarni tartiblash</a:t>
            </a:r>
            <a:endParaRPr lang="en-US" sz="950" dirty="0"/>
          </a:p>
        </p:txBody>
      </p:sp>
      <p:sp>
        <p:nvSpPr>
          <p:cNvPr id="25" name="Text 23"/>
          <p:cNvSpPr txBox="1"/>
          <p:nvPr/>
        </p:nvSpPr>
        <p:spPr>
          <a:xfrm>
            <a:off x="5989320" y="3429000"/>
            <a:ext cx="182880" cy="548640"/>
          </a:xfrm>
          <a:prstGeom prst="rect">
            <a:avLst/>
          </a:prstGeom>
          <a:noFill/>
          <a:ln/>
        </p:spPr>
        <p:txBody>
          <a:bodyPr wrap="square" lIns="0" tIns="0" rIns="0" bIns="0" rtlCol="0" anchor="ctr"/>
          <a:lstStyle/>
          <a:p>
            <a:pPr algn="ctr" indent="0" marL="0">
              <a:buNone/>
            </a:pPr>
            <a:r>
              <a:rPr lang="en-US" sz="1600" b="1" dirty="0">
                <a:solidFill>
                  <a:srgbClr val="5B6B77"/>
                </a:solidFill>
                <a:latin typeface="Calibri" pitchFamily="34" charset="0"/>
                <a:ea typeface="Calibri" pitchFamily="34" charset="-122"/>
                <a:cs typeface="Calibri" pitchFamily="34" charset="-120"/>
              </a:rPr>
              <a:t>→</a:t>
            </a:r>
            <a:endParaRPr lang="en-US" sz="1600" dirty="0"/>
          </a:p>
        </p:txBody>
      </p:sp>
      <p:sp>
        <p:nvSpPr>
          <p:cNvPr id="26" name="Shape 24"/>
          <p:cNvSpPr/>
          <p:nvPr/>
        </p:nvSpPr>
        <p:spPr>
          <a:xfrm>
            <a:off x="6172200" y="2468880"/>
            <a:ext cx="1691640" cy="2468880"/>
          </a:xfrm>
          <a:prstGeom prst="roundRect">
            <a:avLst>
              <a:gd name="adj" fmla="val 4324"/>
            </a:avLst>
          </a:prstGeom>
          <a:solidFill>
            <a:srgbClr val="F2F6F9"/>
          </a:solidFill>
          <a:ln/>
        </p:spPr>
      </p:sp>
      <p:sp>
        <p:nvSpPr>
          <p:cNvPr id="27" name="Shape 25"/>
          <p:cNvSpPr/>
          <p:nvPr/>
        </p:nvSpPr>
        <p:spPr>
          <a:xfrm>
            <a:off x="6172200" y="2468880"/>
            <a:ext cx="1691640" cy="82296"/>
          </a:xfrm>
          <a:prstGeom prst="rect">
            <a:avLst/>
          </a:prstGeom>
          <a:solidFill>
            <a:srgbClr val="2E7A9E"/>
          </a:solidFill>
          <a:ln/>
        </p:spPr>
      </p:sp>
      <p:sp>
        <p:nvSpPr>
          <p:cNvPr id="28" name="Shape 26"/>
          <p:cNvSpPr/>
          <p:nvPr/>
        </p:nvSpPr>
        <p:spPr>
          <a:xfrm>
            <a:off x="6780276" y="2706624"/>
            <a:ext cx="475488" cy="475488"/>
          </a:xfrm>
          <a:prstGeom prst="ellipse">
            <a:avLst/>
          </a:prstGeom>
          <a:solidFill>
            <a:srgbClr val="2E7A9E"/>
          </a:solidFill>
          <a:ln/>
        </p:spPr>
      </p:sp>
      <p:sp>
        <p:nvSpPr>
          <p:cNvPr id="29" name="Text 27"/>
          <p:cNvSpPr txBox="1"/>
          <p:nvPr/>
        </p:nvSpPr>
        <p:spPr>
          <a:xfrm>
            <a:off x="6780276" y="2706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8"/>
          <p:cNvSpPr txBox="1"/>
          <p:nvPr/>
        </p:nvSpPr>
        <p:spPr>
          <a:xfrm>
            <a:off x="6245352" y="3337560"/>
            <a:ext cx="1545336" cy="685800"/>
          </a:xfrm>
          <a:prstGeom prst="rect">
            <a:avLst/>
          </a:prstGeom>
          <a:noFill/>
          <a:ln/>
        </p:spPr>
        <p:txBody>
          <a:bodyPr wrap="square" lIns="0" tIns="0" rIns="0" bIns="0" rtlCol="0" anchor="t"/>
          <a:lstStyle/>
          <a:p>
            <a:pPr algn="ctr" indent="0" marL="0">
              <a:buNone/>
            </a:pPr>
            <a:r>
              <a:rPr lang="en-US" sz="1050" b="1" dirty="0">
                <a:solidFill>
                  <a:srgbClr val="16232E"/>
                </a:solidFill>
                <a:latin typeface="Calibri" pitchFamily="34" charset="0"/>
                <a:ea typeface="Calibri" pitchFamily="34" charset="-122"/>
                <a:cs typeface="Calibri" pitchFamily="34" charset="-120"/>
              </a:rPr>
              <a:t>Davomiylikni baholash</a:t>
            </a:r>
            <a:endParaRPr lang="en-US" sz="1050" dirty="0"/>
          </a:p>
        </p:txBody>
      </p:sp>
      <p:sp>
        <p:nvSpPr>
          <p:cNvPr id="31" name="Text 29"/>
          <p:cNvSpPr txBox="1"/>
          <p:nvPr/>
        </p:nvSpPr>
        <p:spPr>
          <a:xfrm>
            <a:off x="6245352" y="4069080"/>
            <a:ext cx="1545336" cy="777240"/>
          </a:xfrm>
          <a:prstGeom prst="rect">
            <a:avLst/>
          </a:prstGeom>
          <a:noFill/>
          <a:ln/>
        </p:spPr>
        <p:txBody>
          <a:bodyPr wrap="square" lIns="0" tIns="0" rIns="0" bIns="0" rtlCol="0" anchor="t"/>
          <a:lstStyle/>
          <a:p>
            <a:pPr algn="ctr" indent="0" marL="0">
              <a:buNone/>
            </a:pPr>
            <a:r>
              <a:rPr lang="en-US" sz="950" dirty="0">
                <a:solidFill>
                  <a:srgbClr val="5B6B77"/>
                </a:solidFill>
                <a:latin typeface="Calibri" pitchFamily="34" charset="0"/>
                <a:ea typeface="Calibri" pitchFamily="34" charset="-122"/>
                <a:cs typeface="Calibri" pitchFamily="34" charset="-120"/>
              </a:rPr>
              <a:t>Har bir faoliyat qancha davom etadi</a:t>
            </a:r>
            <a:endParaRPr lang="en-US" sz="950" dirty="0"/>
          </a:p>
        </p:txBody>
      </p:sp>
      <p:sp>
        <p:nvSpPr>
          <p:cNvPr id="32" name="Text 30"/>
          <p:cNvSpPr txBox="1"/>
          <p:nvPr/>
        </p:nvSpPr>
        <p:spPr>
          <a:xfrm>
            <a:off x="7863840" y="3429000"/>
            <a:ext cx="182880" cy="548640"/>
          </a:xfrm>
          <a:prstGeom prst="rect">
            <a:avLst/>
          </a:prstGeom>
          <a:noFill/>
          <a:ln/>
        </p:spPr>
        <p:txBody>
          <a:bodyPr wrap="square" lIns="0" tIns="0" rIns="0" bIns="0" rtlCol="0" anchor="ctr"/>
          <a:lstStyle/>
          <a:p>
            <a:pPr algn="ctr" indent="0" marL="0">
              <a:buNone/>
            </a:pPr>
            <a:r>
              <a:rPr lang="en-US" sz="1600" b="1" dirty="0">
                <a:solidFill>
                  <a:srgbClr val="5B6B77"/>
                </a:solidFill>
                <a:latin typeface="Calibri" pitchFamily="34" charset="0"/>
                <a:ea typeface="Calibri" pitchFamily="34" charset="-122"/>
                <a:cs typeface="Calibri" pitchFamily="34" charset="-120"/>
              </a:rPr>
              <a:t>→</a:t>
            </a:r>
            <a:endParaRPr lang="en-US" sz="1600" dirty="0"/>
          </a:p>
        </p:txBody>
      </p:sp>
      <p:sp>
        <p:nvSpPr>
          <p:cNvPr id="33" name="Shape 31"/>
          <p:cNvSpPr/>
          <p:nvPr/>
        </p:nvSpPr>
        <p:spPr>
          <a:xfrm>
            <a:off x="8046720" y="2468880"/>
            <a:ext cx="1691640" cy="2468880"/>
          </a:xfrm>
          <a:prstGeom prst="roundRect">
            <a:avLst>
              <a:gd name="adj" fmla="val 4324"/>
            </a:avLst>
          </a:prstGeom>
          <a:solidFill>
            <a:srgbClr val="F2F6F9"/>
          </a:solidFill>
          <a:ln/>
        </p:spPr>
      </p:sp>
      <p:sp>
        <p:nvSpPr>
          <p:cNvPr id="34" name="Shape 32"/>
          <p:cNvSpPr/>
          <p:nvPr/>
        </p:nvSpPr>
        <p:spPr>
          <a:xfrm>
            <a:off x="8046720" y="2468880"/>
            <a:ext cx="1691640" cy="82296"/>
          </a:xfrm>
          <a:prstGeom prst="rect">
            <a:avLst/>
          </a:prstGeom>
          <a:solidFill>
            <a:srgbClr val="C77A0A"/>
          </a:solidFill>
          <a:ln/>
        </p:spPr>
      </p:sp>
      <p:sp>
        <p:nvSpPr>
          <p:cNvPr id="35" name="Shape 33"/>
          <p:cNvSpPr/>
          <p:nvPr/>
        </p:nvSpPr>
        <p:spPr>
          <a:xfrm>
            <a:off x="8654796" y="2706624"/>
            <a:ext cx="475488" cy="475488"/>
          </a:xfrm>
          <a:prstGeom prst="ellipse">
            <a:avLst/>
          </a:prstGeom>
          <a:solidFill>
            <a:srgbClr val="C77A0A"/>
          </a:solidFill>
          <a:ln/>
        </p:spPr>
      </p:sp>
      <p:sp>
        <p:nvSpPr>
          <p:cNvPr id="36" name="Text 34"/>
          <p:cNvSpPr txBox="1"/>
          <p:nvPr/>
        </p:nvSpPr>
        <p:spPr>
          <a:xfrm>
            <a:off x="8654796" y="2706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7" name="Text 35"/>
          <p:cNvSpPr txBox="1"/>
          <p:nvPr/>
        </p:nvSpPr>
        <p:spPr>
          <a:xfrm>
            <a:off x="8119872" y="3337560"/>
            <a:ext cx="1545336" cy="685800"/>
          </a:xfrm>
          <a:prstGeom prst="rect">
            <a:avLst/>
          </a:prstGeom>
          <a:noFill/>
          <a:ln/>
        </p:spPr>
        <p:txBody>
          <a:bodyPr wrap="square" lIns="0" tIns="0" rIns="0" bIns="0" rtlCol="0" anchor="t"/>
          <a:lstStyle/>
          <a:p>
            <a:pPr algn="ctr" indent="0" marL="0">
              <a:buNone/>
            </a:pPr>
            <a:r>
              <a:rPr lang="en-US" sz="1050" b="1" dirty="0">
                <a:solidFill>
                  <a:srgbClr val="16232E"/>
                </a:solidFill>
                <a:latin typeface="Calibri" pitchFamily="34" charset="0"/>
                <a:ea typeface="Calibri" pitchFamily="34" charset="-122"/>
                <a:cs typeface="Calibri" pitchFamily="34" charset="-120"/>
              </a:rPr>
              <a:t>Jadvalni ishlab chiqish</a:t>
            </a:r>
            <a:endParaRPr lang="en-US" sz="1050" dirty="0"/>
          </a:p>
        </p:txBody>
      </p:sp>
      <p:sp>
        <p:nvSpPr>
          <p:cNvPr id="38" name="Text 36"/>
          <p:cNvSpPr txBox="1"/>
          <p:nvPr/>
        </p:nvSpPr>
        <p:spPr>
          <a:xfrm>
            <a:off x="8119872" y="4069080"/>
            <a:ext cx="1545336" cy="777240"/>
          </a:xfrm>
          <a:prstGeom prst="rect">
            <a:avLst/>
          </a:prstGeom>
          <a:noFill/>
          <a:ln/>
        </p:spPr>
        <p:txBody>
          <a:bodyPr wrap="square" lIns="0" tIns="0" rIns="0" bIns="0" rtlCol="0" anchor="t"/>
          <a:lstStyle/>
          <a:p>
            <a:pPr algn="ctr" indent="0" marL="0">
              <a:buNone/>
            </a:pPr>
            <a:r>
              <a:rPr lang="en-US" sz="950" dirty="0">
                <a:solidFill>
                  <a:srgbClr val="5B6B77"/>
                </a:solidFill>
                <a:latin typeface="Calibri" pitchFamily="34" charset="0"/>
                <a:ea typeface="Calibri" pitchFamily="34" charset="-122"/>
                <a:cs typeface="Calibri" pitchFamily="34" charset="-120"/>
              </a:rPr>
              <a:t>Modelni qurish va kritik yo‘lni topish</a:t>
            </a:r>
            <a:endParaRPr lang="en-US" sz="950" dirty="0"/>
          </a:p>
        </p:txBody>
      </p:sp>
      <p:sp>
        <p:nvSpPr>
          <p:cNvPr id="39" name="Text 37"/>
          <p:cNvSpPr txBox="1"/>
          <p:nvPr/>
        </p:nvSpPr>
        <p:spPr>
          <a:xfrm>
            <a:off x="9738360" y="3429000"/>
            <a:ext cx="182880" cy="548640"/>
          </a:xfrm>
          <a:prstGeom prst="rect">
            <a:avLst/>
          </a:prstGeom>
          <a:noFill/>
          <a:ln/>
        </p:spPr>
        <p:txBody>
          <a:bodyPr wrap="square" lIns="0" tIns="0" rIns="0" bIns="0" rtlCol="0" anchor="ctr"/>
          <a:lstStyle/>
          <a:p>
            <a:pPr algn="ctr" indent="0" marL="0">
              <a:buNone/>
            </a:pPr>
            <a:r>
              <a:rPr lang="en-US" sz="1600" b="1" dirty="0">
                <a:solidFill>
                  <a:srgbClr val="5B6B77"/>
                </a:solidFill>
                <a:latin typeface="Calibri" pitchFamily="34" charset="0"/>
                <a:ea typeface="Calibri" pitchFamily="34" charset="-122"/>
                <a:cs typeface="Calibri" pitchFamily="34" charset="-120"/>
              </a:rPr>
              <a:t>→</a:t>
            </a:r>
            <a:endParaRPr lang="en-US" sz="1600" dirty="0"/>
          </a:p>
        </p:txBody>
      </p:sp>
      <p:sp>
        <p:nvSpPr>
          <p:cNvPr id="40" name="Shape 38"/>
          <p:cNvSpPr/>
          <p:nvPr/>
        </p:nvSpPr>
        <p:spPr>
          <a:xfrm>
            <a:off x="9921240" y="2468880"/>
            <a:ext cx="1691640" cy="2468880"/>
          </a:xfrm>
          <a:prstGeom prst="roundRect">
            <a:avLst>
              <a:gd name="adj" fmla="val 4324"/>
            </a:avLst>
          </a:prstGeom>
          <a:solidFill>
            <a:srgbClr val="F2F6F9"/>
          </a:solidFill>
          <a:ln/>
        </p:spPr>
      </p:sp>
      <p:sp>
        <p:nvSpPr>
          <p:cNvPr id="41" name="Shape 39"/>
          <p:cNvSpPr/>
          <p:nvPr/>
        </p:nvSpPr>
        <p:spPr>
          <a:xfrm>
            <a:off x="9921240" y="2468880"/>
            <a:ext cx="1691640" cy="82296"/>
          </a:xfrm>
          <a:prstGeom prst="rect">
            <a:avLst/>
          </a:prstGeom>
          <a:solidFill>
            <a:srgbClr val="D98E04"/>
          </a:solidFill>
          <a:ln/>
        </p:spPr>
      </p:sp>
      <p:sp>
        <p:nvSpPr>
          <p:cNvPr id="42" name="Shape 40"/>
          <p:cNvSpPr/>
          <p:nvPr/>
        </p:nvSpPr>
        <p:spPr>
          <a:xfrm>
            <a:off x="10529316" y="2706624"/>
            <a:ext cx="475488" cy="475488"/>
          </a:xfrm>
          <a:prstGeom prst="ellipse">
            <a:avLst/>
          </a:prstGeom>
          <a:solidFill>
            <a:srgbClr val="D98E04"/>
          </a:solidFill>
          <a:ln/>
        </p:spPr>
      </p:sp>
      <p:sp>
        <p:nvSpPr>
          <p:cNvPr id="43" name="Text 41"/>
          <p:cNvSpPr txBox="1"/>
          <p:nvPr/>
        </p:nvSpPr>
        <p:spPr>
          <a:xfrm>
            <a:off x="10529316" y="27066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44" name="Text 42"/>
          <p:cNvSpPr txBox="1"/>
          <p:nvPr/>
        </p:nvSpPr>
        <p:spPr>
          <a:xfrm>
            <a:off x="9994392" y="3337560"/>
            <a:ext cx="1545336" cy="685800"/>
          </a:xfrm>
          <a:prstGeom prst="rect">
            <a:avLst/>
          </a:prstGeom>
          <a:noFill/>
          <a:ln/>
        </p:spPr>
        <p:txBody>
          <a:bodyPr wrap="square" lIns="0" tIns="0" rIns="0" bIns="0" rtlCol="0" anchor="t"/>
          <a:lstStyle/>
          <a:p>
            <a:pPr algn="ctr" indent="0" marL="0">
              <a:buNone/>
            </a:pPr>
            <a:r>
              <a:rPr lang="en-US" sz="1050" b="1" dirty="0">
                <a:solidFill>
                  <a:srgbClr val="16232E"/>
                </a:solidFill>
                <a:latin typeface="Calibri" pitchFamily="34" charset="0"/>
                <a:ea typeface="Calibri" pitchFamily="34" charset="-122"/>
                <a:cs typeface="Calibri" pitchFamily="34" charset="-120"/>
              </a:rPr>
              <a:t>Jadvalni nazorat qilish</a:t>
            </a:r>
            <a:endParaRPr lang="en-US" sz="1050" dirty="0"/>
          </a:p>
        </p:txBody>
      </p:sp>
      <p:sp>
        <p:nvSpPr>
          <p:cNvPr id="45" name="Text 43"/>
          <p:cNvSpPr txBox="1"/>
          <p:nvPr/>
        </p:nvSpPr>
        <p:spPr>
          <a:xfrm>
            <a:off x="9994392" y="4069080"/>
            <a:ext cx="1545336" cy="777240"/>
          </a:xfrm>
          <a:prstGeom prst="rect">
            <a:avLst/>
          </a:prstGeom>
          <a:noFill/>
          <a:ln/>
        </p:spPr>
        <p:txBody>
          <a:bodyPr wrap="square" lIns="0" tIns="0" rIns="0" bIns="0" rtlCol="0" anchor="t"/>
          <a:lstStyle/>
          <a:p>
            <a:pPr algn="ctr" indent="0" marL="0">
              <a:buNone/>
            </a:pPr>
            <a:r>
              <a:rPr lang="en-US" sz="950" dirty="0">
                <a:solidFill>
                  <a:srgbClr val="5B6B77"/>
                </a:solidFill>
                <a:latin typeface="Calibri" pitchFamily="34" charset="0"/>
                <a:ea typeface="Calibri" pitchFamily="34" charset="-122"/>
                <a:cs typeface="Calibri" pitchFamily="34" charset="-120"/>
              </a:rPr>
              <a:t>Kuzatish va o‘zgarishlarni boshqarish</a:t>
            </a:r>
            <a:endParaRPr lang="en-US" sz="950" dirty="0"/>
          </a:p>
        </p:txBody>
      </p:sp>
      <p:sp>
        <p:nvSpPr>
          <p:cNvPr id="46" name="Text 44"/>
          <p:cNvSpPr txBox="1"/>
          <p:nvPr/>
        </p:nvSpPr>
        <p:spPr>
          <a:xfrm>
            <a:off x="11274552" y="6355080"/>
            <a:ext cx="548640" cy="320040"/>
          </a:xfrm>
          <a:prstGeom prst="rect">
            <a:avLst/>
          </a:prstGeom>
          <a:noFill/>
          <a:ln/>
        </p:spPr>
        <p:txBody>
          <a:bodyPr wrap="square" lIns="0" tIns="0" rIns="0" bIns="0" rtlCol="0" anchor="ctr"/>
          <a:lstStyle/>
          <a:p>
            <a:pPr algn="r" indent="0" marL="0">
              <a:buNone/>
            </a:pPr>
            <a:r>
              <a:rPr lang="en-US" sz="1000" dirty="0">
                <a:solidFill>
                  <a:srgbClr val="5B6B77"/>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9601200" cy="365760"/>
          </a:xfrm>
          <a:prstGeom prst="rect">
            <a:avLst/>
          </a:prstGeom>
          <a:noFill/>
          <a:ln/>
        </p:spPr>
        <p:txBody>
          <a:bodyPr wrap="square" lIns="0" tIns="0" rIns="0" bIns="0" rtlCol="0" anchor="ctr"/>
          <a:lstStyle/>
          <a:p>
            <a:pPr indent="0" marL="0">
              <a:buNone/>
            </a:pPr>
            <a:r>
              <a:rPr lang="en-US" sz="1200" b="1" spc="200" kern="0" dirty="0">
                <a:solidFill>
                  <a:srgbClr val="D98E04"/>
                </a:solidFill>
                <a:latin typeface="Calibri" pitchFamily="34" charset="0"/>
                <a:ea typeface="Calibri" pitchFamily="34" charset="-122"/>
                <a:cs typeface="Calibri" pitchFamily="34" charset="-120"/>
              </a:rPr>
              <a:t>5.3 · PAKETLARDAN HARAKATLARGA</a:t>
            </a:r>
            <a:endParaRPr lang="en-US" sz="1200" dirty="0"/>
          </a:p>
        </p:txBody>
      </p:sp>
      <p:sp>
        <p:nvSpPr>
          <p:cNvPr id="3" name="Text 1"/>
          <p:cNvSpPr txBox="1"/>
          <p:nvPr/>
        </p:nvSpPr>
        <p:spPr>
          <a:xfrm>
            <a:off x="548640" y="777240"/>
            <a:ext cx="10789920" cy="777240"/>
          </a:xfrm>
          <a:prstGeom prst="rect">
            <a:avLst/>
          </a:prstGeom>
          <a:noFill/>
          <a:ln/>
        </p:spPr>
        <p:txBody>
          <a:bodyPr wrap="square" lIns="0" tIns="0" rIns="0" bIns="0" rtlCol="0" anchor="ctr"/>
          <a:lstStyle/>
          <a:p>
            <a:pPr indent="0" marL="0">
              <a:buNone/>
            </a:pPr>
            <a:r>
              <a:rPr lang="en-US" sz="2800" b="1" dirty="0">
                <a:solidFill>
                  <a:srgbClr val="16232E"/>
                </a:solidFill>
                <a:latin typeface="Cambria" pitchFamily="34" charset="0"/>
                <a:ea typeface="Cambria" pitchFamily="34" charset="-122"/>
                <a:cs typeface="Cambria" pitchFamily="34" charset="-120"/>
              </a:rPr>
              <a:t>Faoliyatlarni aniqlash</a:t>
            </a:r>
            <a:endParaRPr lang="en-US" sz="2800" dirty="0"/>
          </a:p>
        </p:txBody>
      </p:sp>
      <p:sp>
        <p:nvSpPr>
          <p:cNvPr id="4" name="Shape 2"/>
          <p:cNvSpPr/>
          <p:nvPr/>
        </p:nvSpPr>
        <p:spPr>
          <a:xfrm>
            <a:off x="548640" y="1554480"/>
            <a:ext cx="10789920" cy="914400"/>
          </a:xfrm>
          <a:prstGeom prst="roundRect">
            <a:avLst>
              <a:gd name="adj" fmla="val 7000"/>
            </a:avLst>
          </a:prstGeom>
          <a:solidFill>
            <a:srgbClr val="0B1F3A"/>
          </a:solidFill>
          <a:ln/>
        </p:spPr>
      </p:sp>
      <p:sp>
        <p:nvSpPr>
          <p:cNvPr id="5" name="Shape 3"/>
          <p:cNvSpPr/>
          <p:nvPr/>
        </p:nvSpPr>
        <p:spPr>
          <a:xfrm>
            <a:off x="548640" y="1554480"/>
            <a:ext cx="82296" cy="914400"/>
          </a:xfrm>
          <a:prstGeom prst="rect">
            <a:avLst/>
          </a:prstGeom>
          <a:solidFill>
            <a:srgbClr val="D98E04"/>
          </a:solidFill>
          <a:ln/>
        </p:spPr>
      </p:sp>
      <p:sp>
        <p:nvSpPr>
          <p:cNvPr id="6" name="Text 4"/>
          <p:cNvSpPr txBox="1"/>
          <p:nvPr/>
        </p:nvSpPr>
        <p:spPr>
          <a:xfrm>
            <a:off x="868680" y="1627632"/>
            <a:ext cx="10149840" cy="594360"/>
          </a:xfrm>
          <a:prstGeom prst="rect">
            <a:avLst/>
          </a:prstGeom>
          <a:noFill/>
          <a:ln/>
        </p:spPr>
        <p:txBody>
          <a:bodyPr wrap="square" lIns="0" tIns="0" rIns="0" bIns="0" rtlCol="0" anchor="ctr"/>
          <a:lstStyle/>
          <a:p>
            <a:pPr indent="0" marL="0">
              <a:buNone/>
            </a:pPr>
            <a:r>
              <a:rPr lang="en-US" sz="1400" i="1" dirty="0">
                <a:solidFill>
                  <a:srgbClr val="FFFFFF"/>
                </a:solidFill>
                <a:latin typeface="Cambria" pitchFamily="34" charset="0"/>
                <a:ea typeface="Cambria" pitchFamily="34" charset="-122"/>
                <a:cs typeface="Cambria" pitchFamily="34" charset="-120"/>
              </a:rPr>
              <a:t>“Loyiha natijalarini yaratish uchun bajarilishi kerak bo‘lgan aniq harakatlarni aniqlash va hujjatlashtirish jarayoni.”</a:t>
            </a:r>
            <a:endParaRPr lang="en-US" sz="1400" dirty="0"/>
          </a:p>
        </p:txBody>
      </p:sp>
      <p:sp>
        <p:nvSpPr>
          <p:cNvPr id="7" name="Text 5"/>
          <p:cNvSpPr txBox="1"/>
          <p:nvPr/>
        </p:nvSpPr>
        <p:spPr>
          <a:xfrm>
            <a:off x="868680" y="2240280"/>
            <a:ext cx="7315200" cy="201168"/>
          </a:xfrm>
          <a:prstGeom prst="rect">
            <a:avLst/>
          </a:prstGeom>
          <a:noFill/>
          <a:ln/>
        </p:spPr>
        <p:txBody>
          <a:bodyPr wrap="square" lIns="0" tIns="0" rIns="0" bIns="0" rtlCol="0" anchor="ctr"/>
          <a:lstStyle/>
          <a:p>
            <a:pPr indent="0" marL="0">
              <a:buNone/>
            </a:pPr>
            <a:r>
              <a:rPr lang="en-US" sz="1000" dirty="0">
                <a:solidFill>
                  <a:srgbClr val="9FB6C8"/>
                </a:solidFill>
                <a:latin typeface="Calibri" pitchFamily="34" charset="0"/>
                <a:ea typeface="Calibri" pitchFamily="34" charset="-122"/>
                <a:cs typeface="Calibri" pitchFamily="34" charset="-120"/>
              </a:rPr>
              <a:t>— PMBOK® qo‘llanmasi, 6.2-bo‘lim</a:t>
            </a:r>
            <a:endParaRPr lang="en-US" sz="1000" dirty="0"/>
          </a:p>
        </p:txBody>
      </p:sp>
      <p:sp>
        <p:nvSpPr>
          <p:cNvPr id="8" name="Text 6"/>
          <p:cNvSpPr txBox="1"/>
          <p:nvPr/>
        </p:nvSpPr>
        <p:spPr>
          <a:xfrm>
            <a:off x="548640" y="2697480"/>
            <a:ext cx="10789920" cy="960120"/>
          </a:xfrm>
          <a:prstGeom prst="rect">
            <a:avLst/>
          </a:prstGeom>
          <a:noFill/>
          <a:ln/>
        </p:spPr>
        <p:txBody>
          <a:bodyPr wrap="square" lIns="0" tIns="0" rIns="0" bIns="0" rtlCol="0" anchor="ctr"/>
          <a:lstStyle/>
          <a:p>
            <a:pPr indent="0" marL="0">
              <a:lnSpc>
                <a:spcPct val="125000"/>
              </a:lnSpc>
              <a:buNone/>
            </a:pPr>
            <a:r>
              <a:rPr lang="en-US" sz="1300" dirty="0">
                <a:solidFill>
                  <a:srgbClr val="16232E"/>
                </a:solidFill>
                <a:latin typeface="Calibri" pitchFamily="34" charset="0"/>
                <a:ea typeface="Calibri" pitchFamily="34" charset="-122"/>
                <a:cs typeface="Calibri" pitchFamily="34" charset="-120"/>
              </a:rPr>
              <a:t>IBT yaratish natijalarni ishlab chiqargan bo‘lsa, Faoliyatlarni aniqlash har bir ish paketini uni yaratish uchun zarur bo‘lgan aniq harakatlarga bo‘ladi — bu keyingi barcha jadvallash bosqichlari uchun xom material.</a:t>
            </a:r>
            <a:endParaRPr lang="en-US" sz="1300" dirty="0"/>
          </a:p>
        </p:txBody>
      </p:sp>
      <p:sp>
        <p:nvSpPr>
          <p:cNvPr id="9" name="Text 7"/>
          <p:cNvSpPr txBox="1"/>
          <p:nvPr/>
        </p:nvSpPr>
        <p:spPr>
          <a:xfrm>
            <a:off x="548640" y="3703320"/>
            <a:ext cx="10789920" cy="320040"/>
          </a:xfrm>
          <a:prstGeom prst="rect">
            <a:avLst/>
          </a:prstGeom>
          <a:noFill/>
          <a:ln/>
        </p:spPr>
        <p:txBody>
          <a:bodyPr wrap="square" lIns="0" tIns="0" rIns="0" bIns="0"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Asosiy natijalar:</a:t>
            </a:r>
            <a:endParaRPr lang="en-US" sz="1300" dirty="0"/>
          </a:p>
        </p:txBody>
      </p:sp>
      <p:sp>
        <p:nvSpPr>
          <p:cNvPr id="10" name="Shape 8"/>
          <p:cNvSpPr/>
          <p:nvPr/>
        </p:nvSpPr>
        <p:spPr>
          <a:xfrm>
            <a:off x="594360" y="4160520"/>
            <a:ext cx="128016" cy="128016"/>
          </a:xfrm>
          <a:prstGeom prst="ellipse">
            <a:avLst/>
          </a:prstGeom>
          <a:solidFill>
            <a:srgbClr val="D98E04"/>
          </a:solidFill>
          <a:ln/>
        </p:spPr>
      </p:sp>
      <p:sp>
        <p:nvSpPr>
          <p:cNvPr id="11" name="Text 9"/>
          <p:cNvSpPr txBox="1"/>
          <p:nvPr/>
        </p:nvSpPr>
        <p:spPr>
          <a:xfrm>
            <a:off x="868680" y="4023360"/>
            <a:ext cx="10424160" cy="502920"/>
          </a:xfrm>
          <a:prstGeom prst="rect">
            <a:avLst/>
          </a:prstGeom>
          <a:noFill/>
          <a:ln/>
        </p:spPr>
        <p:txBody>
          <a:bodyPr wrap="square" lIns="0" tIns="0" rIns="0" bIns="0" rtlCol="0" anchor="t"/>
          <a:lstStyle/>
          <a:p>
            <a:pPr indent="0" marL="0">
              <a:buNone/>
            </a:pPr>
            <a:r>
              <a:rPr lang="en-US" sz="1250" dirty="0">
                <a:solidFill>
                  <a:srgbClr val="16232E"/>
                </a:solidFill>
                <a:latin typeface="Calibri" pitchFamily="34" charset="0"/>
                <a:ea typeface="Calibri" pitchFamily="34" charset="-122"/>
                <a:cs typeface="Calibri" pitchFamily="34" charset="-120"/>
              </a:rPr>
              <a:t>Faoliyatlar ro‘yxati — har bir rejalashtirilgan harakat, ish tavsifi bilan</a:t>
            </a:r>
            <a:endParaRPr lang="en-US" sz="1250" dirty="0"/>
          </a:p>
        </p:txBody>
      </p:sp>
      <p:sp>
        <p:nvSpPr>
          <p:cNvPr id="12" name="Shape 10"/>
          <p:cNvSpPr/>
          <p:nvPr/>
        </p:nvSpPr>
        <p:spPr>
          <a:xfrm>
            <a:off x="594360" y="4800600"/>
            <a:ext cx="128016" cy="128016"/>
          </a:xfrm>
          <a:prstGeom prst="ellipse">
            <a:avLst/>
          </a:prstGeom>
          <a:solidFill>
            <a:srgbClr val="D98E04"/>
          </a:solidFill>
          <a:ln/>
        </p:spPr>
      </p:sp>
      <p:sp>
        <p:nvSpPr>
          <p:cNvPr id="13" name="Text 11"/>
          <p:cNvSpPr txBox="1"/>
          <p:nvPr/>
        </p:nvSpPr>
        <p:spPr>
          <a:xfrm>
            <a:off x="868680" y="4663440"/>
            <a:ext cx="10424160" cy="502920"/>
          </a:xfrm>
          <a:prstGeom prst="rect">
            <a:avLst/>
          </a:prstGeom>
          <a:noFill/>
          <a:ln/>
        </p:spPr>
        <p:txBody>
          <a:bodyPr wrap="square" lIns="0" tIns="0" rIns="0" bIns="0" rtlCol="0" anchor="t"/>
          <a:lstStyle/>
          <a:p>
            <a:pPr indent="0" marL="0">
              <a:buNone/>
            </a:pPr>
            <a:r>
              <a:rPr lang="en-US" sz="1250" dirty="0">
                <a:solidFill>
                  <a:srgbClr val="16232E"/>
                </a:solidFill>
                <a:latin typeface="Calibri" pitchFamily="34" charset="0"/>
                <a:ea typeface="Calibri" pitchFamily="34" charset="-122"/>
                <a:cs typeface="Calibri" pitchFamily="34" charset="-120"/>
              </a:rPr>
              <a:t>Faoliyat atributlari — oldingilar, keyingilar, resurslar, cheklovlar</a:t>
            </a:r>
            <a:endParaRPr lang="en-US" sz="1250" dirty="0"/>
          </a:p>
        </p:txBody>
      </p:sp>
      <p:sp>
        <p:nvSpPr>
          <p:cNvPr id="14" name="Shape 12"/>
          <p:cNvSpPr/>
          <p:nvPr/>
        </p:nvSpPr>
        <p:spPr>
          <a:xfrm>
            <a:off x="594360" y="5440680"/>
            <a:ext cx="128016" cy="128016"/>
          </a:xfrm>
          <a:prstGeom prst="ellipse">
            <a:avLst/>
          </a:prstGeom>
          <a:solidFill>
            <a:srgbClr val="D98E04"/>
          </a:solidFill>
          <a:ln/>
        </p:spPr>
      </p:sp>
      <p:sp>
        <p:nvSpPr>
          <p:cNvPr id="15" name="Text 13"/>
          <p:cNvSpPr txBox="1"/>
          <p:nvPr/>
        </p:nvSpPr>
        <p:spPr>
          <a:xfrm>
            <a:off x="868680" y="5303520"/>
            <a:ext cx="10424160" cy="502920"/>
          </a:xfrm>
          <a:prstGeom prst="rect">
            <a:avLst/>
          </a:prstGeom>
          <a:noFill/>
          <a:ln/>
        </p:spPr>
        <p:txBody>
          <a:bodyPr wrap="square" lIns="0" tIns="0" rIns="0" bIns="0" rtlCol="0" anchor="t"/>
          <a:lstStyle/>
          <a:p>
            <a:pPr indent="0" marL="0">
              <a:buNone/>
            </a:pPr>
            <a:r>
              <a:rPr lang="en-US" sz="1250" dirty="0">
                <a:solidFill>
                  <a:srgbClr val="16232E"/>
                </a:solidFill>
                <a:latin typeface="Calibri" pitchFamily="34" charset="0"/>
                <a:ea typeface="Calibri" pitchFamily="34" charset="-122"/>
                <a:cs typeface="Calibri" pitchFamily="34" charset="-120"/>
              </a:rPr>
              <a:t>Muhim bosqichlar ro‘yxati — nol davomiylikka ega muhim voqealar, majburiy yoki ixtiyoriy</a:t>
            </a:r>
            <a:endParaRPr lang="en-US" sz="1250" dirty="0"/>
          </a:p>
        </p:txBody>
      </p:sp>
      <p:sp>
        <p:nvSpPr>
          <p:cNvPr id="16" name="Text 14"/>
          <p:cNvSpPr txBox="1"/>
          <p:nvPr/>
        </p:nvSpPr>
        <p:spPr>
          <a:xfrm>
            <a:off x="11274552" y="6355080"/>
            <a:ext cx="548640" cy="320040"/>
          </a:xfrm>
          <a:prstGeom prst="rect">
            <a:avLst/>
          </a:prstGeom>
          <a:noFill/>
          <a:ln/>
        </p:spPr>
        <p:txBody>
          <a:bodyPr wrap="square" lIns="0" tIns="0" rIns="0" bIns="0" rtlCol="0" anchor="ctr"/>
          <a:lstStyle/>
          <a:p>
            <a:pPr algn="r" indent="0" marL="0">
              <a:buNone/>
            </a:pPr>
            <a:r>
              <a:rPr lang="en-US" sz="1000" dirty="0">
                <a:solidFill>
                  <a:srgbClr val="5B6B77"/>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9601200" cy="365760"/>
          </a:xfrm>
          <a:prstGeom prst="rect">
            <a:avLst/>
          </a:prstGeom>
          <a:noFill/>
          <a:ln/>
        </p:spPr>
        <p:txBody>
          <a:bodyPr wrap="square" lIns="0" tIns="0" rIns="0" bIns="0" rtlCol="0" anchor="ctr"/>
          <a:lstStyle/>
          <a:p>
            <a:pPr indent="0" marL="0">
              <a:buNone/>
            </a:pPr>
            <a:r>
              <a:rPr lang="en-US" sz="1200" b="1" spc="200" kern="0" dirty="0">
                <a:solidFill>
                  <a:srgbClr val="D98E04"/>
                </a:solidFill>
                <a:latin typeface="Calibri" pitchFamily="34" charset="0"/>
                <a:ea typeface="Calibri" pitchFamily="34" charset="-122"/>
                <a:cs typeface="Calibri" pitchFamily="34" charset="-120"/>
              </a:rPr>
              <a:t>5.4 · ISHNI TARTIBLASH</a:t>
            </a:r>
            <a:endParaRPr lang="en-US" sz="1200" dirty="0"/>
          </a:p>
        </p:txBody>
      </p:sp>
      <p:sp>
        <p:nvSpPr>
          <p:cNvPr id="3" name="Text 1"/>
          <p:cNvSpPr txBox="1"/>
          <p:nvPr/>
        </p:nvSpPr>
        <p:spPr>
          <a:xfrm>
            <a:off x="548640" y="777240"/>
            <a:ext cx="10789920" cy="777240"/>
          </a:xfrm>
          <a:prstGeom prst="rect">
            <a:avLst/>
          </a:prstGeom>
          <a:noFill/>
          <a:ln/>
        </p:spPr>
        <p:txBody>
          <a:bodyPr wrap="square" lIns="0" tIns="0" rIns="0" bIns="0" rtlCol="0" anchor="ctr"/>
          <a:lstStyle/>
          <a:p>
            <a:pPr indent="0" marL="0">
              <a:buNone/>
            </a:pPr>
            <a:r>
              <a:rPr lang="en-US" sz="2800" b="1" dirty="0">
                <a:solidFill>
                  <a:srgbClr val="16232E"/>
                </a:solidFill>
                <a:latin typeface="Cambria" pitchFamily="34" charset="0"/>
                <a:ea typeface="Cambria" pitchFamily="34" charset="-122"/>
                <a:cs typeface="Cambria" pitchFamily="34" charset="-120"/>
              </a:rPr>
              <a:t>Ketma-ketlashtirish: Ustunlik diagrammasi usuli (PDM)</a:t>
            </a:r>
            <a:endParaRPr lang="en-US" sz="2800" dirty="0"/>
          </a:p>
        </p:txBody>
      </p:sp>
      <p:sp>
        <p:nvSpPr>
          <p:cNvPr id="4" name="Text 2"/>
          <p:cNvSpPr txBox="1"/>
          <p:nvPr/>
        </p:nvSpPr>
        <p:spPr>
          <a:xfrm>
            <a:off x="548640" y="1508760"/>
            <a:ext cx="10789920" cy="548640"/>
          </a:xfrm>
          <a:prstGeom prst="rect">
            <a:avLst/>
          </a:prstGeom>
          <a:noFill/>
          <a:ln/>
        </p:spPr>
        <p:txBody>
          <a:bodyPr wrap="square" lIns="0" tIns="0" rIns="0" bIns="0" rtlCol="0" anchor="ctr"/>
          <a:lstStyle/>
          <a:p>
            <a:pPr indent="0" marL="0">
              <a:buNone/>
            </a:pPr>
            <a:r>
              <a:rPr lang="en-US" sz="1300" dirty="0">
                <a:solidFill>
                  <a:srgbClr val="5B6B77"/>
                </a:solidFill>
                <a:latin typeface="Calibri" pitchFamily="34" charset="0"/>
                <a:ea typeface="Calibri" pitchFamily="34" charset="-122"/>
                <a:cs typeface="Calibri" pitchFamily="34" charset="-120"/>
              </a:rPr>
              <a:t>Har bir faoliyat (birinchi va oxirgisidan tashqari) kamida bitta oldingi va bitta keyingi faoliyatga ega bo‘lishi kerak. PDM ular orasidagi to‘rt turdagi mantiqiy munosabatni belgilaydi:</a:t>
            </a:r>
            <a:endParaRPr lang="en-US" sz="1300" dirty="0"/>
          </a:p>
        </p:txBody>
      </p:sp>
      <p:sp>
        <p:nvSpPr>
          <p:cNvPr id="5" name="Shape 3"/>
          <p:cNvSpPr/>
          <p:nvPr/>
        </p:nvSpPr>
        <p:spPr>
          <a:xfrm>
            <a:off x="548640" y="2148840"/>
            <a:ext cx="5404104" cy="1997964"/>
          </a:xfrm>
          <a:prstGeom prst="roundRect">
            <a:avLst>
              <a:gd name="adj" fmla="val 3661"/>
            </a:avLst>
          </a:prstGeom>
          <a:solidFill>
            <a:srgbClr val="F2F6F9"/>
          </a:solidFill>
          <a:ln/>
        </p:spPr>
      </p:sp>
      <p:sp>
        <p:nvSpPr>
          <p:cNvPr id="6" name="Shape 4"/>
          <p:cNvSpPr/>
          <p:nvPr/>
        </p:nvSpPr>
        <p:spPr>
          <a:xfrm>
            <a:off x="548640" y="2148840"/>
            <a:ext cx="5404104" cy="64008"/>
          </a:xfrm>
          <a:prstGeom prst="rect">
            <a:avLst/>
          </a:prstGeom>
          <a:solidFill>
            <a:srgbClr val="065A82"/>
          </a:solidFill>
          <a:ln/>
        </p:spPr>
      </p:sp>
      <p:sp>
        <p:nvSpPr>
          <p:cNvPr id="7" name="Text 5"/>
          <p:cNvSpPr txBox="1"/>
          <p:nvPr/>
        </p:nvSpPr>
        <p:spPr>
          <a:xfrm>
            <a:off x="731520" y="2313432"/>
            <a:ext cx="5038344" cy="502920"/>
          </a:xfrm>
          <a:prstGeom prst="rect">
            <a:avLst/>
          </a:prstGeom>
          <a:noFill/>
          <a:ln/>
        </p:spPr>
        <p:txBody>
          <a:bodyPr wrap="square" lIns="0" tIns="0" rIns="0" bIns="0" rtlCol="0" anchor="t"/>
          <a:lstStyle/>
          <a:p>
            <a:pPr indent="0" marL="0">
              <a:buNone/>
            </a:pPr>
            <a:r>
              <a:rPr lang="en-US" sz="1350" b="1" dirty="0">
                <a:solidFill>
                  <a:srgbClr val="16232E"/>
                </a:solidFill>
                <a:latin typeface="Calibri" pitchFamily="34" charset="0"/>
                <a:ea typeface="Calibri" pitchFamily="34" charset="-122"/>
                <a:cs typeface="Calibri" pitchFamily="34" charset="-120"/>
              </a:rPr>
              <a:t>Tugash-Boshlanish (FS)</a:t>
            </a:r>
            <a:endParaRPr lang="en-US" sz="1350" dirty="0"/>
          </a:p>
        </p:txBody>
      </p:sp>
      <p:sp>
        <p:nvSpPr>
          <p:cNvPr id="8" name="Text 6"/>
          <p:cNvSpPr txBox="1"/>
          <p:nvPr/>
        </p:nvSpPr>
        <p:spPr>
          <a:xfrm>
            <a:off x="731520" y="2834640"/>
            <a:ext cx="5038344" cy="1175004"/>
          </a:xfrm>
          <a:prstGeom prst="rect">
            <a:avLst/>
          </a:prstGeom>
          <a:noFill/>
          <a:ln/>
        </p:spPr>
        <p:txBody>
          <a:bodyPr wrap="square" lIns="0" tIns="0" rIns="0" bIns="0" rtlCol="0" anchor="t"/>
          <a:lstStyle/>
          <a:p>
            <a:pPr indent="0" marL="0">
              <a:buNone/>
            </a:pPr>
            <a:r>
              <a:rPr lang="en-US" sz="1150" dirty="0">
                <a:solidFill>
                  <a:srgbClr val="5B6B77"/>
                </a:solidFill>
                <a:latin typeface="Calibri" pitchFamily="34" charset="0"/>
                <a:ea typeface="Calibri" pitchFamily="34" charset="-122"/>
                <a:cs typeface="Calibri" pitchFamily="34" charset="-120"/>
              </a:rPr>
              <a:t>Keyingisi oldingisi tugamaguncha boshlanmaydi — eng ko‘p qo‘llaniladigan tur</a:t>
            </a:r>
            <a:endParaRPr lang="en-US" sz="1150" dirty="0"/>
          </a:p>
        </p:txBody>
      </p:sp>
      <p:sp>
        <p:nvSpPr>
          <p:cNvPr id="9" name="Shape 7"/>
          <p:cNvSpPr/>
          <p:nvPr/>
        </p:nvSpPr>
        <p:spPr>
          <a:xfrm>
            <a:off x="6208776" y="2148840"/>
            <a:ext cx="5404104" cy="1997964"/>
          </a:xfrm>
          <a:prstGeom prst="roundRect">
            <a:avLst>
              <a:gd name="adj" fmla="val 3661"/>
            </a:avLst>
          </a:prstGeom>
          <a:solidFill>
            <a:srgbClr val="F2F6F9"/>
          </a:solidFill>
          <a:ln/>
        </p:spPr>
      </p:sp>
      <p:sp>
        <p:nvSpPr>
          <p:cNvPr id="10" name="Shape 8"/>
          <p:cNvSpPr/>
          <p:nvPr/>
        </p:nvSpPr>
        <p:spPr>
          <a:xfrm>
            <a:off x="6208776" y="2148840"/>
            <a:ext cx="5404104" cy="64008"/>
          </a:xfrm>
          <a:prstGeom prst="rect">
            <a:avLst/>
          </a:prstGeom>
          <a:solidFill>
            <a:srgbClr val="1C7293"/>
          </a:solidFill>
          <a:ln/>
        </p:spPr>
      </p:sp>
      <p:sp>
        <p:nvSpPr>
          <p:cNvPr id="11" name="Text 9"/>
          <p:cNvSpPr txBox="1"/>
          <p:nvPr/>
        </p:nvSpPr>
        <p:spPr>
          <a:xfrm>
            <a:off x="6391656" y="2313432"/>
            <a:ext cx="5038344" cy="502920"/>
          </a:xfrm>
          <a:prstGeom prst="rect">
            <a:avLst/>
          </a:prstGeom>
          <a:noFill/>
          <a:ln/>
        </p:spPr>
        <p:txBody>
          <a:bodyPr wrap="square" lIns="0" tIns="0" rIns="0" bIns="0" rtlCol="0" anchor="t"/>
          <a:lstStyle/>
          <a:p>
            <a:pPr indent="0" marL="0">
              <a:buNone/>
            </a:pPr>
            <a:r>
              <a:rPr lang="en-US" sz="1350" b="1" dirty="0">
                <a:solidFill>
                  <a:srgbClr val="16232E"/>
                </a:solidFill>
                <a:latin typeface="Calibri" pitchFamily="34" charset="0"/>
                <a:ea typeface="Calibri" pitchFamily="34" charset="-122"/>
                <a:cs typeface="Calibri" pitchFamily="34" charset="-120"/>
              </a:rPr>
              <a:t>Boshlanish-Boshlanish (SS)</a:t>
            </a:r>
            <a:endParaRPr lang="en-US" sz="1350" dirty="0"/>
          </a:p>
        </p:txBody>
      </p:sp>
      <p:sp>
        <p:nvSpPr>
          <p:cNvPr id="12" name="Text 10"/>
          <p:cNvSpPr txBox="1"/>
          <p:nvPr/>
        </p:nvSpPr>
        <p:spPr>
          <a:xfrm>
            <a:off x="6391656" y="2834640"/>
            <a:ext cx="5038344" cy="1175004"/>
          </a:xfrm>
          <a:prstGeom prst="rect">
            <a:avLst/>
          </a:prstGeom>
          <a:noFill/>
          <a:ln/>
        </p:spPr>
        <p:txBody>
          <a:bodyPr wrap="square" lIns="0" tIns="0" rIns="0" bIns="0" rtlCol="0" anchor="t"/>
          <a:lstStyle/>
          <a:p>
            <a:pPr indent="0" marL="0">
              <a:buNone/>
            </a:pPr>
            <a:r>
              <a:rPr lang="en-US" sz="1150" dirty="0">
                <a:solidFill>
                  <a:srgbClr val="5B6B77"/>
                </a:solidFill>
                <a:latin typeface="Calibri" pitchFamily="34" charset="0"/>
                <a:ea typeface="Calibri" pitchFamily="34" charset="-122"/>
                <a:cs typeface="Calibri" pitchFamily="34" charset="-120"/>
              </a:rPr>
              <a:t>Keyingisi oldingisi boshlanmaguncha boshlanmaydi</a:t>
            </a:r>
            <a:endParaRPr lang="en-US" sz="1150" dirty="0"/>
          </a:p>
        </p:txBody>
      </p:sp>
      <p:sp>
        <p:nvSpPr>
          <p:cNvPr id="13" name="Shape 11"/>
          <p:cNvSpPr/>
          <p:nvPr/>
        </p:nvSpPr>
        <p:spPr>
          <a:xfrm>
            <a:off x="548640" y="4402836"/>
            <a:ext cx="5404104" cy="1997964"/>
          </a:xfrm>
          <a:prstGeom prst="roundRect">
            <a:avLst>
              <a:gd name="adj" fmla="val 3661"/>
            </a:avLst>
          </a:prstGeom>
          <a:solidFill>
            <a:srgbClr val="F2F6F9"/>
          </a:solidFill>
          <a:ln/>
        </p:spPr>
      </p:sp>
      <p:sp>
        <p:nvSpPr>
          <p:cNvPr id="14" name="Shape 12"/>
          <p:cNvSpPr/>
          <p:nvPr/>
        </p:nvSpPr>
        <p:spPr>
          <a:xfrm>
            <a:off x="548640" y="4402836"/>
            <a:ext cx="5404104" cy="64008"/>
          </a:xfrm>
          <a:prstGeom prst="rect">
            <a:avLst/>
          </a:prstGeom>
          <a:solidFill>
            <a:srgbClr val="D98E04"/>
          </a:solidFill>
          <a:ln/>
        </p:spPr>
      </p:sp>
      <p:sp>
        <p:nvSpPr>
          <p:cNvPr id="15" name="Text 13"/>
          <p:cNvSpPr txBox="1"/>
          <p:nvPr/>
        </p:nvSpPr>
        <p:spPr>
          <a:xfrm>
            <a:off x="731520" y="4567428"/>
            <a:ext cx="5038344" cy="502920"/>
          </a:xfrm>
          <a:prstGeom prst="rect">
            <a:avLst/>
          </a:prstGeom>
          <a:noFill/>
          <a:ln/>
        </p:spPr>
        <p:txBody>
          <a:bodyPr wrap="square" lIns="0" tIns="0" rIns="0" bIns="0" rtlCol="0" anchor="t"/>
          <a:lstStyle/>
          <a:p>
            <a:pPr indent="0" marL="0">
              <a:buNone/>
            </a:pPr>
            <a:r>
              <a:rPr lang="en-US" sz="1350" b="1" dirty="0">
                <a:solidFill>
                  <a:srgbClr val="16232E"/>
                </a:solidFill>
                <a:latin typeface="Calibri" pitchFamily="34" charset="0"/>
                <a:ea typeface="Calibri" pitchFamily="34" charset="-122"/>
                <a:cs typeface="Calibri" pitchFamily="34" charset="-120"/>
              </a:rPr>
              <a:t>Tugash-Tugash (FF)</a:t>
            </a:r>
            <a:endParaRPr lang="en-US" sz="1350" dirty="0"/>
          </a:p>
        </p:txBody>
      </p:sp>
      <p:sp>
        <p:nvSpPr>
          <p:cNvPr id="16" name="Text 14"/>
          <p:cNvSpPr txBox="1"/>
          <p:nvPr/>
        </p:nvSpPr>
        <p:spPr>
          <a:xfrm>
            <a:off x="731520" y="5088636"/>
            <a:ext cx="5038344" cy="1175004"/>
          </a:xfrm>
          <a:prstGeom prst="rect">
            <a:avLst/>
          </a:prstGeom>
          <a:noFill/>
          <a:ln/>
        </p:spPr>
        <p:txBody>
          <a:bodyPr wrap="square" lIns="0" tIns="0" rIns="0" bIns="0" rtlCol="0" anchor="t"/>
          <a:lstStyle/>
          <a:p>
            <a:pPr indent="0" marL="0">
              <a:buNone/>
            </a:pPr>
            <a:r>
              <a:rPr lang="en-US" sz="1150" dirty="0">
                <a:solidFill>
                  <a:srgbClr val="5B6B77"/>
                </a:solidFill>
                <a:latin typeface="Calibri" pitchFamily="34" charset="0"/>
                <a:ea typeface="Calibri" pitchFamily="34" charset="-122"/>
                <a:cs typeface="Calibri" pitchFamily="34" charset="-120"/>
              </a:rPr>
              <a:t>Keyingisi oldingisi tugamaguncha tugamaydi</a:t>
            </a:r>
            <a:endParaRPr lang="en-US" sz="1150" dirty="0"/>
          </a:p>
        </p:txBody>
      </p:sp>
      <p:sp>
        <p:nvSpPr>
          <p:cNvPr id="17" name="Shape 15"/>
          <p:cNvSpPr/>
          <p:nvPr/>
        </p:nvSpPr>
        <p:spPr>
          <a:xfrm>
            <a:off x="6208776" y="4402836"/>
            <a:ext cx="5404104" cy="1997964"/>
          </a:xfrm>
          <a:prstGeom prst="roundRect">
            <a:avLst>
              <a:gd name="adj" fmla="val 3661"/>
            </a:avLst>
          </a:prstGeom>
          <a:solidFill>
            <a:srgbClr val="F2F6F9"/>
          </a:solidFill>
          <a:ln/>
        </p:spPr>
      </p:sp>
      <p:sp>
        <p:nvSpPr>
          <p:cNvPr id="18" name="Shape 16"/>
          <p:cNvSpPr/>
          <p:nvPr/>
        </p:nvSpPr>
        <p:spPr>
          <a:xfrm>
            <a:off x="6208776" y="4402836"/>
            <a:ext cx="5404104" cy="64008"/>
          </a:xfrm>
          <a:prstGeom prst="rect">
            <a:avLst/>
          </a:prstGeom>
          <a:solidFill>
            <a:srgbClr val="065A82"/>
          </a:solidFill>
          <a:ln/>
        </p:spPr>
      </p:sp>
      <p:sp>
        <p:nvSpPr>
          <p:cNvPr id="19" name="Text 17"/>
          <p:cNvSpPr txBox="1"/>
          <p:nvPr/>
        </p:nvSpPr>
        <p:spPr>
          <a:xfrm>
            <a:off x="6391656" y="4567428"/>
            <a:ext cx="5038344" cy="502920"/>
          </a:xfrm>
          <a:prstGeom prst="rect">
            <a:avLst/>
          </a:prstGeom>
          <a:noFill/>
          <a:ln/>
        </p:spPr>
        <p:txBody>
          <a:bodyPr wrap="square" lIns="0" tIns="0" rIns="0" bIns="0" rtlCol="0" anchor="t"/>
          <a:lstStyle/>
          <a:p>
            <a:pPr indent="0" marL="0">
              <a:buNone/>
            </a:pPr>
            <a:r>
              <a:rPr lang="en-US" sz="1350" b="1" dirty="0">
                <a:solidFill>
                  <a:srgbClr val="16232E"/>
                </a:solidFill>
                <a:latin typeface="Calibri" pitchFamily="34" charset="0"/>
                <a:ea typeface="Calibri" pitchFamily="34" charset="-122"/>
                <a:cs typeface="Calibri" pitchFamily="34" charset="-120"/>
              </a:rPr>
              <a:t>Boshlanish-Tugash (SF)</a:t>
            </a:r>
            <a:endParaRPr lang="en-US" sz="1350" dirty="0"/>
          </a:p>
        </p:txBody>
      </p:sp>
      <p:sp>
        <p:nvSpPr>
          <p:cNvPr id="20" name="Text 18"/>
          <p:cNvSpPr txBox="1"/>
          <p:nvPr/>
        </p:nvSpPr>
        <p:spPr>
          <a:xfrm>
            <a:off x="6391656" y="5088636"/>
            <a:ext cx="5038344" cy="1175004"/>
          </a:xfrm>
          <a:prstGeom prst="rect">
            <a:avLst/>
          </a:prstGeom>
          <a:noFill/>
          <a:ln/>
        </p:spPr>
        <p:txBody>
          <a:bodyPr wrap="square" lIns="0" tIns="0" rIns="0" bIns="0" rtlCol="0" anchor="t"/>
          <a:lstStyle/>
          <a:p>
            <a:pPr indent="0" marL="0">
              <a:buNone/>
            </a:pPr>
            <a:r>
              <a:rPr lang="en-US" sz="1150" dirty="0">
                <a:solidFill>
                  <a:srgbClr val="5B6B77"/>
                </a:solidFill>
                <a:latin typeface="Calibri" pitchFamily="34" charset="0"/>
                <a:ea typeface="Calibri" pitchFamily="34" charset="-122"/>
                <a:cs typeface="Calibri" pitchFamily="34" charset="-120"/>
              </a:rPr>
              <a:t>Keyingisi oldingisi boshlanmaguncha tugamaydi — kamdan-kam qo‘llaniladi</a:t>
            </a:r>
            <a:endParaRPr lang="en-US" sz="1150" dirty="0"/>
          </a:p>
        </p:txBody>
      </p:sp>
      <p:sp>
        <p:nvSpPr>
          <p:cNvPr id="21" name="Text 19"/>
          <p:cNvSpPr txBox="1"/>
          <p:nvPr/>
        </p:nvSpPr>
        <p:spPr>
          <a:xfrm>
            <a:off x="11274552" y="6355080"/>
            <a:ext cx="548640" cy="320040"/>
          </a:xfrm>
          <a:prstGeom prst="rect">
            <a:avLst/>
          </a:prstGeom>
          <a:noFill/>
          <a:ln/>
        </p:spPr>
        <p:txBody>
          <a:bodyPr wrap="square" lIns="0" tIns="0" rIns="0" bIns="0" rtlCol="0" anchor="ctr"/>
          <a:lstStyle/>
          <a:p>
            <a:pPr algn="r" indent="0" marL="0">
              <a:buNone/>
            </a:pPr>
            <a:r>
              <a:rPr lang="en-US" sz="1000" dirty="0">
                <a:solidFill>
                  <a:srgbClr val="5B6B77"/>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9601200" cy="365760"/>
          </a:xfrm>
          <a:prstGeom prst="rect">
            <a:avLst/>
          </a:prstGeom>
          <a:noFill/>
          <a:ln/>
        </p:spPr>
        <p:txBody>
          <a:bodyPr wrap="square" lIns="0" tIns="0" rIns="0" bIns="0" rtlCol="0" anchor="ctr"/>
          <a:lstStyle/>
          <a:p>
            <a:pPr indent="0" marL="0">
              <a:buNone/>
            </a:pPr>
            <a:r>
              <a:rPr lang="en-US" sz="1200" b="1" spc="200" kern="0" dirty="0">
                <a:solidFill>
                  <a:srgbClr val="D98E04"/>
                </a:solidFill>
                <a:latin typeface="Calibri" pitchFamily="34" charset="0"/>
                <a:ea typeface="Calibri" pitchFamily="34" charset="-122"/>
                <a:cs typeface="Calibri" pitchFamily="34" charset="-120"/>
              </a:rPr>
              <a:t>5.4 · ISHNI TARTIBLASH (DAVOMI)</a:t>
            </a:r>
            <a:endParaRPr lang="en-US" sz="1200" dirty="0"/>
          </a:p>
        </p:txBody>
      </p:sp>
      <p:sp>
        <p:nvSpPr>
          <p:cNvPr id="3" name="Text 1"/>
          <p:cNvSpPr txBox="1"/>
          <p:nvPr/>
        </p:nvSpPr>
        <p:spPr>
          <a:xfrm>
            <a:off x="548640" y="777240"/>
            <a:ext cx="10789920" cy="777240"/>
          </a:xfrm>
          <a:prstGeom prst="rect">
            <a:avLst/>
          </a:prstGeom>
          <a:noFill/>
          <a:ln/>
        </p:spPr>
        <p:txBody>
          <a:bodyPr wrap="square" lIns="0" tIns="0" rIns="0" bIns="0" rtlCol="0" anchor="ctr"/>
          <a:lstStyle/>
          <a:p>
            <a:pPr indent="0" marL="0">
              <a:buNone/>
            </a:pPr>
            <a:r>
              <a:rPr lang="en-US" sz="2800" b="1" dirty="0">
                <a:solidFill>
                  <a:srgbClr val="16232E"/>
                </a:solidFill>
                <a:latin typeface="Cambria" pitchFamily="34" charset="0"/>
                <a:ea typeface="Cambria" pitchFamily="34" charset="-122"/>
                <a:cs typeface="Cambria" pitchFamily="34" charset="-120"/>
              </a:rPr>
              <a:t>Bog‘liqliklar, lead va lag</a:t>
            </a:r>
            <a:endParaRPr lang="en-US" sz="2800" dirty="0"/>
          </a:p>
        </p:txBody>
      </p:sp>
      <p:sp>
        <p:nvSpPr>
          <p:cNvPr id="4" name="Shape 2"/>
          <p:cNvSpPr/>
          <p:nvPr/>
        </p:nvSpPr>
        <p:spPr>
          <a:xfrm>
            <a:off x="548640" y="1691640"/>
            <a:ext cx="2606040" cy="1417320"/>
          </a:xfrm>
          <a:prstGeom prst="roundRect">
            <a:avLst>
              <a:gd name="adj" fmla="val 4516"/>
            </a:avLst>
          </a:prstGeom>
          <a:solidFill>
            <a:srgbClr val="F2F6F9"/>
          </a:solidFill>
          <a:ln/>
        </p:spPr>
      </p:sp>
      <p:sp>
        <p:nvSpPr>
          <p:cNvPr id="5" name="Shape 3"/>
          <p:cNvSpPr/>
          <p:nvPr/>
        </p:nvSpPr>
        <p:spPr>
          <a:xfrm>
            <a:off x="548640" y="1691640"/>
            <a:ext cx="2606040" cy="64008"/>
          </a:xfrm>
          <a:prstGeom prst="rect">
            <a:avLst/>
          </a:prstGeom>
          <a:solidFill>
            <a:srgbClr val="065A82"/>
          </a:solidFill>
          <a:ln/>
        </p:spPr>
      </p:sp>
      <p:sp>
        <p:nvSpPr>
          <p:cNvPr id="6" name="Text 4"/>
          <p:cNvSpPr txBox="1"/>
          <p:nvPr/>
        </p:nvSpPr>
        <p:spPr>
          <a:xfrm>
            <a:off x="694944" y="1837944"/>
            <a:ext cx="2313432" cy="384048"/>
          </a:xfrm>
          <a:prstGeom prst="rect">
            <a:avLst/>
          </a:prstGeom>
          <a:noFill/>
          <a:ln/>
        </p:spPr>
        <p:txBody>
          <a:bodyPr wrap="square" lIns="0" tIns="0" rIns="0" bIns="0" rtlCol="0" anchor="t"/>
          <a:lstStyle/>
          <a:p>
            <a:pPr indent="0" marL="0">
              <a:buNone/>
            </a:pPr>
            <a:r>
              <a:rPr lang="en-US" sz="1250" b="1" dirty="0">
                <a:solidFill>
                  <a:srgbClr val="16232E"/>
                </a:solidFill>
                <a:latin typeface="Calibri" pitchFamily="34" charset="0"/>
                <a:ea typeface="Calibri" pitchFamily="34" charset="-122"/>
                <a:cs typeface="Calibri" pitchFamily="34" charset="-120"/>
              </a:rPr>
              <a:t>Majburiy</a:t>
            </a:r>
            <a:endParaRPr lang="en-US" sz="1250" dirty="0"/>
          </a:p>
        </p:txBody>
      </p:sp>
      <p:sp>
        <p:nvSpPr>
          <p:cNvPr id="7" name="Text 5"/>
          <p:cNvSpPr txBox="1"/>
          <p:nvPr/>
        </p:nvSpPr>
        <p:spPr>
          <a:xfrm>
            <a:off x="694944" y="2240280"/>
            <a:ext cx="2313432" cy="822960"/>
          </a:xfrm>
          <a:prstGeom prst="rect">
            <a:avLst/>
          </a:prstGeom>
          <a:noFill/>
          <a:ln/>
        </p:spPr>
        <p:txBody>
          <a:bodyPr wrap="square" lIns="0" tIns="0" rIns="0" bIns="0" rtlCol="0" anchor="t"/>
          <a:lstStyle/>
          <a:p>
            <a:pPr indent="0" marL="0">
              <a:buNone/>
            </a:pPr>
            <a:r>
              <a:rPr lang="en-US" sz="1050" dirty="0">
                <a:solidFill>
                  <a:srgbClr val="5B6B77"/>
                </a:solidFill>
                <a:latin typeface="Calibri" pitchFamily="34" charset="0"/>
                <a:ea typeface="Calibri" pitchFamily="34" charset="-122"/>
                <a:cs typeface="Calibri" pitchFamily="34" charset="-120"/>
              </a:rPr>
              <a:t>Qonuniy yoki jismoniy talab qilinadi — prototipni qurmasdan sinab bo‘lmaydi</a:t>
            </a:r>
            <a:endParaRPr lang="en-US" sz="1050" dirty="0"/>
          </a:p>
        </p:txBody>
      </p:sp>
      <p:sp>
        <p:nvSpPr>
          <p:cNvPr id="8" name="Shape 6"/>
          <p:cNvSpPr/>
          <p:nvPr/>
        </p:nvSpPr>
        <p:spPr>
          <a:xfrm>
            <a:off x="3410712" y="1691640"/>
            <a:ext cx="2606040" cy="1417320"/>
          </a:xfrm>
          <a:prstGeom prst="roundRect">
            <a:avLst>
              <a:gd name="adj" fmla="val 4516"/>
            </a:avLst>
          </a:prstGeom>
          <a:solidFill>
            <a:srgbClr val="F2F6F9"/>
          </a:solidFill>
          <a:ln/>
        </p:spPr>
      </p:sp>
      <p:sp>
        <p:nvSpPr>
          <p:cNvPr id="9" name="Shape 7"/>
          <p:cNvSpPr/>
          <p:nvPr/>
        </p:nvSpPr>
        <p:spPr>
          <a:xfrm>
            <a:off x="3410712" y="1691640"/>
            <a:ext cx="2606040" cy="64008"/>
          </a:xfrm>
          <a:prstGeom prst="rect">
            <a:avLst/>
          </a:prstGeom>
          <a:solidFill>
            <a:srgbClr val="1C7293"/>
          </a:solidFill>
          <a:ln/>
        </p:spPr>
      </p:sp>
      <p:sp>
        <p:nvSpPr>
          <p:cNvPr id="10" name="Text 8"/>
          <p:cNvSpPr txBox="1"/>
          <p:nvPr/>
        </p:nvSpPr>
        <p:spPr>
          <a:xfrm>
            <a:off x="3557016" y="1837944"/>
            <a:ext cx="2313432" cy="384048"/>
          </a:xfrm>
          <a:prstGeom prst="rect">
            <a:avLst/>
          </a:prstGeom>
          <a:noFill/>
          <a:ln/>
        </p:spPr>
        <p:txBody>
          <a:bodyPr wrap="square" lIns="0" tIns="0" rIns="0" bIns="0" rtlCol="0" anchor="t"/>
          <a:lstStyle/>
          <a:p>
            <a:pPr indent="0" marL="0">
              <a:buNone/>
            </a:pPr>
            <a:r>
              <a:rPr lang="en-US" sz="1250" b="1" dirty="0">
                <a:solidFill>
                  <a:srgbClr val="16232E"/>
                </a:solidFill>
                <a:latin typeface="Calibri" pitchFamily="34" charset="0"/>
                <a:ea typeface="Calibri" pitchFamily="34" charset="-122"/>
                <a:cs typeface="Calibri" pitchFamily="34" charset="-120"/>
              </a:rPr>
              <a:t>Ixtiyoriy</a:t>
            </a:r>
            <a:endParaRPr lang="en-US" sz="1250" dirty="0"/>
          </a:p>
        </p:txBody>
      </p:sp>
      <p:sp>
        <p:nvSpPr>
          <p:cNvPr id="11" name="Text 9"/>
          <p:cNvSpPr txBox="1"/>
          <p:nvPr/>
        </p:nvSpPr>
        <p:spPr>
          <a:xfrm>
            <a:off x="3557016" y="2240280"/>
            <a:ext cx="2313432" cy="822960"/>
          </a:xfrm>
          <a:prstGeom prst="rect">
            <a:avLst/>
          </a:prstGeom>
          <a:noFill/>
          <a:ln/>
        </p:spPr>
        <p:txBody>
          <a:bodyPr wrap="square" lIns="0" tIns="0" rIns="0" bIns="0" rtlCol="0" anchor="t"/>
          <a:lstStyle/>
          <a:p>
            <a:pPr indent="0" marL="0">
              <a:buNone/>
            </a:pPr>
            <a:r>
              <a:rPr lang="en-US" sz="1050" dirty="0">
                <a:solidFill>
                  <a:srgbClr val="5B6B77"/>
                </a:solidFill>
                <a:latin typeface="Calibri" pitchFamily="34" charset="0"/>
                <a:ea typeface="Calibri" pitchFamily="34" charset="-122"/>
                <a:cs typeface="Calibri" pitchFamily="34" charset="-120"/>
              </a:rPr>
              <a:t>Jamoa afzal ko‘rgan ilg‘or amaliyot tartibi, boshqa tartiblar ham mumkin</a:t>
            </a:r>
            <a:endParaRPr lang="en-US" sz="1050" dirty="0"/>
          </a:p>
        </p:txBody>
      </p:sp>
      <p:sp>
        <p:nvSpPr>
          <p:cNvPr id="12" name="Shape 10"/>
          <p:cNvSpPr/>
          <p:nvPr/>
        </p:nvSpPr>
        <p:spPr>
          <a:xfrm>
            <a:off x="6272784" y="1691640"/>
            <a:ext cx="2606040" cy="1417320"/>
          </a:xfrm>
          <a:prstGeom prst="roundRect">
            <a:avLst>
              <a:gd name="adj" fmla="val 4516"/>
            </a:avLst>
          </a:prstGeom>
          <a:solidFill>
            <a:srgbClr val="F2F6F9"/>
          </a:solidFill>
          <a:ln/>
        </p:spPr>
      </p:sp>
      <p:sp>
        <p:nvSpPr>
          <p:cNvPr id="13" name="Shape 11"/>
          <p:cNvSpPr/>
          <p:nvPr/>
        </p:nvSpPr>
        <p:spPr>
          <a:xfrm>
            <a:off x="6272784" y="1691640"/>
            <a:ext cx="2606040" cy="64008"/>
          </a:xfrm>
          <a:prstGeom prst="rect">
            <a:avLst/>
          </a:prstGeom>
          <a:solidFill>
            <a:srgbClr val="D98E04"/>
          </a:solidFill>
          <a:ln/>
        </p:spPr>
      </p:sp>
      <p:sp>
        <p:nvSpPr>
          <p:cNvPr id="14" name="Text 12"/>
          <p:cNvSpPr txBox="1"/>
          <p:nvPr/>
        </p:nvSpPr>
        <p:spPr>
          <a:xfrm>
            <a:off x="6419088" y="1837944"/>
            <a:ext cx="2313432" cy="384048"/>
          </a:xfrm>
          <a:prstGeom prst="rect">
            <a:avLst/>
          </a:prstGeom>
          <a:noFill/>
          <a:ln/>
        </p:spPr>
        <p:txBody>
          <a:bodyPr wrap="square" lIns="0" tIns="0" rIns="0" bIns="0" rtlCol="0" anchor="t"/>
          <a:lstStyle/>
          <a:p>
            <a:pPr indent="0" marL="0">
              <a:buNone/>
            </a:pPr>
            <a:r>
              <a:rPr lang="en-US" sz="1250" b="1" dirty="0">
                <a:solidFill>
                  <a:srgbClr val="16232E"/>
                </a:solidFill>
                <a:latin typeface="Calibri" pitchFamily="34" charset="0"/>
                <a:ea typeface="Calibri" pitchFamily="34" charset="-122"/>
                <a:cs typeface="Calibri" pitchFamily="34" charset="-120"/>
              </a:rPr>
              <a:t>Tashqi</a:t>
            </a:r>
            <a:endParaRPr lang="en-US" sz="1250" dirty="0"/>
          </a:p>
        </p:txBody>
      </p:sp>
      <p:sp>
        <p:nvSpPr>
          <p:cNvPr id="15" name="Text 13"/>
          <p:cNvSpPr txBox="1"/>
          <p:nvPr/>
        </p:nvSpPr>
        <p:spPr>
          <a:xfrm>
            <a:off x="6419088" y="2240280"/>
            <a:ext cx="2313432" cy="822960"/>
          </a:xfrm>
          <a:prstGeom prst="rect">
            <a:avLst/>
          </a:prstGeom>
          <a:noFill/>
          <a:ln/>
        </p:spPr>
        <p:txBody>
          <a:bodyPr wrap="square" lIns="0" tIns="0" rIns="0" bIns="0" rtlCol="0" anchor="t"/>
          <a:lstStyle/>
          <a:p>
            <a:pPr indent="0" marL="0">
              <a:buNone/>
            </a:pPr>
            <a:r>
              <a:rPr lang="en-US" sz="1050" dirty="0">
                <a:solidFill>
                  <a:srgbClr val="5B6B77"/>
                </a:solidFill>
                <a:latin typeface="Calibri" pitchFamily="34" charset="0"/>
                <a:ea typeface="Calibri" pitchFamily="34" charset="-122"/>
                <a:cs typeface="Calibri" pitchFamily="34" charset="-120"/>
              </a:rPr>
              <a:t>Loyiha nazoratidan tashqaridagi narsaga bog‘liq — ruxsatnoma, yetkazib beruvchi yetkazib berishi</a:t>
            </a:r>
            <a:endParaRPr lang="en-US" sz="1050" dirty="0"/>
          </a:p>
        </p:txBody>
      </p:sp>
      <p:sp>
        <p:nvSpPr>
          <p:cNvPr id="16" name="Shape 14"/>
          <p:cNvSpPr/>
          <p:nvPr/>
        </p:nvSpPr>
        <p:spPr>
          <a:xfrm>
            <a:off x="9134856" y="1691640"/>
            <a:ext cx="2606040" cy="1417320"/>
          </a:xfrm>
          <a:prstGeom prst="roundRect">
            <a:avLst>
              <a:gd name="adj" fmla="val 4516"/>
            </a:avLst>
          </a:prstGeom>
          <a:solidFill>
            <a:srgbClr val="F2F6F9"/>
          </a:solidFill>
          <a:ln/>
        </p:spPr>
      </p:sp>
      <p:sp>
        <p:nvSpPr>
          <p:cNvPr id="17" name="Shape 15"/>
          <p:cNvSpPr/>
          <p:nvPr/>
        </p:nvSpPr>
        <p:spPr>
          <a:xfrm>
            <a:off x="9134856" y="1691640"/>
            <a:ext cx="2606040" cy="64008"/>
          </a:xfrm>
          <a:prstGeom prst="rect">
            <a:avLst/>
          </a:prstGeom>
          <a:solidFill>
            <a:srgbClr val="065A82"/>
          </a:solidFill>
          <a:ln/>
        </p:spPr>
      </p:sp>
      <p:sp>
        <p:nvSpPr>
          <p:cNvPr id="18" name="Text 16"/>
          <p:cNvSpPr txBox="1"/>
          <p:nvPr/>
        </p:nvSpPr>
        <p:spPr>
          <a:xfrm>
            <a:off x="9281160" y="1837944"/>
            <a:ext cx="2313432" cy="384048"/>
          </a:xfrm>
          <a:prstGeom prst="rect">
            <a:avLst/>
          </a:prstGeom>
          <a:noFill/>
          <a:ln/>
        </p:spPr>
        <p:txBody>
          <a:bodyPr wrap="square" lIns="0" tIns="0" rIns="0" bIns="0" rtlCol="0" anchor="t"/>
          <a:lstStyle/>
          <a:p>
            <a:pPr indent="0" marL="0">
              <a:buNone/>
            </a:pPr>
            <a:r>
              <a:rPr lang="en-US" sz="1250" b="1" dirty="0">
                <a:solidFill>
                  <a:srgbClr val="16232E"/>
                </a:solidFill>
                <a:latin typeface="Calibri" pitchFamily="34" charset="0"/>
                <a:ea typeface="Calibri" pitchFamily="34" charset="-122"/>
                <a:cs typeface="Calibri" pitchFamily="34" charset="-120"/>
              </a:rPr>
              <a:t>Ichki</a:t>
            </a:r>
            <a:endParaRPr lang="en-US" sz="1250" dirty="0"/>
          </a:p>
        </p:txBody>
      </p:sp>
      <p:sp>
        <p:nvSpPr>
          <p:cNvPr id="19" name="Text 17"/>
          <p:cNvSpPr txBox="1"/>
          <p:nvPr/>
        </p:nvSpPr>
        <p:spPr>
          <a:xfrm>
            <a:off x="9281160" y="2240280"/>
            <a:ext cx="2313432" cy="822960"/>
          </a:xfrm>
          <a:prstGeom prst="rect">
            <a:avLst/>
          </a:prstGeom>
          <a:noFill/>
          <a:ln/>
        </p:spPr>
        <p:txBody>
          <a:bodyPr wrap="square" lIns="0" tIns="0" rIns="0" bIns="0" rtlCol="0" anchor="t"/>
          <a:lstStyle/>
          <a:p>
            <a:pPr indent="0" marL="0">
              <a:buNone/>
            </a:pPr>
            <a:r>
              <a:rPr lang="en-US" sz="1050" dirty="0">
                <a:solidFill>
                  <a:srgbClr val="5B6B77"/>
                </a:solidFill>
                <a:latin typeface="Calibri" pitchFamily="34" charset="0"/>
                <a:ea typeface="Calibri" pitchFamily="34" charset="-122"/>
                <a:cs typeface="Calibri" pitchFamily="34" charset="-120"/>
              </a:rPr>
              <a:t>Loyiha jamoasi to‘liq nazorat qiladigan ustunlik munosabati</a:t>
            </a:r>
            <a:endParaRPr lang="en-US" sz="1050" dirty="0"/>
          </a:p>
        </p:txBody>
      </p:sp>
      <p:sp>
        <p:nvSpPr>
          <p:cNvPr id="20" name="Text 18"/>
          <p:cNvSpPr txBox="1"/>
          <p:nvPr/>
        </p:nvSpPr>
        <p:spPr>
          <a:xfrm>
            <a:off x="548640" y="3429000"/>
            <a:ext cx="10789920" cy="320040"/>
          </a:xfrm>
          <a:prstGeom prst="rect">
            <a:avLst/>
          </a:prstGeom>
          <a:noFill/>
          <a:ln/>
        </p:spPr>
        <p:txBody>
          <a:bodyPr wrap="square" lIns="0" tIns="0" rIns="0" bIns="0"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Ikki vaqt sozlash usuli:</a:t>
            </a:r>
            <a:endParaRPr lang="en-US" sz="1300" dirty="0"/>
          </a:p>
        </p:txBody>
      </p:sp>
      <p:sp>
        <p:nvSpPr>
          <p:cNvPr id="21" name="Shape 19"/>
          <p:cNvSpPr/>
          <p:nvPr/>
        </p:nvSpPr>
        <p:spPr>
          <a:xfrm>
            <a:off x="548640" y="3840480"/>
            <a:ext cx="11064240" cy="914400"/>
          </a:xfrm>
          <a:prstGeom prst="roundRect">
            <a:avLst>
              <a:gd name="adj" fmla="val 7000"/>
            </a:avLst>
          </a:prstGeom>
          <a:solidFill>
            <a:srgbClr val="0B1F3A"/>
          </a:solidFill>
          <a:ln/>
        </p:spPr>
      </p:sp>
      <p:sp>
        <p:nvSpPr>
          <p:cNvPr id="22" name="Text 20"/>
          <p:cNvSpPr txBox="1"/>
          <p:nvPr/>
        </p:nvSpPr>
        <p:spPr>
          <a:xfrm>
            <a:off x="822960" y="3840480"/>
            <a:ext cx="10515600" cy="914400"/>
          </a:xfrm>
          <a:prstGeom prst="rect">
            <a:avLst/>
          </a:prstGeom>
          <a:noFill/>
          <a:ln/>
        </p:spPr>
        <p:txBody>
          <a:bodyPr wrap="square" lIns="0" tIns="0" rIns="0" bIns="0" rtlCol="0" anchor="ctr"/>
          <a:lstStyle/>
          <a:p>
            <a:pPr indent="0" marL="0">
              <a:buNone/>
            </a:pPr>
            <a:r>
              <a:rPr lang="en-US" sz="1250" dirty="0">
                <a:solidFill>
                  <a:srgbClr val="E4ECF2"/>
                </a:solidFill>
                <a:latin typeface="Calibri" pitchFamily="34" charset="0"/>
                <a:ea typeface="Calibri" pitchFamily="34" charset="-122"/>
                <a:cs typeface="Calibri" pitchFamily="34" charset="-120"/>
              </a:rPr>
              <a:t>Lead (ilgarilash) — keyingisi oldingisi tugashidan oldin boshlanadi (masalan, landshaft ishlari ro‘yxat tugashidan 2 hafta oldin boshlanadi)</a:t>
            </a:r>
            <a:endParaRPr lang="en-US" sz="1250" dirty="0"/>
          </a:p>
        </p:txBody>
      </p:sp>
      <p:sp>
        <p:nvSpPr>
          <p:cNvPr id="23" name="Shape 21"/>
          <p:cNvSpPr/>
          <p:nvPr/>
        </p:nvSpPr>
        <p:spPr>
          <a:xfrm>
            <a:off x="548640" y="4892040"/>
            <a:ext cx="11064240" cy="914400"/>
          </a:xfrm>
          <a:prstGeom prst="roundRect">
            <a:avLst>
              <a:gd name="adj" fmla="val 7000"/>
            </a:avLst>
          </a:prstGeom>
          <a:solidFill>
            <a:srgbClr val="12345C"/>
          </a:solidFill>
          <a:ln/>
        </p:spPr>
      </p:sp>
      <p:sp>
        <p:nvSpPr>
          <p:cNvPr id="24" name="Text 22"/>
          <p:cNvSpPr txBox="1"/>
          <p:nvPr/>
        </p:nvSpPr>
        <p:spPr>
          <a:xfrm>
            <a:off x="822960" y="4892040"/>
            <a:ext cx="10515600" cy="914400"/>
          </a:xfrm>
          <a:prstGeom prst="rect">
            <a:avLst/>
          </a:prstGeom>
          <a:noFill/>
          <a:ln/>
        </p:spPr>
        <p:txBody>
          <a:bodyPr wrap="square" lIns="0" tIns="0" rIns="0" bIns="0" rtlCol="0" anchor="ctr"/>
          <a:lstStyle/>
          <a:p>
            <a:pPr indent="0" marL="0">
              <a:buNone/>
            </a:pPr>
            <a:r>
              <a:rPr lang="en-US" sz="1250" dirty="0">
                <a:solidFill>
                  <a:srgbClr val="E4ECF2"/>
                </a:solidFill>
                <a:latin typeface="Calibri" pitchFamily="34" charset="0"/>
                <a:ea typeface="Calibri" pitchFamily="34" charset="-122"/>
                <a:cs typeface="Calibri" pitchFamily="34" charset="-120"/>
              </a:rPr>
              <a:t>Lag (kechikish) — keyingisi oldingisidan keyin kechiktiriladi (masalan, tahrirlash yozish boshlangandan 15 kun keyin boshlanadi)</a:t>
            </a:r>
            <a:endParaRPr lang="en-US" sz="1250" dirty="0"/>
          </a:p>
        </p:txBody>
      </p:sp>
      <p:sp>
        <p:nvSpPr>
          <p:cNvPr id="25" name="Text 23"/>
          <p:cNvSpPr txBox="1"/>
          <p:nvPr/>
        </p:nvSpPr>
        <p:spPr>
          <a:xfrm>
            <a:off x="11274552" y="6355080"/>
            <a:ext cx="548640" cy="320040"/>
          </a:xfrm>
          <a:prstGeom prst="rect">
            <a:avLst/>
          </a:prstGeom>
          <a:noFill/>
          <a:ln/>
        </p:spPr>
        <p:txBody>
          <a:bodyPr wrap="square" lIns="0" tIns="0" rIns="0" bIns="0" rtlCol="0" anchor="ctr"/>
          <a:lstStyle/>
          <a:p>
            <a:pPr algn="r" indent="0" marL="0">
              <a:buNone/>
            </a:pPr>
            <a:r>
              <a:rPr lang="en-US" sz="1000" dirty="0">
                <a:solidFill>
                  <a:srgbClr val="5B6B77"/>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9601200" cy="365760"/>
          </a:xfrm>
          <a:prstGeom prst="rect">
            <a:avLst/>
          </a:prstGeom>
          <a:noFill/>
          <a:ln/>
        </p:spPr>
        <p:txBody>
          <a:bodyPr wrap="square" lIns="0" tIns="0" rIns="0" bIns="0" rtlCol="0" anchor="ctr"/>
          <a:lstStyle/>
          <a:p>
            <a:pPr indent="0" marL="0">
              <a:buNone/>
            </a:pPr>
            <a:r>
              <a:rPr lang="en-US" sz="1200" b="1" spc="200" kern="0" dirty="0">
                <a:solidFill>
                  <a:srgbClr val="D98E04"/>
                </a:solidFill>
                <a:latin typeface="Calibri" pitchFamily="34" charset="0"/>
                <a:ea typeface="Calibri" pitchFamily="34" charset="-122"/>
                <a:cs typeface="Calibri" pitchFamily="34" charset="-120"/>
              </a:rPr>
              <a:t>5.5 · QANCHA VAQT KETADI</a:t>
            </a:r>
            <a:endParaRPr lang="en-US" sz="1200" dirty="0"/>
          </a:p>
        </p:txBody>
      </p:sp>
      <p:sp>
        <p:nvSpPr>
          <p:cNvPr id="3" name="Text 1"/>
          <p:cNvSpPr txBox="1"/>
          <p:nvPr/>
        </p:nvSpPr>
        <p:spPr>
          <a:xfrm>
            <a:off x="548640" y="777240"/>
            <a:ext cx="10789920" cy="777240"/>
          </a:xfrm>
          <a:prstGeom prst="rect">
            <a:avLst/>
          </a:prstGeom>
          <a:noFill/>
          <a:ln/>
        </p:spPr>
        <p:txBody>
          <a:bodyPr wrap="square" lIns="0" tIns="0" rIns="0" bIns="0" rtlCol="0" anchor="ctr"/>
          <a:lstStyle/>
          <a:p>
            <a:pPr indent="0" marL="0">
              <a:buNone/>
            </a:pPr>
            <a:r>
              <a:rPr lang="en-US" sz="2800" b="1" dirty="0">
                <a:solidFill>
                  <a:srgbClr val="16232E"/>
                </a:solidFill>
                <a:latin typeface="Cambria" pitchFamily="34" charset="0"/>
                <a:ea typeface="Cambria" pitchFamily="34" charset="-122"/>
                <a:cs typeface="Cambria" pitchFamily="34" charset="-120"/>
              </a:rPr>
              <a:t>Faoliyat davomiyligini baholash</a:t>
            </a:r>
            <a:endParaRPr lang="en-US" sz="2800" dirty="0"/>
          </a:p>
        </p:txBody>
      </p:sp>
      <p:sp>
        <p:nvSpPr>
          <p:cNvPr id="4" name="Shape 2"/>
          <p:cNvSpPr/>
          <p:nvPr/>
        </p:nvSpPr>
        <p:spPr>
          <a:xfrm>
            <a:off x="548640" y="1737360"/>
            <a:ext cx="5404104" cy="2203704"/>
          </a:xfrm>
          <a:prstGeom prst="roundRect">
            <a:avLst>
              <a:gd name="adj" fmla="val 3320"/>
            </a:avLst>
          </a:prstGeom>
          <a:solidFill>
            <a:srgbClr val="F2F6F9"/>
          </a:solidFill>
          <a:ln/>
        </p:spPr>
      </p:sp>
      <p:sp>
        <p:nvSpPr>
          <p:cNvPr id="5" name="Shape 3"/>
          <p:cNvSpPr/>
          <p:nvPr/>
        </p:nvSpPr>
        <p:spPr>
          <a:xfrm>
            <a:off x="548640" y="1737360"/>
            <a:ext cx="5404104" cy="64008"/>
          </a:xfrm>
          <a:prstGeom prst="rect">
            <a:avLst/>
          </a:prstGeom>
          <a:solidFill>
            <a:srgbClr val="065A82"/>
          </a:solidFill>
          <a:ln/>
        </p:spPr>
      </p:sp>
      <p:sp>
        <p:nvSpPr>
          <p:cNvPr id="6" name="Text 4"/>
          <p:cNvSpPr txBox="1"/>
          <p:nvPr/>
        </p:nvSpPr>
        <p:spPr>
          <a:xfrm>
            <a:off x="731520" y="1901952"/>
            <a:ext cx="5038344" cy="502920"/>
          </a:xfrm>
          <a:prstGeom prst="rect">
            <a:avLst/>
          </a:prstGeom>
          <a:noFill/>
          <a:ln/>
        </p:spPr>
        <p:txBody>
          <a:bodyPr wrap="square" lIns="0" tIns="0" rIns="0" bIns="0" rtlCol="0" anchor="t"/>
          <a:lstStyle/>
          <a:p>
            <a:pPr indent="0" marL="0">
              <a:buNone/>
            </a:pPr>
            <a:r>
              <a:rPr lang="en-US" sz="1350" b="1" dirty="0">
                <a:solidFill>
                  <a:srgbClr val="16232E"/>
                </a:solidFill>
                <a:latin typeface="Calibri" pitchFamily="34" charset="0"/>
                <a:ea typeface="Calibri" pitchFamily="34" charset="-122"/>
                <a:cs typeface="Calibri" pitchFamily="34" charset="-120"/>
              </a:rPr>
              <a:t>Analogik</a:t>
            </a:r>
            <a:endParaRPr lang="en-US" sz="1350" dirty="0"/>
          </a:p>
        </p:txBody>
      </p:sp>
      <p:sp>
        <p:nvSpPr>
          <p:cNvPr id="7" name="Text 5"/>
          <p:cNvSpPr txBox="1"/>
          <p:nvPr/>
        </p:nvSpPr>
        <p:spPr>
          <a:xfrm>
            <a:off x="731520" y="2423160"/>
            <a:ext cx="5038344" cy="1380744"/>
          </a:xfrm>
          <a:prstGeom prst="rect">
            <a:avLst/>
          </a:prstGeom>
          <a:noFill/>
          <a:ln/>
        </p:spPr>
        <p:txBody>
          <a:bodyPr wrap="square" lIns="0" tIns="0" rIns="0" bIns="0" rtlCol="0" anchor="t"/>
          <a:lstStyle/>
          <a:p>
            <a:pPr indent="0" marL="0">
              <a:buNone/>
            </a:pPr>
            <a:r>
              <a:rPr lang="en-US" sz="1150" dirty="0">
                <a:solidFill>
                  <a:srgbClr val="5B6B77"/>
                </a:solidFill>
                <a:latin typeface="Calibri" pitchFamily="34" charset="0"/>
                <a:ea typeface="Calibri" pitchFamily="34" charset="-122"/>
                <a:cs typeface="Calibri" pitchFamily="34" charset="-120"/>
              </a:rPr>
              <a:t>O‘xshash oldingi loyihadan haqiqiy davomiylikni oladi — tez, ammo aniqligi past</a:t>
            </a:r>
            <a:endParaRPr lang="en-US" sz="1150" dirty="0"/>
          </a:p>
        </p:txBody>
      </p:sp>
      <p:sp>
        <p:nvSpPr>
          <p:cNvPr id="8" name="Shape 6"/>
          <p:cNvSpPr/>
          <p:nvPr/>
        </p:nvSpPr>
        <p:spPr>
          <a:xfrm>
            <a:off x="6208776" y="1737360"/>
            <a:ext cx="5404104" cy="2203704"/>
          </a:xfrm>
          <a:prstGeom prst="roundRect">
            <a:avLst>
              <a:gd name="adj" fmla="val 3320"/>
            </a:avLst>
          </a:prstGeom>
          <a:solidFill>
            <a:srgbClr val="F2F6F9"/>
          </a:solidFill>
          <a:ln/>
        </p:spPr>
      </p:sp>
      <p:sp>
        <p:nvSpPr>
          <p:cNvPr id="9" name="Shape 7"/>
          <p:cNvSpPr/>
          <p:nvPr/>
        </p:nvSpPr>
        <p:spPr>
          <a:xfrm>
            <a:off x="6208776" y="1737360"/>
            <a:ext cx="5404104" cy="64008"/>
          </a:xfrm>
          <a:prstGeom prst="rect">
            <a:avLst/>
          </a:prstGeom>
          <a:solidFill>
            <a:srgbClr val="1C7293"/>
          </a:solidFill>
          <a:ln/>
        </p:spPr>
      </p:sp>
      <p:sp>
        <p:nvSpPr>
          <p:cNvPr id="10" name="Text 8"/>
          <p:cNvSpPr txBox="1"/>
          <p:nvPr/>
        </p:nvSpPr>
        <p:spPr>
          <a:xfrm>
            <a:off x="6391656" y="1901952"/>
            <a:ext cx="5038344" cy="502920"/>
          </a:xfrm>
          <a:prstGeom prst="rect">
            <a:avLst/>
          </a:prstGeom>
          <a:noFill/>
          <a:ln/>
        </p:spPr>
        <p:txBody>
          <a:bodyPr wrap="square" lIns="0" tIns="0" rIns="0" bIns="0" rtlCol="0" anchor="t"/>
          <a:lstStyle/>
          <a:p>
            <a:pPr indent="0" marL="0">
              <a:buNone/>
            </a:pPr>
            <a:r>
              <a:rPr lang="en-US" sz="1350" b="1" dirty="0">
                <a:solidFill>
                  <a:srgbClr val="16232E"/>
                </a:solidFill>
                <a:latin typeface="Calibri" pitchFamily="34" charset="0"/>
                <a:ea typeface="Calibri" pitchFamily="34" charset="-122"/>
                <a:cs typeface="Calibri" pitchFamily="34" charset="-120"/>
              </a:rPr>
              <a:t>Parametrik</a:t>
            </a:r>
            <a:endParaRPr lang="en-US" sz="1350" dirty="0"/>
          </a:p>
        </p:txBody>
      </p:sp>
      <p:sp>
        <p:nvSpPr>
          <p:cNvPr id="11" name="Text 9"/>
          <p:cNvSpPr txBox="1"/>
          <p:nvPr/>
        </p:nvSpPr>
        <p:spPr>
          <a:xfrm>
            <a:off x="6391656" y="2423160"/>
            <a:ext cx="5038344" cy="1380744"/>
          </a:xfrm>
          <a:prstGeom prst="rect">
            <a:avLst/>
          </a:prstGeom>
          <a:noFill/>
          <a:ln/>
        </p:spPr>
        <p:txBody>
          <a:bodyPr wrap="square" lIns="0" tIns="0" rIns="0" bIns="0" rtlCol="0" anchor="t"/>
          <a:lstStyle/>
          <a:p>
            <a:pPr indent="0" marL="0">
              <a:buNone/>
            </a:pPr>
            <a:r>
              <a:rPr lang="en-US" sz="1150" dirty="0">
                <a:solidFill>
                  <a:srgbClr val="5B6B77"/>
                </a:solidFill>
                <a:latin typeface="Calibri" pitchFamily="34" charset="0"/>
                <a:ea typeface="Calibri" pitchFamily="34" charset="-122"/>
                <a:cs typeface="Calibri" pitchFamily="34" charset="-120"/>
              </a:rPr>
              <a:t>Algoritm statistik bog‘liqlikdan davomiylikni hisoblaydi, masalan, kabelning har metriga soat</a:t>
            </a:r>
            <a:endParaRPr lang="en-US" sz="1150" dirty="0"/>
          </a:p>
        </p:txBody>
      </p:sp>
      <p:sp>
        <p:nvSpPr>
          <p:cNvPr id="12" name="Shape 10"/>
          <p:cNvSpPr/>
          <p:nvPr/>
        </p:nvSpPr>
        <p:spPr>
          <a:xfrm>
            <a:off x="548640" y="4197096"/>
            <a:ext cx="5404104" cy="2203704"/>
          </a:xfrm>
          <a:prstGeom prst="roundRect">
            <a:avLst>
              <a:gd name="adj" fmla="val 3320"/>
            </a:avLst>
          </a:prstGeom>
          <a:solidFill>
            <a:srgbClr val="F2F6F9"/>
          </a:solidFill>
          <a:ln/>
        </p:spPr>
      </p:sp>
      <p:sp>
        <p:nvSpPr>
          <p:cNvPr id="13" name="Shape 11"/>
          <p:cNvSpPr/>
          <p:nvPr/>
        </p:nvSpPr>
        <p:spPr>
          <a:xfrm>
            <a:off x="548640" y="4197096"/>
            <a:ext cx="5404104" cy="64008"/>
          </a:xfrm>
          <a:prstGeom prst="rect">
            <a:avLst/>
          </a:prstGeom>
          <a:solidFill>
            <a:srgbClr val="D98E04"/>
          </a:solidFill>
          <a:ln/>
        </p:spPr>
      </p:sp>
      <p:sp>
        <p:nvSpPr>
          <p:cNvPr id="14" name="Text 12"/>
          <p:cNvSpPr txBox="1"/>
          <p:nvPr/>
        </p:nvSpPr>
        <p:spPr>
          <a:xfrm>
            <a:off x="731520" y="4361688"/>
            <a:ext cx="5038344" cy="502920"/>
          </a:xfrm>
          <a:prstGeom prst="rect">
            <a:avLst/>
          </a:prstGeom>
          <a:noFill/>
          <a:ln/>
        </p:spPr>
        <p:txBody>
          <a:bodyPr wrap="square" lIns="0" tIns="0" rIns="0" bIns="0" rtlCol="0" anchor="t"/>
          <a:lstStyle/>
          <a:p>
            <a:pPr indent="0" marL="0">
              <a:buNone/>
            </a:pPr>
            <a:r>
              <a:rPr lang="en-US" sz="1350" b="1" dirty="0">
                <a:solidFill>
                  <a:srgbClr val="16232E"/>
                </a:solidFill>
                <a:latin typeface="Calibri" pitchFamily="34" charset="0"/>
                <a:ea typeface="Calibri" pitchFamily="34" charset="-122"/>
                <a:cs typeface="Calibri" pitchFamily="34" charset="-120"/>
              </a:rPr>
              <a:t>Uch nuqtali</a:t>
            </a:r>
            <a:endParaRPr lang="en-US" sz="1350" dirty="0"/>
          </a:p>
        </p:txBody>
      </p:sp>
      <p:sp>
        <p:nvSpPr>
          <p:cNvPr id="15" name="Text 13"/>
          <p:cNvSpPr txBox="1"/>
          <p:nvPr/>
        </p:nvSpPr>
        <p:spPr>
          <a:xfrm>
            <a:off x="731520" y="4882896"/>
            <a:ext cx="5038344" cy="1380744"/>
          </a:xfrm>
          <a:prstGeom prst="rect">
            <a:avLst/>
          </a:prstGeom>
          <a:noFill/>
          <a:ln/>
        </p:spPr>
        <p:txBody>
          <a:bodyPr wrap="square" lIns="0" tIns="0" rIns="0" bIns="0" rtlCol="0" anchor="t"/>
          <a:lstStyle/>
          <a:p>
            <a:pPr indent="0" marL="0">
              <a:buNone/>
            </a:pPr>
            <a:r>
              <a:rPr lang="en-US" sz="1150" dirty="0">
                <a:solidFill>
                  <a:srgbClr val="5B6B77"/>
                </a:solidFill>
                <a:latin typeface="Calibri" pitchFamily="34" charset="0"/>
                <a:ea typeface="Calibri" pitchFamily="34" charset="-122"/>
                <a:cs typeface="Calibri" pitchFamily="34" charset="-120"/>
              </a:rPr>
              <a:t>Optimistik, eng ehtimoliy va pessimistik baholarni bitta kutilgan qiymatga birlashtiradi</a:t>
            </a:r>
            <a:endParaRPr lang="en-US" sz="1150" dirty="0"/>
          </a:p>
        </p:txBody>
      </p:sp>
      <p:sp>
        <p:nvSpPr>
          <p:cNvPr id="16" name="Shape 14"/>
          <p:cNvSpPr/>
          <p:nvPr/>
        </p:nvSpPr>
        <p:spPr>
          <a:xfrm>
            <a:off x="6208776" y="4197096"/>
            <a:ext cx="5404104" cy="2203704"/>
          </a:xfrm>
          <a:prstGeom prst="roundRect">
            <a:avLst>
              <a:gd name="adj" fmla="val 3320"/>
            </a:avLst>
          </a:prstGeom>
          <a:solidFill>
            <a:srgbClr val="F2F6F9"/>
          </a:solidFill>
          <a:ln/>
        </p:spPr>
      </p:sp>
      <p:sp>
        <p:nvSpPr>
          <p:cNvPr id="17" name="Shape 15"/>
          <p:cNvSpPr/>
          <p:nvPr/>
        </p:nvSpPr>
        <p:spPr>
          <a:xfrm>
            <a:off x="6208776" y="4197096"/>
            <a:ext cx="5404104" cy="64008"/>
          </a:xfrm>
          <a:prstGeom prst="rect">
            <a:avLst/>
          </a:prstGeom>
          <a:solidFill>
            <a:srgbClr val="065A82"/>
          </a:solidFill>
          <a:ln/>
        </p:spPr>
      </p:sp>
      <p:sp>
        <p:nvSpPr>
          <p:cNvPr id="18" name="Text 16"/>
          <p:cNvSpPr txBox="1"/>
          <p:nvPr/>
        </p:nvSpPr>
        <p:spPr>
          <a:xfrm>
            <a:off x="6391656" y="4361688"/>
            <a:ext cx="5038344" cy="502920"/>
          </a:xfrm>
          <a:prstGeom prst="rect">
            <a:avLst/>
          </a:prstGeom>
          <a:noFill/>
          <a:ln/>
        </p:spPr>
        <p:txBody>
          <a:bodyPr wrap="square" lIns="0" tIns="0" rIns="0" bIns="0" rtlCol="0" anchor="t"/>
          <a:lstStyle/>
          <a:p>
            <a:pPr indent="0" marL="0">
              <a:buNone/>
            </a:pPr>
            <a:r>
              <a:rPr lang="en-US" sz="1350" b="1" dirty="0">
                <a:solidFill>
                  <a:srgbClr val="16232E"/>
                </a:solidFill>
                <a:latin typeface="Calibri" pitchFamily="34" charset="0"/>
                <a:ea typeface="Calibri" pitchFamily="34" charset="-122"/>
                <a:cs typeface="Calibri" pitchFamily="34" charset="-120"/>
              </a:rPr>
              <a:t>Pastdan-yuqoriga</a:t>
            </a:r>
            <a:endParaRPr lang="en-US" sz="1350" dirty="0"/>
          </a:p>
        </p:txBody>
      </p:sp>
      <p:sp>
        <p:nvSpPr>
          <p:cNvPr id="19" name="Text 17"/>
          <p:cNvSpPr txBox="1"/>
          <p:nvPr/>
        </p:nvSpPr>
        <p:spPr>
          <a:xfrm>
            <a:off x="6391656" y="4882896"/>
            <a:ext cx="5038344" cy="1380744"/>
          </a:xfrm>
          <a:prstGeom prst="rect">
            <a:avLst/>
          </a:prstGeom>
          <a:noFill/>
          <a:ln/>
        </p:spPr>
        <p:txBody>
          <a:bodyPr wrap="square" lIns="0" tIns="0" rIns="0" bIns="0" rtlCol="0" anchor="t"/>
          <a:lstStyle/>
          <a:p>
            <a:pPr indent="0" marL="0">
              <a:buNone/>
            </a:pPr>
            <a:r>
              <a:rPr lang="en-US" sz="1150" dirty="0">
                <a:solidFill>
                  <a:srgbClr val="5B6B77"/>
                </a:solidFill>
                <a:latin typeface="Calibri" pitchFamily="34" charset="0"/>
                <a:ea typeface="Calibri" pitchFamily="34" charset="-122"/>
                <a:cs typeface="Calibri" pitchFamily="34" charset="-120"/>
              </a:rPr>
              <a:t>Eng past darajadagi komponentlar uchun batafsil baholarni yig‘adi</a:t>
            </a:r>
            <a:endParaRPr lang="en-US" sz="1150" dirty="0"/>
          </a:p>
        </p:txBody>
      </p:sp>
      <p:sp>
        <p:nvSpPr>
          <p:cNvPr id="20" name="Text 18"/>
          <p:cNvSpPr txBox="1"/>
          <p:nvPr/>
        </p:nvSpPr>
        <p:spPr>
          <a:xfrm>
            <a:off x="11274552" y="6355080"/>
            <a:ext cx="548640" cy="320040"/>
          </a:xfrm>
          <a:prstGeom prst="rect">
            <a:avLst/>
          </a:prstGeom>
          <a:noFill/>
          <a:ln/>
        </p:spPr>
        <p:txBody>
          <a:bodyPr wrap="square" lIns="0" tIns="0" rIns="0" bIns="0" rtlCol="0" anchor="ctr"/>
          <a:lstStyle/>
          <a:p>
            <a:pPr algn="r" indent="0" marL="0">
              <a:buNone/>
            </a:pPr>
            <a:r>
              <a:rPr lang="en-US" sz="1000" dirty="0">
                <a:solidFill>
                  <a:srgbClr val="5B6B77"/>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9601200" cy="365760"/>
          </a:xfrm>
          <a:prstGeom prst="rect">
            <a:avLst/>
          </a:prstGeom>
          <a:noFill/>
          <a:ln/>
        </p:spPr>
        <p:txBody>
          <a:bodyPr wrap="square" lIns="0" tIns="0" rIns="0" bIns="0" rtlCol="0" anchor="ctr"/>
          <a:lstStyle/>
          <a:p>
            <a:pPr indent="0" marL="0">
              <a:buNone/>
            </a:pPr>
            <a:r>
              <a:rPr lang="en-US" sz="1200" b="1" spc="200" kern="0" dirty="0">
                <a:solidFill>
                  <a:srgbClr val="D98E04"/>
                </a:solidFill>
                <a:latin typeface="Calibri" pitchFamily="34" charset="0"/>
                <a:ea typeface="Calibri" pitchFamily="34" charset="-122"/>
                <a:cs typeface="Calibri" pitchFamily="34" charset="-120"/>
              </a:rPr>
              <a:t>5.5 · QANCHA VAQT KETADI (DAVOMI)</a:t>
            </a:r>
            <a:endParaRPr lang="en-US" sz="1200" dirty="0"/>
          </a:p>
        </p:txBody>
      </p:sp>
      <p:sp>
        <p:nvSpPr>
          <p:cNvPr id="3" name="Text 1"/>
          <p:cNvSpPr txBox="1"/>
          <p:nvPr/>
        </p:nvSpPr>
        <p:spPr>
          <a:xfrm>
            <a:off x="548640" y="777240"/>
            <a:ext cx="10789920" cy="777240"/>
          </a:xfrm>
          <a:prstGeom prst="rect">
            <a:avLst/>
          </a:prstGeom>
          <a:noFill/>
          <a:ln/>
        </p:spPr>
        <p:txBody>
          <a:bodyPr wrap="square" lIns="0" tIns="0" rIns="0" bIns="0" rtlCol="0" anchor="ctr"/>
          <a:lstStyle/>
          <a:p>
            <a:pPr indent="0" marL="0">
              <a:buNone/>
            </a:pPr>
            <a:r>
              <a:rPr lang="en-US" sz="2800" b="1" dirty="0">
                <a:solidFill>
                  <a:srgbClr val="16232E"/>
                </a:solidFill>
                <a:latin typeface="Cambria" pitchFamily="34" charset="0"/>
                <a:ea typeface="Cambria" pitchFamily="34" charset="-122"/>
                <a:cs typeface="Cambria" pitchFamily="34" charset="-120"/>
              </a:rPr>
              <a:t>Uch nuqtali baholash misolda</a:t>
            </a:r>
            <a:endParaRPr lang="en-US" sz="2800" dirty="0"/>
          </a:p>
        </p:txBody>
      </p:sp>
      <p:sp>
        <p:nvSpPr>
          <p:cNvPr id="4" name="Text 2"/>
          <p:cNvSpPr txBox="1"/>
          <p:nvPr/>
        </p:nvSpPr>
        <p:spPr>
          <a:xfrm>
            <a:off x="548640" y="1508760"/>
            <a:ext cx="10789920" cy="685800"/>
          </a:xfrm>
          <a:prstGeom prst="rect">
            <a:avLst/>
          </a:prstGeom>
          <a:noFill/>
          <a:ln/>
        </p:spPr>
        <p:txBody>
          <a:bodyPr wrap="square" lIns="0" tIns="0" rIns="0" bIns="0" rtlCol="0" anchor="ctr"/>
          <a:lstStyle/>
          <a:p>
            <a:pPr indent="0" marL="0">
              <a:lnSpc>
                <a:spcPct val="125000"/>
              </a:lnSpc>
              <a:buNone/>
            </a:pPr>
            <a:r>
              <a:rPr lang="en-US" sz="1350" dirty="0">
                <a:solidFill>
                  <a:srgbClr val="16232E"/>
                </a:solidFill>
                <a:latin typeface="Calibri" pitchFamily="34" charset="0"/>
                <a:ea typeface="Calibri" pitchFamily="34" charset="-122"/>
                <a:cs typeface="Calibri" pitchFamily="34" charset="-120"/>
              </a:rPr>
              <a:t>Uch nuqtali baholash eng yaxshi, eng ehtimoliy va eng yomon holatlarni bitta kutilgan davomiylikka birlashtirib aniqlikni oshiradi — uchburchak taqsimot formulasi:</a:t>
            </a:r>
            <a:endParaRPr lang="en-US" sz="1350" dirty="0"/>
          </a:p>
        </p:txBody>
      </p:sp>
      <p:sp>
        <p:nvSpPr>
          <p:cNvPr id="5" name="Shape 3"/>
          <p:cNvSpPr/>
          <p:nvPr/>
        </p:nvSpPr>
        <p:spPr>
          <a:xfrm>
            <a:off x="3566160" y="2331720"/>
            <a:ext cx="5029200" cy="1051560"/>
          </a:xfrm>
          <a:prstGeom prst="roundRect">
            <a:avLst>
              <a:gd name="adj" fmla="val 7826"/>
            </a:avLst>
          </a:prstGeom>
          <a:solidFill>
            <a:srgbClr val="0B1F3A"/>
          </a:solidFill>
          <a:ln/>
        </p:spPr>
      </p:sp>
      <p:sp>
        <p:nvSpPr>
          <p:cNvPr id="6" name="Text 4"/>
          <p:cNvSpPr txBox="1"/>
          <p:nvPr/>
        </p:nvSpPr>
        <p:spPr>
          <a:xfrm>
            <a:off x="3566160" y="2331720"/>
            <a:ext cx="5029200" cy="1051560"/>
          </a:xfrm>
          <a:prstGeom prst="rect">
            <a:avLst/>
          </a:prstGeom>
          <a:noFill/>
          <a:ln/>
        </p:spPr>
        <p:txBody>
          <a:bodyPr wrap="square" lIns="0" tIns="0" rIns="0" bIns="0" rtlCol="0" anchor="ctr"/>
          <a:lstStyle/>
          <a:p>
            <a:pPr algn="ctr" indent="0" marL="0">
              <a:buNone/>
            </a:pPr>
            <a:r>
              <a:rPr lang="en-US" sz="2600" b="1" dirty="0">
                <a:solidFill>
                  <a:srgbClr val="D98E04"/>
                </a:solidFill>
                <a:latin typeface="Cambria" pitchFamily="34" charset="0"/>
                <a:ea typeface="Cambria" pitchFamily="34" charset="-122"/>
                <a:cs typeface="Cambria" pitchFamily="34" charset="-120"/>
              </a:rPr>
              <a:t>tE = (tO + tM + tP) / 3</a:t>
            </a:r>
            <a:endParaRPr lang="en-US" sz="2600" dirty="0"/>
          </a:p>
        </p:txBody>
      </p:sp>
      <p:sp>
        <p:nvSpPr>
          <p:cNvPr id="7" name="Shape 5"/>
          <p:cNvSpPr/>
          <p:nvPr/>
        </p:nvSpPr>
        <p:spPr>
          <a:xfrm>
            <a:off x="548640" y="3703320"/>
            <a:ext cx="3520440" cy="1188720"/>
          </a:xfrm>
          <a:prstGeom prst="roundRect">
            <a:avLst>
              <a:gd name="adj" fmla="val 5385"/>
            </a:avLst>
          </a:prstGeom>
          <a:solidFill>
            <a:srgbClr val="F2F6F9"/>
          </a:solidFill>
          <a:ln/>
        </p:spPr>
      </p:sp>
      <p:sp>
        <p:nvSpPr>
          <p:cNvPr id="8" name="Shape 6"/>
          <p:cNvSpPr/>
          <p:nvPr/>
        </p:nvSpPr>
        <p:spPr>
          <a:xfrm>
            <a:off x="548640" y="3703320"/>
            <a:ext cx="3520440" cy="64008"/>
          </a:xfrm>
          <a:prstGeom prst="rect">
            <a:avLst/>
          </a:prstGeom>
          <a:solidFill>
            <a:srgbClr val="065A82"/>
          </a:solidFill>
          <a:ln/>
        </p:spPr>
      </p:sp>
      <p:sp>
        <p:nvSpPr>
          <p:cNvPr id="9" name="Text 7"/>
          <p:cNvSpPr txBox="1"/>
          <p:nvPr/>
        </p:nvSpPr>
        <p:spPr>
          <a:xfrm>
            <a:off x="713232" y="3867912"/>
            <a:ext cx="3191256" cy="411480"/>
          </a:xfrm>
          <a:prstGeom prst="rect">
            <a:avLst/>
          </a:prstGeom>
          <a:noFill/>
          <a:ln/>
        </p:spPr>
        <p:txBody>
          <a:bodyPr wrap="square" lIns="0" tIns="0" rIns="0" bIns="0" rtlCol="0" anchor="ctr"/>
          <a:lstStyle/>
          <a:p>
            <a:pPr indent="0" marL="0">
              <a:buNone/>
            </a:pPr>
            <a:r>
              <a:rPr lang="en-US" sz="1300" b="1" dirty="0">
                <a:solidFill>
                  <a:srgbClr val="16232E"/>
                </a:solidFill>
                <a:latin typeface="Calibri" pitchFamily="34" charset="0"/>
                <a:ea typeface="Calibri" pitchFamily="34" charset="-122"/>
                <a:cs typeface="Calibri" pitchFamily="34" charset="-120"/>
              </a:rPr>
              <a:t>tO — Optimistik</a:t>
            </a:r>
            <a:endParaRPr lang="en-US" sz="1300" dirty="0"/>
          </a:p>
        </p:txBody>
      </p:sp>
      <p:sp>
        <p:nvSpPr>
          <p:cNvPr id="10" name="Text 8"/>
          <p:cNvSpPr txBox="1"/>
          <p:nvPr/>
        </p:nvSpPr>
        <p:spPr>
          <a:xfrm>
            <a:off x="713232" y="4297680"/>
            <a:ext cx="3191256" cy="548640"/>
          </a:xfrm>
          <a:prstGeom prst="rect">
            <a:avLst/>
          </a:prstGeom>
          <a:noFill/>
          <a:ln/>
        </p:spPr>
        <p:txBody>
          <a:bodyPr wrap="square" lIns="0" tIns="0" rIns="0" bIns="0" rtlCol="0" anchor="t"/>
          <a:lstStyle/>
          <a:p>
            <a:pPr indent="0" marL="0">
              <a:buNone/>
            </a:pPr>
            <a:r>
              <a:rPr lang="en-US" sz="1100" dirty="0">
                <a:solidFill>
                  <a:srgbClr val="5B6B77"/>
                </a:solidFill>
                <a:latin typeface="Calibri" pitchFamily="34" charset="0"/>
                <a:ea typeface="Calibri" pitchFamily="34" charset="-122"/>
                <a:cs typeface="Calibri" pitchFamily="34" charset="-120"/>
              </a:rPr>
              <a:t>Eng yaxshi holat davomiyligi</a:t>
            </a:r>
            <a:endParaRPr lang="en-US" sz="1100" dirty="0"/>
          </a:p>
        </p:txBody>
      </p:sp>
      <p:sp>
        <p:nvSpPr>
          <p:cNvPr id="11" name="Shape 9"/>
          <p:cNvSpPr/>
          <p:nvPr/>
        </p:nvSpPr>
        <p:spPr>
          <a:xfrm>
            <a:off x="4325112" y="3703320"/>
            <a:ext cx="3520440" cy="1188720"/>
          </a:xfrm>
          <a:prstGeom prst="roundRect">
            <a:avLst>
              <a:gd name="adj" fmla="val 5385"/>
            </a:avLst>
          </a:prstGeom>
          <a:solidFill>
            <a:srgbClr val="F2F6F9"/>
          </a:solidFill>
          <a:ln/>
        </p:spPr>
      </p:sp>
      <p:sp>
        <p:nvSpPr>
          <p:cNvPr id="12" name="Shape 10"/>
          <p:cNvSpPr/>
          <p:nvPr/>
        </p:nvSpPr>
        <p:spPr>
          <a:xfrm>
            <a:off x="4325112" y="3703320"/>
            <a:ext cx="3520440" cy="64008"/>
          </a:xfrm>
          <a:prstGeom prst="rect">
            <a:avLst/>
          </a:prstGeom>
          <a:solidFill>
            <a:srgbClr val="1C7293"/>
          </a:solidFill>
          <a:ln/>
        </p:spPr>
      </p:sp>
      <p:sp>
        <p:nvSpPr>
          <p:cNvPr id="13" name="Text 11"/>
          <p:cNvSpPr txBox="1"/>
          <p:nvPr/>
        </p:nvSpPr>
        <p:spPr>
          <a:xfrm>
            <a:off x="4489704" y="3867912"/>
            <a:ext cx="3191256" cy="411480"/>
          </a:xfrm>
          <a:prstGeom prst="rect">
            <a:avLst/>
          </a:prstGeom>
          <a:noFill/>
          <a:ln/>
        </p:spPr>
        <p:txBody>
          <a:bodyPr wrap="square" lIns="0" tIns="0" rIns="0" bIns="0" rtlCol="0" anchor="ctr"/>
          <a:lstStyle/>
          <a:p>
            <a:pPr indent="0" marL="0">
              <a:buNone/>
            </a:pPr>
            <a:r>
              <a:rPr lang="en-US" sz="1300" b="1" dirty="0">
                <a:solidFill>
                  <a:srgbClr val="16232E"/>
                </a:solidFill>
                <a:latin typeface="Calibri" pitchFamily="34" charset="0"/>
                <a:ea typeface="Calibri" pitchFamily="34" charset="-122"/>
                <a:cs typeface="Calibri" pitchFamily="34" charset="-120"/>
              </a:rPr>
              <a:t>tM — Eng ehtimoliy</a:t>
            </a:r>
            <a:endParaRPr lang="en-US" sz="1300" dirty="0"/>
          </a:p>
        </p:txBody>
      </p:sp>
      <p:sp>
        <p:nvSpPr>
          <p:cNvPr id="14" name="Text 12"/>
          <p:cNvSpPr txBox="1"/>
          <p:nvPr/>
        </p:nvSpPr>
        <p:spPr>
          <a:xfrm>
            <a:off x="4489704" y="4297680"/>
            <a:ext cx="3191256" cy="548640"/>
          </a:xfrm>
          <a:prstGeom prst="rect">
            <a:avLst/>
          </a:prstGeom>
          <a:noFill/>
          <a:ln/>
        </p:spPr>
        <p:txBody>
          <a:bodyPr wrap="square" lIns="0" tIns="0" rIns="0" bIns="0" rtlCol="0" anchor="t"/>
          <a:lstStyle/>
          <a:p>
            <a:pPr indent="0" marL="0">
              <a:buNone/>
            </a:pPr>
            <a:r>
              <a:rPr lang="en-US" sz="1100" dirty="0">
                <a:solidFill>
                  <a:srgbClr val="5B6B77"/>
                </a:solidFill>
                <a:latin typeface="Calibri" pitchFamily="34" charset="0"/>
                <a:ea typeface="Calibri" pitchFamily="34" charset="-122"/>
                <a:cs typeface="Calibri" pitchFamily="34" charset="-120"/>
              </a:rPr>
              <a:t>Kutilgan resurslarga asoslangan real davomiylik</a:t>
            </a:r>
            <a:endParaRPr lang="en-US" sz="1100" dirty="0"/>
          </a:p>
        </p:txBody>
      </p:sp>
      <p:sp>
        <p:nvSpPr>
          <p:cNvPr id="15" name="Shape 13"/>
          <p:cNvSpPr/>
          <p:nvPr/>
        </p:nvSpPr>
        <p:spPr>
          <a:xfrm>
            <a:off x="8101584" y="3703320"/>
            <a:ext cx="3520440" cy="1188720"/>
          </a:xfrm>
          <a:prstGeom prst="roundRect">
            <a:avLst>
              <a:gd name="adj" fmla="val 5385"/>
            </a:avLst>
          </a:prstGeom>
          <a:solidFill>
            <a:srgbClr val="F2F6F9"/>
          </a:solidFill>
          <a:ln/>
        </p:spPr>
      </p:sp>
      <p:sp>
        <p:nvSpPr>
          <p:cNvPr id="16" name="Shape 14"/>
          <p:cNvSpPr/>
          <p:nvPr/>
        </p:nvSpPr>
        <p:spPr>
          <a:xfrm>
            <a:off x="8101584" y="3703320"/>
            <a:ext cx="3520440" cy="64008"/>
          </a:xfrm>
          <a:prstGeom prst="rect">
            <a:avLst/>
          </a:prstGeom>
          <a:solidFill>
            <a:srgbClr val="D98E04"/>
          </a:solidFill>
          <a:ln/>
        </p:spPr>
      </p:sp>
      <p:sp>
        <p:nvSpPr>
          <p:cNvPr id="17" name="Text 15"/>
          <p:cNvSpPr txBox="1"/>
          <p:nvPr/>
        </p:nvSpPr>
        <p:spPr>
          <a:xfrm>
            <a:off x="8266176" y="3867912"/>
            <a:ext cx="3191256" cy="411480"/>
          </a:xfrm>
          <a:prstGeom prst="rect">
            <a:avLst/>
          </a:prstGeom>
          <a:noFill/>
          <a:ln/>
        </p:spPr>
        <p:txBody>
          <a:bodyPr wrap="square" lIns="0" tIns="0" rIns="0" bIns="0" rtlCol="0" anchor="ctr"/>
          <a:lstStyle/>
          <a:p>
            <a:pPr indent="0" marL="0">
              <a:buNone/>
            </a:pPr>
            <a:r>
              <a:rPr lang="en-US" sz="1300" b="1" dirty="0">
                <a:solidFill>
                  <a:srgbClr val="16232E"/>
                </a:solidFill>
                <a:latin typeface="Calibri" pitchFamily="34" charset="0"/>
                <a:ea typeface="Calibri" pitchFamily="34" charset="-122"/>
                <a:cs typeface="Calibri" pitchFamily="34" charset="-120"/>
              </a:rPr>
              <a:t>tP — Pessimistik</a:t>
            </a:r>
            <a:endParaRPr lang="en-US" sz="1300" dirty="0"/>
          </a:p>
        </p:txBody>
      </p:sp>
      <p:sp>
        <p:nvSpPr>
          <p:cNvPr id="18" name="Text 16"/>
          <p:cNvSpPr txBox="1"/>
          <p:nvPr/>
        </p:nvSpPr>
        <p:spPr>
          <a:xfrm>
            <a:off x="8266176" y="4297680"/>
            <a:ext cx="3191256" cy="548640"/>
          </a:xfrm>
          <a:prstGeom prst="rect">
            <a:avLst/>
          </a:prstGeom>
          <a:noFill/>
          <a:ln/>
        </p:spPr>
        <p:txBody>
          <a:bodyPr wrap="square" lIns="0" tIns="0" rIns="0" bIns="0" rtlCol="0" anchor="t"/>
          <a:lstStyle/>
          <a:p>
            <a:pPr indent="0" marL="0">
              <a:buNone/>
            </a:pPr>
            <a:r>
              <a:rPr lang="en-US" sz="1100" dirty="0">
                <a:solidFill>
                  <a:srgbClr val="5B6B77"/>
                </a:solidFill>
                <a:latin typeface="Calibri" pitchFamily="34" charset="0"/>
                <a:ea typeface="Calibri" pitchFamily="34" charset="-122"/>
                <a:cs typeface="Calibri" pitchFamily="34" charset="-120"/>
              </a:rPr>
              <a:t>Eng yomon holat davomiyligi</a:t>
            </a:r>
            <a:endParaRPr lang="en-US" sz="1100" dirty="0"/>
          </a:p>
        </p:txBody>
      </p:sp>
      <p:sp>
        <p:nvSpPr>
          <p:cNvPr id="19" name="Shape 17"/>
          <p:cNvSpPr/>
          <p:nvPr/>
        </p:nvSpPr>
        <p:spPr>
          <a:xfrm>
            <a:off x="548640" y="5120640"/>
            <a:ext cx="11064240" cy="868680"/>
          </a:xfrm>
          <a:prstGeom prst="roundRect">
            <a:avLst>
              <a:gd name="adj" fmla="val 7368"/>
            </a:avLst>
          </a:prstGeom>
          <a:solidFill>
            <a:srgbClr val="EAF3EC"/>
          </a:solidFill>
          <a:ln/>
        </p:spPr>
      </p:sp>
      <p:sp>
        <p:nvSpPr>
          <p:cNvPr id="20" name="Text 18"/>
          <p:cNvSpPr txBox="1"/>
          <p:nvPr/>
        </p:nvSpPr>
        <p:spPr>
          <a:xfrm>
            <a:off x="822960" y="5120640"/>
            <a:ext cx="10515600" cy="868680"/>
          </a:xfrm>
          <a:prstGeom prst="rect">
            <a:avLst/>
          </a:prstGeom>
          <a:noFill/>
          <a:ln/>
        </p:spPr>
        <p:txBody>
          <a:bodyPr wrap="square" lIns="0" tIns="0" rIns="0" bIns="0" rtlCol="0" anchor="ctr"/>
          <a:lstStyle/>
          <a:p>
            <a:pPr indent="0" marL="0">
              <a:buNone/>
            </a:pPr>
            <a:r>
              <a:rPr lang="en-US" sz="1250" i="1" dirty="0">
                <a:solidFill>
                  <a:srgbClr val="1E5C33"/>
                </a:solidFill>
                <a:latin typeface="Calibri" pitchFamily="34" charset="0"/>
                <a:ea typeface="Calibri" pitchFamily="34" charset="-122"/>
                <a:cs typeface="Calibri" pitchFamily="34" charset="-120"/>
              </a:rPr>
              <a:t>Misol: mehmonxona oshxona jihozlarini o‘rnatish — optimistik 6 kun, eng ehtimoliy 9 kun, pessimistik 18 kun. tE = (6 + 9 + 18) / 3 = 11 kun.</a:t>
            </a:r>
            <a:endParaRPr lang="en-US" sz="1250" dirty="0"/>
          </a:p>
        </p:txBody>
      </p:sp>
      <p:sp>
        <p:nvSpPr>
          <p:cNvPr id="21" name="Text 19"/>
          <p:cNvSpPr txBox="1"/>
          <p:nvPr/>
        </p:nvSpPr>
        <p:spPr>
          <a:xfrm>
            <a:off x="11274552" y="6355080"/>
            <a:ext cx="548640" cy="320040"/>
          </a:xfrm>
          <a:prstGeom prst="rect">
            <a:avLst/>
          </a:prstGeom>
          <a:noFill/>
          <a:ln/>
        </p:spPr>
        <p:txBody>
          <a:bodyPr wrap="square" lIns="0" tIns="0" rIns="0" bIns="0" rtlCol="0" anchor="ctr"/>
          <a:lstStyle/>
          <a:p>
            <a:pPr algn="r" indent="0" marL="0">
              <a:buNone/>
            </a:pPr>
            <a:r>
              <a:rPr lang="en-US" sz="1000" dirty="0">
                <a:solidFill>
                  <a:srgbClr val="5B6B77"/>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9601200" cy="365760"/>
          </a:xfrm>
          <a:prstGeom prst="rect">
            <a:avLst/>
          </a:prstGeom>
          <a:noFill/>
          <a:ln/>
        </p:spPr>
        <p:txBody>
          <a:bodyPr wrap="square" lIns="0" tIns="0" rIns="0" bIns="0" rtlCol="0" anchor="ctr"/>
          <a:lstStyle/>
          <a:p>
            <a:pPr indent="0" marL="0">
              <a:buNone/>
            </a:pPr>
            <a:r>
              <a:rPr lang="en-US" sz="1200" b="1" spc="200" kern="0" dirty="0">
                <a:solidFill>
                  <a:srgbClr val="D98E04"/>
                </a:solidFill>
                <a:latin typeface="Calibri" pitchFamily="34" charset="0"/>
                <a:ea typeface="Calibri" pitchFamily="34" charset="-122"/>
                <a:cs typeface="Calibri" pitchFamily="34" charset="-120"/>
              </a:rPr>
              <a:t>5.6 · MODELNI QURISH</a:t>
            </a:r>
            <a:endParaRPr lang="en-US" sz="1200" dirty="0"/>
          </a:p>
        </p:txBody>
      </p:sp>
      <p:sp>
        <p:nvSpPr>
          <p:cNvPr id="3" name="Text 1"/>
          <p:cNvSpPr txBox="1"/>
          <p:nvPr/>
        </p:nvSpPr>
        <p:spPr>
          <a:xfrm>
            <a:off x="548640" y="777240"/>
            <a:ext cx="10789920" cy="777240"/>
          </a:xfrm>
          <a:prstGeom prst="rect">
            <a:avLst/>
          </a:prstGeom>
          <a:noFill/>
          <a:ln/>
        </p:spPr>
        <p:txBody>
          <a:bodyPr wrap="square" lIns="0" tIns="0" rIns="0" bIns="0" rtlCol="0" anchor="ctr"/>
          <a:lstStyle/>
          <a:p>
            <a:pPr indent="0" marL="0">
              <a:buNone/>
            </a:pPr>
            <a:r>
              <a:rPr lang="en-US" sz="2800" b="1" dirty="0">
                <a:solidFill>
                  <a:srgbClr val="16232E"/>
                </a:solidFill>
                <a:latin typeface="Cambria" pitchFamily="34" charset="0"/>
                <a:ea typeface="Cambria" pitchFamily="34" charset="-122"/>
                <a:cs typeface="Cambria" pitchFamily="34" charset="-120"/>
              </a:rPr>
              <a:t>Jadvalni ishlab chiqish</a:t>
            </a:r>
            <a:endParaRPr lang="en-US" sz="2800" dirty="0"/>
          </a:p>
        </p:txBody>
      </p:sp>
      <p:sp>
        <p:nvSpPr>
          <p:cNvPr id="4" name="Shape 2"/>
          <p:cNvSpPr/>
          <p:nvPr/>
        </p:nvSpPr>
        <p:spPr>
          <a:xfrm>
            <a:off x="548640" y="1600200"/>
            <a:ext cx="10789920" cy="914400"/>
          </a:xfrm>
          <a:prstGeom prst="roundRect">
            <a:avLst>
              <a:gd name="adj" fmla="val 7000"/>
            </a:avLst>
          </a:prstGeom>
          <a:solidFill>
            <a:srgbClr val="0B1F3A"/>
          </a:solidFill>
          <a:ln/>
        </p:spPr>
      </p:sp>
      <p:sp>
        <p:nvSpPr>
          <p:cNvPr id="5" name="Shape 3"/>
          <p:cNvSpPr/>
          <p:nvPr/>
        </p:nvSpPr>
        <p:spPr>
          <a:xfrm>
            <a:off x="548640" y="1600200"/>
            <a:ext cx="82296" cy="914400"/>
          </a:xfrm>
          <a:prstGeom prst="rect">
            <a:avLst/>
          </a:prstGeom>
          <a:solidFill>
            <a:srgbClr val="D98E04"/>
          </a:solidFill>
          <a:ln/>
        </p:spPr>
      </p:sp>
      <p:sp>
        <p:nvSpPr>
          <p:cNvPr id="6" name="Text 4"/>
          <p:cNvSpPr txBox="1"/>
          <p:nvPr/>
        </p:nvSpPr>
        <p:spPr>
          <a:xfrm>
            <a:off x="868680" y="1673352"/>
            <a:ext cx="10149840" cy="594360"/>
          </a:xfrm>
          <a:prstGeom prst="rect">
            <a:avLst/>
          </a:prstGeom>
          <a:noFill/>
          <a:ln/>
        </p:spPr>
        <p:txBody>
          <a:bodyPr wrap="square" lIns="0" tIns="0" rIns="0" bIns="0" rtlCol="0" anchor="ctr"/>
          <a:lstStyle/>
          <a:p>
            <a:pPr indent="0" marL="0">
              <a:buNone/>
            </a:pPr>
            <a:r>
              <a:rPr lang="en-US" sz="1400" i="1" dirty="0">
                <a:solidFill>
                  <a:srgbClr val="FFFFFF"/>
                </a:solidFill>
                <a:latin typeface="Cambria" pitchFamily="34" charset="0"/>
                <a:ea typeface="Cambria" pitchFamily="34" charset="-122"/>
                <a:cs typeface="Cambria" pitchFamily="34" charset="-120"/>
              </a:rPr>
              <a:t>“Loyiha jadvali modelini yaratish uchun faoliyat ketma-ketligi, davomiyligi, resurs talablari va jadval cheklovlarini tahlil qilish jarayoni.”</a:t>
            </a:r>
            <a:endParaRPr lang="en-US" sz="1400" dirty="0"/>
          </a:p>
        </p:txBody>
      </p:sp>
      <p:sp>
        <p:nvSpPr>
          <p:cNvPr id="7" name="Text 5"/>
          <p:cNvSpPr txBox="1"/>
          <p:nvPr/>
        </p:nvSpPr>
        <p:spPr>
          <a:xfrm>
            <a:off x="868680" y="2286000"/>
            <a:ext cx="7315200" cy="201168"/>
          </a:xfrm>
          <a:prstGeom prst="rect">
            <a:avLst/>
          </a:prstGeom>
          <a:noFill/>
          <a:ln/>
        </p:spPr>
        <p:txBody>
          <a:bodyPr wrap="square" lIns="0" tIns="0" rIns="0" bIns="0" rtlCol="0" anchor="ctr"/>
          <a:lstStyle/>
          <a:p>
            <a:pPr indent="0" marL="0">
              <a:buNone/>
            </a:pPr>
            <a:r>
              <a:rPr lang="en-US" sz="1000" dirty="0">
                <a:solidFill>
                  <a:srgbClr val="9FB6C8"/>
                </a:solidFill>
                <a:latin typeface="Calibri" pitchFamily="34" charset="0"/>
                <a:ea typeface="Calibri" pitchFamily="34" charset="-122"/>
                <a:cs typeface="Calibri" pitchFamily="34" charset="-120"/>
              </a:rPr>
              <a:t>— PMBOK® qo‘llanmasi, 6.5-bo‘lim</a:t>
            </a:r>
            <a:endParaRPr lang="en-US" sz="1000" dirty="0"/>
          </a:p>
        </p:txBody>
      </p:sp>
      <p:sp>
        <p:nvSpPr>
          <p:cNvPr id="8" name="Text 6"/>
          <p:cNvSpPr txBox="1"/>
          <p:nvPr/>
        </p:nvSpPr>
        <p:spPr>
          <a:xfrm>
            <a:off x="548640" y="2743200"/>
            <a:ext cx="10789920" cy="1097280"/>
          </a:xfrm>
          <a:prstGeom prst="rect">
            <a:avLst/>
          </a:prstGeom>
          <a:noFill/>
          <a:ln/>
        </p:spPr>
        <p:txBody>
          <a:bodyPr wrap="square" lIns="0" tIns="0" rIns="0" bIns="0" rtlCol="0" anchor="ctr"/>
          <a:lstStyle/>
          <a:p>
            <a:pPr indent="0" marL="0">
              <a:lnSpc>
                <a:spcPct val="130000"/>
              </a:lnSpc>
              <a:buNone/>
            </a:pPr>
            <a:r>
              <a:rPr lang="en-US" sz="1450" dirty="0">
                <a:solidFill>
                  <a:srgbClr val="16232E"/>
                </a:solidFill>
                <a:latin typeface="Calibri" pitchFamily="34" charset="0"/>
                <a:ea typeface="Calibri" pitchFamily="34" charset="-122"/>
                <a:cs typeface="Calibri" pitchFamily="34" charset="-120"/>
              </a:rPr>
              <a:t>Bu bosqichda ketma-ketlashtirish va davomiylik baholari birlashib haqiqiy, sanalangan jadvalga aylanadi — va kritik yo‘l metodi qaysi faoliyatlar siljish uchun zaxiraga ega emasligini aniqlaydi.</a:t>
            </a:r>
            <a:endParaRPr lang="en-US" sz="1450" dirty="0"/>
          </a:p>
        </p:txBody>
      </p:sp>
      <p:sp>
        <p:nvSpPr>
          <p:cNvPr id="9" name="Text 7"/>
          <p:cNvSpPr txBox="1"/>
          <p:nvPr/>
        </p:nvSpPr>
        <p:spPr>
          <a:xfrm>
            <a:off x="11274552" y="6355080"/>
            <a:ext cx="548640" cy="320040"/>
          </a:xfrm>
          <a:prstGeom prst="rect">
            <a:avLst/>
          </a:prstGeom>
          <a:noFill/>
          <a:ln/>
        </p:spPr>
        <p:txBody>
          <a:bodyPr wrap="square" lIns="0" tIns="0" rIns="0" bIns="0" rtlCol="0" anchor="ctr"/>
          <a:lstStyle/>
          <a:p>
            <a:pPr algn="r" indent="0" marL="0">
              <a:buNone/>
            </a:pPr>
            <a:r>
              <a:rPr lang="en-US" sz="1000" dirty="0">
                <a:solidFill>
                  <a:srgbClr val="5B6B77"/>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9601200" cy="365760"/>
          </a:xfrm>
          <a:prstGeom prst="rect">
            <a:avLst/>
          </a:prstGeom>
          <a:noFill/>
          <a:ln/>
        </p:spPr>
        <p:txBody>
          <a:bodyPr wrap="square" lIns="0" tIns="0" rIns="0" bIns="0" rtlCol="0" anchor="ctr"/>
          <a:lstStyle/>
          <a:p>
            <a:pPr indent="0" marL="0">
              <a:buNone/>
            </a:pPr>
            <a:r>
              <a:rPr lang="en-US" sz="1200" b="1" spc="200" kern="0" dirty="0">
                <a:solidFill>
                  <a:srgbClr val="D98E04"/>
                </a:solidFill>
                <a:latin typeface="Calibri" pitchFamily="34" charset="0"/>
                <a:ea typeface="Calibri" pitchFamily="34" charset="-122"/>
                <a:cs typeface="Calibri" pitchFamily="34" charset="-120"/>
              </a:rPr>
              <a:t>5.6 · MODELNI QURISH (DAVOMI)</a:t>
            </a:r>
            <a:endParaRPr lang="en-US" sz="1200" dirty="0"/>
          </a:p>
        </p:txBody>
      </p:sp>
      <p:sp>
        <p:nvSpPr>
          <p:cNvPr id="3" name="Text 1"/>
          <p:cNvSpPr txBox="1"/>
          <p:nvPr/>
        </p:nvSpPr>
        <p:spPr>
          <a:xfrm>
            <a:off x="548640" y="777240"/>
            <a:ext cx="10789920" cy="777240"/>
          </a:xfrm>
          <a:prstGeom prst="rect">
            <a:avLst/>
          </a:prstGeom>
          <a:noFill/>
          <a:ln/>
        </p:spPr>
        <p:txBody>
          <a:bodyPr wrap="square" lIns="0" tIns="0" rIns="0" bIns="0" rtlCol="0" anchor="ctr"/>
          <a:lstStyle/>
          <a:p>
            <a:pPr indent="0" marL="0">
              <a:buNone/>
            </a:pPr>
            <a:r>
              <a:rPr lang="en-US" sz="2800" b="1" dirty="0">
                <a:solidFill>
                  <a:srgbClr val="16232E"/>
                </a:solidFill>
                <a:latin typeface="Cambria" pitchFamily="34" charset="0"/>
                <a:ea typeface="Cambria" pitchFamily="34" charset="-122"/>
                <a:cs typeface="Cambria" pitchFamily="34" charset="-120"/>
              </a:rPr>
              <a:t>Kritik yo‘l metodi (CPM)</a:t>
            </a:r>
            <a:endParaRPr lang="en-US" sz="2800" dirty="0"/>
          </a:p>
        </p:txBody>
      </p:sp>
      <p:sp>
        <p:nvSpPr>
          <p:cNvPr id="4" name="Text 2"/>
          <p:cNvSpPr txBox="1"/>
          <p:nvPr/>
        </p:nvSpPr>
        <p:spPr>
          <a:xfrm>
            <a:off x="548640" y="1600200"/>
            <a:ext cx="10789920" cy="1280160"/>
          </a:xfrm>
          <a:prstGeom prst="rect">
            <a:avLst/>
          </a:prstGeom>
          <a:noFill/>
          <a:ln/>
        </p:spPr>
        <p:txBody>
          <a:bodyPr wrap="square" lIns="0" tIns="0" rIns="0" bIns="0" rtlCol="0" anchor="ctr"/>
          <a:lstStyle/>
          <a:p>
            <a:pPr indent="0" marL="0">
              <a:lnSpc>
                <a:spcPct val="135000"/>
              </a:lnSpc>
              <a:buNone/>
            </a:pPr>
            <a:r>
              <a:rPr lang="en-US" sz="1500" dirty="0">
                <a:solidFill>
                  <a:srgbClr val="16232E"/>
                </a:solidFill>
                <a:latin typeface="Calibri" pitchFamily="34" charset="0"/>
                <a:ea typeface="Calibri" pitchFamily="34" charset="-122"/>
                <a:cs typeface="Calibri" pitchFamily="34" charset="-120"/>
              </a:rPr>
              <a:t>Kritik yo‘l — tarmoq bo‘ylab bog‘liq faoliyatlarning eng uzun ketma-ketligi — u loyihaning eng qisqa mumkin bo‘lgan davomiyligini belgilaydi. Undagi faoliyatlar nol umumiy zaxiraga (float) ega: birortasi kechiksa, butun loyiha siljiydi.</a:t>
            </a:r>
            <a:endParaRPr lang="en-US" sz="1500" dirty="0"/>
          </a:p>
        </p:txBody>
      </p:sp>
      <p:sp>
        <p:nvSpPr>
          <p:cNvPr id="5" name="Text 3"/>
          <p:cNvSpPr txBox="1"/>
          <p:nvPr/>
        </p:nvSpPr>
        <p:spPr>
          <a:xfrm>
            <a:off x="11274552" y="6355080"/>
            <a:ext cx="548640" cy="320040"/>
          </a:xfrm>
          <a:prstGeom prst="rect">
            <a:avLst/>
          </a:prstGeom>
          <a:noFill/>
          <a:ln/>
        </p:spPr>
        <p:txBody>
          <a:bodyPr wrap="square" lIns="0" tIns="0" rIns="0" bIns="0" rtlCol="0" anchor="ctr"/>
          <a:lstStyle/>
          <a:p>
            <a:pPr algn="r" indent="0" marL="0">
              <a:buNone/>
            </a:pPr>
            <a:r>
              <a:rPr lang="en-US" sz="1000" dirty="0">
                <a:solidFill>
                  <a:srgbClr val="5B6B77"/>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9601200" cy="365760"/>
          </a:xfrm>
          <a:prstGeom prst="rect">
            <a:avLst/>
          </a:prstGeom>
          <a:noFill/>
          <a:ln/>
        </p:spPr>
        <p:txBody>
          <a:bodyPr wrap="square" lIns="0" tIns="0" rIns="0" bIns="0" rtlCol="0" anchor="ctr"/>
          <a:lstStyle/>
          <a:p>
            <a:pPr indent="0" marL="0">
              <a:buNone/>
            </a:pPr>
            <a:r>
              <a:rPr lang="en-US" sz="1200" b="1" spc="200" kern="0" dirty="0">
                <a:solidFill>
                  <a:srgbClr val="D98E04"/>
                </a:solidFill>
                <a:latin typeface="Calibri" pitchFamily="34" charset="0"/>
                <a:ea typeface="Calibri" pitchFamily="34" charset="-122"/>
                <a:cs typeface="Calibri" pitchFamily="34" charset="-120"/>
              </a:rPr>
              <a:t>NAMUNAVIY MISOL</a:t>
            </a:r>
            <a:endParaRPr lang="en-US" sz="1200" dirty="0"/>
          </a:p>
        </p:txBody>
      </p:sp>
      <p:sp>
        <p:nvSpPr>
          <p:cNvPr id="3" name="Text 1"/>
          <p:cNvSpPr txBox="1"/>
          <p:nvPr/>
        </p:nvSpPr>
        <p:spPr>
          <a:xfrm>
            <a:off x="548640" y="777240"/>
            <a:ext cx="10789920" cy="548640"/>
          </a:xfrm>
          <a:prstGeom prst="rect">
            <a:avLst/>
          </a:prstGeom>
          <a:noFill/>
          <a:ln/>
        </p:spPr>
        <p:txBody>
          <a:bodyPr wrap="square" lIns="0" tIns="0" rIns="0" bIns="0" rtlCol="0" anchor="ctr"/>
          <a:lstStyle/>
          <a:p>
            <a:pPr indent="0" marL="0">
              <a:buNone/>
            </a:pPr>
            <a:r>
              <a:rPr lang="en-US" sz="2600" b="1" dirty="0">
                <a:solidFill>
                  <a:srgbClr val="16232E"/>
                </a:solidFill>
                <a:latin typeface="Cambria" pitchFamily="34" charset="0"/>
                <a:ea typeface="Cambria" pitchFamily="34" charset="-122"/>
                <a:cs typeface="Cambria" pitchFamily="34" charset="-120"/>
              </a:rPr>
              <a:t>Oddiy amaliy misol</a:t>
            </a:r>
            <a:endParaRPr lang="en-US" sz="2600" dirty="0"/>
          </a:p>
        </p:txBody>
      </p:sp>
      <p:sp>
        <p:nvSpPr>
          <p:cNvPr id="4" name="Shape 2"/>
          <p:cNvSpPr/>
          <p:nvPr/>
        </p:nvSpPr>
        <p:spPr>
          <a:xfrm>
            <a:off x="1371600" y="3520440"/>
            <a:ext cx="502920" cy="0"/>
          </a:xfrm>
          <a:prstGeom prst="line">
            <a:avLst/>
          </a:prstGeom>
          <a:noFill/>
          <a:ln w="38100">
            <a:solidFill>
              <a:srgbClr val="D98E04"/>
            </a:solidFill>
            <a:prstDash val="solid"/>
          </a:ln>
        </p:spPr>
      </p:sp>
      <p:sp>
        <p:nvSpPr>
          <p:cNvPr id="5" name="Shape 3"/>
          <p:cNvSpPr/>
          <p:nvPr/>
        </p:nvSpPr>
        <p:spPr>
          <a:xfrm>
            <a:off x="3063240" y="3520440"/>
            <a:ext cx="1051560" cy="-1188720"/>
          </a:xfrm>
          <a:prstGeom prst="line">
            <a:avLst/>
          </a:prstGeom>
          <a:noFill/>
          <a:ln w="25400">
            <a:solidFill>
              <a:srgbClr val="8CA0AD"/>
            </a:solidFill>
            <a:prstDash val="solid"/>
          </a:ln>
        </p:spPr>
      </p:sp>
      <p:sp>
        <p:nvSpPr>
          <p:cNvPr id="6" name="Shape 4"/>
          <p:cNvSpPr/>
          <p:nvPr/>
        </p:nvSpPr>
        <p:spPr>
          <a:xfrm>
            <a:off x="3063240" y="3520440"/>
            <a:ext cx="1051560" cy="1188720"/>
          </a:xfrm>
          <a:prstGeom prst="line">
            <a:avLst/>
          </a:prstGeom>
          <a:noFill/>
          <a:ln w="38100">
            <a:solidFill>
              <a:srgbClr val="D98E04"/>
            </a:solidFill>
            <a:prstDash val="solid"/>
          </a:ln>
        </p:spPr>
      </p:sp>
      <p:sp>
        <p:nvSpPr>
          <p:cNvPr id="7" name="Shape 5"/>
          <p:cNvSpPr/>
          <p:nvPr/>
        </p:nvSpPr>
        <p:spPr>
          <a:xfrm>
            <a:off x="5669280" y="2331720"/>
            <a:ext cx="914400" cy="1188720"/>
          </a:xfrm>
          <a:prstGeom prst="line">
            <a:avLst/>
          </a:prstGeom>
          <a:noFill/>
          <a:ln w="25400">
            <a:solidFill>
              <a:srgbClr val="8CA0AD"/>
            </a:solidFill>
            <a:prstDash val="solid"/>
          </a:ln>
        </p:spPr>
      </p:sp>
      <p:sp>
        <p:nvSpPr>
          <p:cNvPr id="8" name="Shape 6"/>
          <p:cNvSpPr/>
          <p:nvPr/>
        </p:nvSpPr>
        <p:spPr>
          <a:xfrm>
            <a:off x="5669280" y="4709160"/>
            <a:ext cx="914400" cy="-1188720"/>
          </a:xfrm>
          <a:prstGeom prst="line">
            <a:avLst/>
          </a:prstGeom>
          <a:noFill/>
          <a:ln w="38100">
            <a:solidFill>
              <a:srgbClr val="D98E04"/>
            </a:solidFill>
            <a:prstDash val="solid"/>
          </a:ln>
        </p:spPr>
      </p:sp>
      <p:sp>
        <p:nvSpPr>
          <p:cNvPr id="9" name="Shape 7"/>
          <p:cNvSpPr/>
          <p:nvPr/>
        </p:nvSpPr>
        <p:spPr>
          <a:xfrm>
            <a:off x="7772400" y="3520440"/>
            <a:ext cx="594360" cy="0"/>
          </a:xfrm>
          <a:prstGeom prst="line">
            <a:avLst/>
          </a:prstGeom>
          <a:noFill/>
          <a:ln w="38100">
            <a:solidFill>
              <a:srgbClr val="D98E04"/>
            </a:solidFill>
            <a:prstDash val="solid"/>
          </a:ln>
        </p:spPr>
      </p:sp>
      <p:sp>
        <p:nvSpPr>
          <p:cNvPr id="10" name="Shape 8"/>
          <p:cNvSpPr/>
          <p:nvPr/>
        </p:nvSpPr>
        <p:spPr>
          <a:xfrm>
            <a:off x="731520" y="3200400"/>
            <a:ext cx="640080" cy="640080"/>
          </a:xfrm>
          <a:prstGeom prst="ellipse">
            <a:avLst/>
          </a:prstGeom>
          <a:solidFill>
            <a:srgbClr val="0B1F3A"/>
          </a:solidFill>
          <a:ln/>
        </p:spPr>
      </p:sp>
      <p:sp>
        <p:nvSpPr>
          <p:cNvPr id="11" name="Text 9"/>
          <p:cNvSpPr txBox="1"/>
          <p:nvPr/>
        </p:nvSpPr>
        <p:spPr>
          <a:xfrm>
            <a:off x="320040" y="3200400"/>
            <a:ext cx="1463040" cy="640080"/>
          </a:xfrm>
          <a:prstGeom prst="rect">
            <a:avLst/>
          </a:prstGeom>
          <a:noFill/>
          <a:ln/>
        </p:spPr>
        <p:txBody>
          <a:bodyPr wrap="non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Boshlanish</a:t>
            </a:r>
            <a:endParaRPr lang="en-US" sz="1100" dirty="0"/>
          </a:p>
        </p:txBody>
      </p:sp>
      <p:sp>
        <p:nvSpPr>
          <p:cNvPr id="12" name="Shape 10"/>
          <p:cNvSpPr/>
          <p:nvPr/>
        </p:nvSpPr>
        <p:spPr>
          <a:xfrm>
            <a:off x="1874520" y="3223260"/>
            <a:ext cx="1188720" cy="594360"/>
          </a:xfrm>
          <a:prstGeom prst="roundRect">
            <a:avLst>
              <a:gd name="adj" fmla="val 9231"/>
            </a:avLst>
          </a:prstGeom>
          <a:solidFill>
            <a:srgbClr val="065A82"/>
          </a:solidFill>
          <a:ln/>
        </p:spPr>
      </p:sp>
      <p:sp>
        <p:nvSpPr>
          <p:cNvPr id="13" name="Text 11"/>
          <p:cNvSpPr txBox="1"/>
          <p:nvPr/>
        </p:nvSpPr>
        <p:spPr>
          <a:xfrm>
            <a:off x="1874520" y="3330245"/>
            <a:ext cx="1188720" cy="237744"/>
          </a:xfrm>
          <a:prstGeom prst="rect">
            <a:avLst/>
          </a:prstGeom>
          <a:noFill/>
          <a:ln/>
        </p:spPr>
        <p:txBody>
          <a:bodyPr wrap="square" lIns="0" tIns="0" rIns="0" bIns="0" rtlCol="0" anchor="b"/>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4" name="Text 12"/>
          <p:cNvSpPr txBox="1"/>
          <p:nvPr/>
        </p:nvSpPr>
        <p:spPr>
          <a:xfrm>
            <a:off x="1874520" y="3532327"/>
            <a:ext cx="1188720" cy="237744"/>
          </a:xfrm>
          <a:prstGeom prst="rect">
            <a:avLst/>
          </a:prstGeom>
          <a:noFill/>
          <a:ln/>
        </p:spPr>
        <p:txBody>
          <a:bodyPr wrap="square" lIns="0" tIns="0" rIns="0" bIns="0" rtlCol="0" anchor="t"/>
          <a:lstStyle/>
          <a:p>
            <a:pPr algn="ctr" indent="0" marL="0">
              <a:buNone/>
            </a:pPr>
            <a:r>
              <a:rPr lang="en-US" sz="1050" dirty="0">
                <a:solidFill>
                  <a:srgbClr val="E4ECF2"/>
                </a:solidFill>
                <a:latin typeface="Calibri" pitchFamily="34" charset="0"/>
                <a:ea typeface="Calibri" pitchFamily="34" charset="-122"/>
                <a:cs typeface="Calibri" pitchFamily="34" charset="-120"/>
              </a:rPr>
              <a:t>3 kun</a:t>
            </a:r>
            <a:endParaRPr lang="en-US" sz="1050" dirty="0"/>
          </a:p>
        </p:txBody>
      </p:sp>
      <p:sp>
        <p:nvSpPr>
          <p:cNvPr id="15" name="Shape 13"/>
          <p:cNvSpPr/>
          <p:nvPr/>
        </p:nvSpPr>
        <p:spPr>
          <a:xfrm>
            <a:off x="4114800" y="2034540"/>
            <a:ext cx="1554480" cy="594360"/>
          </a:xfrm>
          <a:prstGeom prst="roundRect">
            <a:avLst>
              <a:gd name="adj" fmla="val 9231"/>
            </a:avLst>
          </a:prstGeom>
          <a:solidFill>
            <a:srgbClr val="8CA0AD"/>
          </a:solidFill>
          <a:ln/>
        </p:spPr>
      </p:sp>
      <p:sp>
        <p:nvSpPr>
          <p:cNvPr id="16" name="Text 14"/>
          <p:cNvSpPr txBox="1"/>
          <p:nvPr/>
        </p:nvSpPr>
        <p:spPr>
          <a:xfrm>
            <a:off x="4114800" y="2141525"/>
            <a:ext cx="1554480" cy="237744"/>
          </a:xfrm>
          <a:prstGeom prst="rect">
            <a:avLst/>
          </a:prstGeom>
          <a:noFill/>
          <a:ln/>
        </p:spPr>
        <p:txBody>
          <a:bodyPr wrap="square" lIns="0" tIns="0" rIns="0" bIns="0" rtlCol="0" anchor="b"/>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7" name="Text 15"/>
          <p:cNvSpPr txBox="1"/>
          <p:nvPr/>
        </p:nvSpPr>
        <p:spPr>
          <a:xfrm>
            <a:off x="4114800" y="2343607"/>
            <a:ext cx="1554480" cy="237744"/>
          </a:xfrm>
          <a:prstGeom prst="rect">
            <a:avLst/>
          </a:prstGeom>
          <a:noFill/>
          <a:ln/>
        </p:spPr>
        <p:txBody>
          <a:bodyPr wrap="square" lIns="0" tIns="0" rIns="0" bIns="0" rtlCol="0" anchor="t"/>
          <a:lstStyle/>
          <a:p>
            <a:pPr algn="ctr" indent="0" marL="0">
              <a:buNone/>
            </a:pPr>
            <a:r>
              <a:rPr lang="en-US" sz="1050" dirty="0">
                <a:solidFill>
                  <a:srgbClr val="E4ECF2"/>
                </a:solidFill>
                <a:latin typeface="Calibri" pitchFamily="34" charset="0"/>
                <a:ea typeface="Calibri" pitchFamily="34" charset="-122"/>
                <a:cs typeface="Calibri" pitchFamily="34" charset="-120"/>
              </a:rPr>
              <a:t>5 kun</a:t>
            </a:r>
            <a:endParaRPr lang="en-US" sz="1050" dirty="0"/>
          </a:p>
        </p:txBody>
      </p:sp>
      <p:sp>
        <p:nvSpPr>
          <p:cNvPr id="18" name="Shape 16"/>
          <p:cNvSpPr/>
          <p:nvPr/>
        </p:nvSpPr>
        <p:spPr>
          <a:xfrm>
            <a:off x="4114800" y="4411980"/>
            <a:ext cx="1554480" cy="594360"/>
          </a:xfrm>
          <a:prstGeom prst="roundRect">
            <a:avLst>
              <a:gd name="adj" fmla="val 9231"/>
            </a:avLst>
          </a:prstGeom>
          <a:solidFill>
            <a:srgbClr val="D98E04"/>
          </a:solidFill>
          <a:ln/>
        </p:spPr>
      </p:sp>
      <p:sp>
        <p:nvSpPr>
          <p:cNvPr id="19" name="Text 17"/>
          <p:cNvSpPr txBox="1"/>
          <p:nvPr/>
        </p:nvSpPr>
        <p:spPr>
          <a:xfrm>
            <a:off x="4114800" y="4518965"/>
            <a:ext cx="1554480" cy="237744"/>
          </a:xfrm>
          <a:prstGeom prst="rect">
            <a:avLst/>
          </a:prstGeom>
          <a:noFill/>
          <a:ln/>
        </p:spPr>
        <p:txBody>
          <a:bodyPr wrap="square" lIns="0" tIns="0" rIns="0" bIns="0" rtlCol="0" anchor="b"/>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20" name="Text 18"/>
          <p:cNvSpPr txBox="1"/>
          <p:nvPr/>
        </p:nvSpPr>
        <p:spPr>
          <a:xfrm>
            <a:off x="4114800" y="4721047"/>
            <a:ext cx="1554480" cy="237744"/>
          </a:xfrm>
          <a:prstGeom prst="rect">
            <a:avLst/>
          </a:prstGeom>
          <a:noFill/>
          <a:ln/>
        </p:spPr>
        <p:txBody>
          <a:bodyPr wrap="square" lIns="0" tIns="0" rIns="0" bIns="0" rtlCol="0" anchor="t"/>
          <a:lstStyle/>
          <a:p>
            <a:pPr algn="ctr" indent="0" marL="0">
              <a:buNone/>
            </a:pPr>
            <a:r>
              <a:rPr lang="en-US" sz="1050" dirty="0">
                <a:solidFill>
                  <a:srgbClr val="E4ECF2"/>
                </a:solidFill>
                <a:latin typeface="Calibri" pitchFamily="34" charset="0"/>
                <a:ea typeface="Calibri" pitchFamily="34" charset="-122"/>
                <a:cs typeface="Calibri" pitchFamily="34" charset="-120"/>
              </a:rPr>
              <a:t>6 kun</a:t>
            </a:r>
            <a:endParaRPr lang="en-US" sz="1050" dirty="0"/>
          </a:p>
        </p:txBody>
      </p:sp>
      <p:sp>
        <p:nvSpPr>
          <p:cNvPr id="21" name="Shape 19"/>
          <p:cNvSpPr/>
          <p:nvPr/>
        </p:nvSpPr>
        <p:spPr>
          <a:xfrm>
            <a:off x="6583680" y="3223260"/>
            <a:ext cx="1188720" cy="594360"/>
          </a:xfrm>
          <a:prstGeom prst="roundRect">
            <a:avLst>
              <a:gd name="adj" fmla="val 9231"/>
            </a:avLst>
          </a:prstGeom>
          <a:solidFill>
            <a:srgbClr val="065A82"/>
          </a:solidFill>
          <a:ln/>
        </p:spPr>
      </p:sp>
      <p:sp>
        <p:nvSpPr>
          <p:cNvPr id="22" name="Text 20"/>
          <p:cNvSpPr txBox="1"/>
          <p:nvPr/>
        </p:nvSpPr>
        <p:spPr>
          <a:xfrm>
            <a:off x="6583680" y="3330245"/>
            <a:ext cx="1188720" cy="237744"/>
          </a:xfrm>
          <a:prstGeom prst="rect">
            <a:avLst/>
          </a:prstGeom>
          <a:noFill/>
          <a:ln/>
        </p:spPr>
        <p:txBody>
          <a:bodyPr wrap="square" lIns="0" tIns="0" rIns="0" bIns="0" rtlCol="0" anchor="b"/>
          <a:lstStyle/>
          <a:p>
            <a:pPr algn="ct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3" name="Text 21"/>
          <p:cNvSpPr txBox="1"/>
          <p:nvPr/>
        </p:nvSpPr>
        <p:spPr>
          <a:xfrm>
            <a:off x="6583680" y="3532327"/>
            <a:ext cx="1188720" cy="237744"/>
          </a:xfrm>
          <a:prstGeom prst="rect">
            <a:avLst/>
          </a:prstGeom>
          <a:noFill/>
          <a:ln/>
        </p:spPr>
        <p:txBody>
          <a:bodyPr wrap="square" lIns="0" tIns="0" rIns="0" bIns="0" rtlCol="0" anchor="t"/>
          <a:lstStyle/>
          <a:p>
            <a:pPr algn="ctr" indent="0" marL="0">
              <a:buNone/>
            </a:pPr>
            <a:r>
              <a:rPr lang="en-US" sz="1050" dirty="0">
                <a:solidFill>
                  <a:srgbClr val="E4ECF2"/>
                </a:solidFill>
                <a:latin typeface="Calibri" pitchFamily="34" charset="0"/>
                <a:ea typeface="Calibri" pitchFamily="34" charset="-122"/>
                <a:cs typeface="Calibri" pitchFamily="34" charset="-120"/>
              </a:rPr>
              <a:t>4 kun</a:t>
            </a:r>
            <a:endParaRPr lang="en-US" sz="1050" dirty="0"/>
          </a:p>
        </p:txBody>
      </p:sp>
      <p:sp>
        <p:nvSpPr>
          <p:cNvPr id="24" name="Shape 22"/>
          <p:cNvSpPr/>
          <p:nvPr/>
        </p:nvSpPr>
        <p:spPr>
          <a:xfrm>
            <a:off x="8366760" y="3200400"/>
            <a:ext cx="640080" cy="640080"/>
          </a:xfrm>
          <a:prstGeom prst="ellipse">
            <a:avLst/>
          </a:prstGeom>
          <a:solidFill>
            <a:srgbClr val="0B1F3A"/>
          </a:solidFill>
          <a:ln/>
        </p:spPr>
      </p:sp>
      <p:sp>
        <p:nvSpPr>
          <p:cNvPr id="25" name="Text 23"/>
          <p:cNvSpPr txBox="1"/>
          <p:nvPr/>
        </p:nvSpPr>
        <p:spPr>
          <a:xfrm>
            <a:off x="7955280" y="3200400"/>
            <a:ext cx="1463040" cy="640080"/>
          </a:xfrm>
          <a:prstGeom prst="rect">
            <a:avLst/>
          </a:prstGeom>
          <a:noFill/>
          <a:ln/>
        </p:spPr>
        <p:txBody>
          <a:bodyPr wrap="non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Tugash</a:t>
            </a:r>
            <a:endParaRPr lang="en-US" sz="1100" dirty="0"/>
          </a:p>
        </p:txBody>
      </p:sp>
      <p:sp>
        <p:nvSpPr>
          <p:cNvPr id="26" name="Text 24"/>
          <p:cNvSpPr txBox="1"/>
          <p:nvPr/>
        </p:nvSpPr>
        <p:spPr>
          <a:xfrm>
            <a:off x="548640" y="5486400"/>
            <a:ext cx="10789920" cy="320040"/>
          </a:xfrm>
          <a:prstGeom prst="rect">
            <a:avLst/>
          </a:prstGeom>
          <a:noFill/>
          <a:ln/>
        </p:spPr>
        <p:txBody>
          <a:bodyPr wrap="square" lIns="0" tIns="0" rIns="0" bIns="0" rtlCol="0" anchor="ctr"/>
          <a:lstStyle/>
          <a:p>
            <a:pPr indent="0" marL="0">
              <a:buNone/>
            </a:pPr>
            <a:r>
              <a:rPr lang="en-US" sz="1250" dirty="0">
                <a:solidFill>
                  <a:srgbClr val="5B6B77"/>
                </a:solidFill>
                <a:latin typeface="Calibri" pitchFamily="34" charset="0"/>
                <a:ea typeface="Calibri" pitchFamily="34" charset="-122"/>
                <a:cs typeface="Calibri" pitchFamily="34" charset="-120"/>
              </a:rPr>
              <a:t>Yo‘l Boshlanish–A–B–D–Tugash = 12 kun</a:t>
            </a:r>
            <a:endParaRPr lang="en-US" sz="1250" dirty="0"/>
          </a:p>
        </p:txBody>
      </p:sp>
      <p:sp>
        <p:nvSpPr>
          <p:cNvPr id="27" name="Text 25"/>
          <p:cNvSpPr txBox="1"/>
          <p:nvPr/>
        </p:nvSpPr>
        <p:spPr>
          <a:xfrm>
            <a:off x="548640" y="5806440"/>
            <a:ext cx="10789920" cy="320040"/>
          </a:xfrm>
          <a:prstGeom prst="rect">
            <a:avLst/>
          </a:prstGeom>
          <a:noFill/>
          <a:ln/>
        </p:spPr>
        <p:txBody>
          <a:bodyPr wrap="square" lIns="0" tIns="0" rIns="0" bIns="0" rtlCol="0" anchor="ctr"/>
          <a:lstStyle/>
          <a:p>
            <a:pPr indent="0" marL="0">
              <a:buNone/>
            </a:pPr>
            <a:r>
              <a:rPr lang="en-US" sz="1250" b="1" dirty="0">
                <a:solidFill>
                  <a:srgbClr val="B37500"/>
                </a:solidFill>
                <a:latin typeface="Calibri" pitchFamily="34" charset="0"/>
                <a:ea typeface="Calibri" pitchFamily="34" charset="-122"/>
                <a:cs typeface="Calibri" pitchFamily="34" charset="-120"/>
              </a:rPr>
              <a:t>Yo‘l Boshlanish–A–C–D–Tugash = 13 kun (kritik yo‘l)</a:t>
            </a:r>
            <a:endParaRPr lang="en-US" sz="1250" dirty="0"/>
          </a:p>
        </p:txBody>
      </p:sp>
      <p:sp>
        <p:nvSpPr>
          <p:cNvPr id="28" name="Text 26"/>
          <p:cNvSpPr txBox="1"/>
          <p:nvPr/>
        </p:nvSpPr>
        <p:spPr>
          <a:xfrm>
            <a:off x="548640" y="6172200"/>
            <a:ext cx="10789920" cy="457200"/>
          </a:xfrm>
          <a:prstGeom prst="rect">
            <a:avLst/>
          </a:prstGeom>
          <a:noFill/>
          <a:ln/>
        </p:spPr>
        <p:txBody>
          <a:bodyPr wrap="square" lIns="0" tIns="0" rIns="0" bIns="0" rtlCol="0" anchor="ctr"/>
          <a:lstStyle/>
          <a:p>
            <a:pPr indent="0" marL="0">
              <a:buNone/>
            </a:pPr>
            <a:r>
              <a:rPr lang="en-US" sz="1050" i="1" dirty="0">
                <a:solidFill>
                  <a:srgbClr val="5B6B77"/>
                </a:solidFill>
                <a:latin typeface="Calibri" pitchFamily="34" charset="0"/>
                <a:ea typeface="Calibri" pitchFamily="34" charset="-122"/>
                <a:cs typeface="Calibri" pitchFamily="34" charset="-120"/>
              </a:rPr>
              <a:t>A–C–D yo‘li bir kun uzunroq, shuning uchun u — A–B–D emas — loyihaning minimal davomiyligini belgilaydi. B 1 kunlik zaxiraga ega; A, C yoki D da esa yo‘q.</a:t>
            </a:r>
            <a:endParaRPr lang="en-US" sz="1050" dirty="0"/>
          </a:p>
        </p:txBody>
      </p:sp>
      <p:sp>
        <p:nvSpPr>
          <p:cNvPr id="29" name="Text 27"/>
          <p:cNvSpPr txBox="1"/>
          <p:nvPr/>
        </p:nvSpPr>
        <p:spPr>
          <a:xfrm>
            <a:off x="11274552" y="6355080"/>
            <a:ext cx="548640" cy="320040"/>
          </a:xfrm>
          <a:prstGeom prst="rect">
            <a:avLst/>
          </a:prstGeom>
          <a:noFill/>
          <a:ln/>
        </p:spPr>
        <p:txBody>
          <a:bodyPr wrap="square" lIns="0" tIns="0" rIns="0" bIns="0" rtlCol="0" anchor="ctr"/>
          <a:lstStyle/>
          <a:p>
            <a:pPr algn="r" indent="0" marL="0">
              <a:buNone/>
            </a:pPr>
            <a:r>
              <a:rPr lang="en-US" sz="1000" dirty="0">
                <a:solidFill>
                  <a:srgbClr val="5B6B77"/>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9601200" cy="365760"/>
          </a:xfrm>
          <a:prstGeom prst="rect">
            <a:avLst/>
          </a:prstGeom>
          <a:noFill/>
          <a:ln/>
        </p:spPr>
        <p:txBody>
          <a:bodyPr wrap="square" lIns="0" tIns="0" rIns="0" bIns="0" rtlCol="0" anchor="ctr"/>
          <a:lstStyle/>
          <a:p>
            <a:pPr indent="0" marL="0">
              <a:buNone/>
            </a:pPr>
            <a:r>
              <a:rPr lang="en-US" sz="1200" b="1" spc="200" kern="0" dirty="0">
                <a:solidFill>
                  <a:srgbClr val="D98E04"/>
                </a:solidFill>
                <a:latin typeface="Calibri" pitchFamily="34" charset="0"/>
                <a:ea typeface="Calibri" pitchFamily="34" charset="-122"/>
                <a:cs typeface="Calibri" pitchFamily="34" charset="-120"/>
              </a:rPr>
              <a:t>5.7 · JADVALNI KO‘RSATISH</a:t>
            </a:r>
            <a:endParaRPr lang="en-US" sz="1200" dirty="0"/>
          </a:p>
        </p:txBody>
      </p:sp>
      <p:sp>
        <p:nvSpPr>
          <p:cNvPr id="3" name="Text 1"/>
          <p:cNvSpPr txBox="1"/>
          <p:nvPr/>
        </p:nvSpPr>
        <p:spPr>
          <a:xfrm>
            <a:off x="548640" y="777240"/>
            <a:ext cx="10789920" cy="777240"/>
          </a:xfrm>
          <a:prstGeom prst="rect">
            <a:avLst/>
          </a:prstGeom>
          <a:noFill/>
          <a:ln/>
        </p:spPr>
        <p:txBody>
          <a:bodyPr wrap="square" lIns="0" tIns="0" rIns="0" bIns="0" rtlCol="0" anchor="ctr"/>
          <a:lstStyle/>
          <a:p>
            <a:pPr indent="0" marL="0">
              <a:buNone/>
            </a:pPr>
            <a:r>
              <a:rPr lang="en-US" sz="2800" b="1" dirty="0">
                <a:solidFill>
                  <a:srgbClr val="16232E"/>
                </a:solidFill>
                <a:latin typeface="Cambria" pitchFamily="34" charset="0"/>
                <a:ea typeface="Cambria" pitchFamily="34" charset="-122"/>
                <a:cs typeface="Cambria" pitchFamily="34" charset="-120"/>
              </a:rPr>
              <a:t>Jadvalni taqdim etish</a:t>
            </a:r>
            <a:endParaRPr lang="en-US" sz="2800" dirty="0"/>
          </a:p>
        </p:txBody>
      </p:sp>
      <p:sp>
        <p:nvSpPr>
          <p:cNvPr id="4" name="Shape 2"/>
          <p:cNvSpPr/>
          <p:nvPr/>
        </p:nvSpPr>
        <p:spPr>
          <a:xfrm>
            <a:off x="548640" y="1737360"/>
            <a:ext cx="3517392" cy="4663440"/>
          </a:xfrm>
          <a:prstGeom prst="roundRect">
            <a:avLst>
              <a:gd name="adj" fmla="val 2080"/>
            </a:avLst>
          </a:prstGeom>
          <a:solidFill>
            <a:srgbClr val="F2F6F9"/>
          </a:solidFill>
          <a:ln/>
        </p:spPr>
      </p:sp>
      <p:sp>
        <p:nvSpPr>
          <p:cNvPr id="5" name="Shape 3"/>
          <p:cNvSpPr/>
          <p:nvPr/>
        </p:nvSpPr>
        <p:spPr>
          <a:xfrm>
            <a:off x="548640" y="1737360"/>
            <a:ext cx="3517392" cy="64008"/>
          </a:xfrm>
          <a:prstGeom prst="rect">
            <a:avLst/>
          </a:prstGeom>
          <a:solidFill>
            <a:srgbClr val="065A82"/>
          </a:solidFill>
          <a:ln/>
        </p:spPr>
      </p:sp>
      <p:sp>
        <p:nvSpPr>
          <p:cNvPr id="6" name="Text 4"/>
          <p:cNvSpPr txBox="1"/>
          <p:nvPr/>
        </p:nvSpPr>
        <p:spPr>
          <a:xfrm>
            <a:off x="731520" y="1901952"/>
            <a:ext cx="3151632" cy="502920"/>
          </a:xfrm>
          <a:prstGeom prst="rect">
            <a:avLst/>
          </a:prstGeom>
          <a:noFill/>
          <a:ln/>
        </p:spPr>
        <p:txBody>
          <a:bodyPr wrap="square" lIns="0" tIns="0" rIns="0" bIns="0" rtlCol="0" anchor="t"/>
          <a:lstStyle/>
          <a:p>
            <a:pPr indent="0" marL="0">
              <a:buNone/>
            </a:pPr>
            <a:r>
              <a:rPr lang="en-US" sz="1350" b="1" dirty="0">
                <a:solidFill>
                  <a:srgbClr val="16232E"/>
                </a:solidFill>
                <a:latin typeface="Calibri" pitchFamily="34" charset="0"/>
                <a:ea typeface="Calibri" pitchFamily="34" charset="-122"/>
                <a:cs typeface="Calibri" pitchFamily="34" charset="-120"/>
              </a:rPr>
              <a:t>Ustunli diagramma (Gantt jadvali)</a:t>
            </a:r>
            <a:endParaRPr lang="en-US" sz="1350" dirty="0"/>
          </a:p>
        </p:txBody>
      </p:sp>
      <p:sp>
        <p:nvSpPr>
          <p:cNvPr id="7" name="Text 5"/>
          <p:cNvSpPr txBox="1"/>
          <p:nvPr/>
        </p:nvSpPr>
        <p:spPr>
          <a:xfrm>
            <a:off x="731520" y="2423160"/>
            <a:ext cx="3151632" cy="3840480"/>
          </a:xfrm>
          <a:prstGeom prst="rect">
            <a:avLst/>
          </a:prstGeom>
          <a:noFill/>
          <a:ln/>
        </p:spPr>
        <p:txBody>
          <a:bodyPr wrap="square" lIns="0" tIns="0" rIns="0" bIns="0" rtlCol="0" anchor="t"/>
          <a:lstStyle/>
          <a:p>
            <a:pPr indent="0" marL="0">
              <a:buNone/>
            </a:pPr>
            <a:r>
              <a:rPr lang="en-US" sz="1150" dirty="0">
                <a:solidFill>
                  <a:srgbClr val="5B6B77"/>
                </a:solidFill>
                <a:latin typeface="Calibri" pitchFamily="34" charset="0"/>
                <a:ea typeface="Calibri" pitchFamily="34" charset="-122"/>
                <a:cs typeface="Calibri" pitchFamily="34" charset="-120"/>
              </a:rPr>
              <a:t>Vertikal o‘qda faoliyatlar, gorizontalda sanalar — o‘qish oson, eng ko‘p qo‘llaniladigan format</a:t>
            </a:r>
            <a:endParaRPr lang="en-US" sz="1150" dirty="0"/>
          </a:p>
        </p:txBody>
      </p:sp>
      <p:sp>
        <p:nvSpPr>
          <p:cNvPr id="8" name="Shape 6"/>
          <p:cNvSpPr/>
          <p:nvPr/>
        </p:nvSpPr>
        <p:spPr>
          <a:xfrm>
            <a:off x="4322064" y="1737360"/>
            <a:ext cx="3517392" cy="4663440"/>
          </a:xfrm>
          <a:prstGeom prst="roundRect">
            <a:avLst>
              <a:gd name="adj" fmla="val 2080"/>
            </a:avLst>
          </a:prstGeom>
          <a:solidFill>
            <a:srgbClr val="F2F6F9"/>
          </a:solidFill>
          <a:ln/>
        </p:spPr>
      </p:sp>
      <p:sp>
        <p:nvSpPr>
          <p:cNvPr id="9" name="Shape 7"/>
          <p:cNvSpPr/>
          <p:nvPr/>
        </p:nvSpPr>
        <p:spPr>
          <a:xfrm>
            <a:off x="4322064" y="1737360"/>
            <a:ext cx="3517392" cy="64008"/>
          </a:xfrm>
          <a:prstGeom prst="rect">
            <a:avLst/>
          </a:prstGeom>
          <a:solidFill>
            <a:srgbClr val="1C7293"/>
          </a:solidFill>
          <a:ln/>
        </p:spPr>
      </p:sp>
      <p:sp>
        <p:nvSpPr>
          <p:cNvPr id="10" name="Text 8"/>
          <p:cNvSpPr txBox="1"/>
          <p:nvPr/>
        </p:nvSpPr>
        <p:spPr>
          <a:xfrm>
            <a:off x="4504944" y="1901952"/>
            <a:ext cx="3151632" cy="502920"/>
          </a:xfrm>
          <a:prstGeom prst="rect">
            <a:avLst/>
          </a:prstGeom>
          <a:noFill/>
          <a:ln/>
        </p:spPr>
        <p:txBody>
          <a:bodyPr wrap="square" lIns="0" tIns="0" rIns="0" bIns="0" rtlCol="0" anchor="t"/>
          <a:lstStyle/>
          <a:p>
            <a:pPr indent="0" marL="0">
              <a:buNone/>
            </a:pPr>
            <a:r>
              <a:rPr lang="en-US" sz="1350" b="1" dirty="0">
                <a:solidFill>
                  <a:srgbClr val="16232E"/>
                </a:solidFill>
                <a:latin typeface="Calibri" pitchFamily="34" charset="0"/>
                <a:ea typeface="Calibri" pitchFamily="34" charset="-122"/>
                <a:cs typeface="Calibri" pitchFamily="34" charset="-120"/>
              </a:rPr>
              <a:t>Muhim bosqichlar jadvali</a:t>
            </a:r>
            <a:endParaRPr lang="en-US" sz="1350" dirty="0"/>
          </a:p>
        </p:txBody>
      </p:sp>
      <p:sp>
        <p:nvSpPr>
          <p:cNvPr id="11" name="Text 9"/>
          <p:cNvSpPr txBox="1"/>
          <p:nvPr/>
        </p:nvSpPr>
        <p:spPr>
          <a:xfrm>
            <a:off x="4504944" y="2423160"/>
            <a:ext cx="3151632" cy="3840480"/>
          </a:xfrm>
          <a:prstGeom prst="rect">
            <a:avLst/>
          </a:prstGeom>
          <a:noFill/>
          <a:ln/>
        </p:spPr>
        <p:txBody>
          <a:bodyPr wrap="square" lIns="0" tIns="0" rIns="0" bIns="0" rtlCol="0" anchor="t"/>
          <a:lstStyle/>
          <a:p>
            <a:pPr indent="0" marL="0">
              <a:buNone/>
            </a:pPr>
            <a:r>
              <a:rPr lang="en-US" sz="1150" dirty="0">
                <a:solidFill>
                  <a:srgbClr val="5B6B77"/>
                </a:solidFill>
                <a:latin typeface="Calibri" pitchFamily="34" charset="0"/>
                <a:ea typeface="Calibri" pitchFamily="34" charset="-122"/>
                <a:cs typeface="Calibri" pitchFamily="34" charset="-120"/>
              </a:rPr>
              <a:t>Faqat asosiy natijalarning rejalashtirilgan boshlanishi yoki tugashini ko‘rsatadi</a:t>
            </a:r>
            <a:endParaRPr lang="en-US" sz="1150" dirty="0"/>
          </a:p>
        </p:txBody>
      </p:sp>
      <p:sp>
        <p:nvSpPr>
          <p:cNvPr id="12" name="Shape 10"/>
          <p:cNvSpPr/>
          <p:nvPr/>
        </p:nvSpPr>
        <p:spPr>
          <a:xfrm>
            <a:off x="8095488" y="1737360"/>
            <a:ext cx="3517392" cy="4663440"/>
          </a:xfrm>
          <a:prstGeom prst="roundRect">
            <a:avLst>
              <a:gd name="adj" fmla="val 2080"/>
            </a:avLst>
          </a:prstGeom>
          <a:solidFill>
            <a:srgbClr val="F2F6F9"/>
          </a:solidFill>
          <a:ln/>
        </p:spPr>
      </p:sp>
      <p:sp>
        <p:nvSpPr>
          <p:cNvPr id="13" name="Shape 11"/>
          <p:cNvSpPr/>
          <p:nvPr/>
        </p:nvSpPr>
        <p:spPr>
          <a:xfrm>
            <a:off x="8095488" y="1737360"/>
            <a:ext cx="3517392" cy="64008"/>
          </a:xfrm>
          <a:prstGeom prst="rect">
            <a:avLst/>
          </a:prstGeom>
          <a:solidFill>
            <a:srgbClr val="D98E04"/>
          </a:solidFill>
          <a:ln/>
        </p:spPr>
      </p:sp>
      <p:sp>
        <p:nvSpPr>
          <p:cNvPr id="14" name="Text 12"/>
          <p:cNvSpPr txBox="1"/>
          <p:nvPr/>
        </p:nvSpPr>
        <p:spPr>
          <a:xfrm>
            <a:off x="8278368" y="1901952"/>
            <a:ext cx="3151632" cy="502920"/>
          </a:xfrm>
          <a:prstGeom prst="rect">
            <a:avLst/>
          </a:prstGeom>
          <a:noFill/>
          <a:ln/>
        </p:spPr>
        <p:txBody>
          <a:bodyPr wrap="square" lIns="0" tIns="0" rIns="0" bIns="0" rtlCol="0" anchor="t"/>
          <a:lstStyle/>
          <a:p>
            <a:pPr indent="0" marL="0">
              <a:buNone/>
            </a:pPr>
            <a:r>
              <a:rPr lang="en-US" sz="1350" b="1" dirty="0">
                <a:solidFill>
                  <a:srgbClr val="16232E"/>
                </a:solidFill>
                <a:latin typeface="Calibri" pitchFamily="34" charset="0"/>
                <a:ea typeface="Calibri" pitchFamily="34" charset="-122"/>
                <a:cs typeface="Calibri" pitchFamily="34" charset="-120"/>
              </a:rPr>
              <a:t>Tarmoq diagrammasi</a:t>
            </a:r>
            <a:endParaRPr lang="en-US" sz="1350" dirty="0"/>
          </a:p>
        </p:txBody>
      </p:sp>
      <p:sp>
        <p:nvSpPr>
          <p:cNvPr id="15" name="Text 13"/>
          <p:cNvSpPr txBox="1"/>
          <p:nvPr/>
        </p:nvSpPr>
        <p:spPr>
          <a:xfrm>
            <a:off x="8278368" y="2423160"/>
            <a:ext cx="3151632" cy="3840480"/>
          </a:xfrm>
          <a:prstGeom prst="rect">
            <a:avLst/>
          </a:prstGeom>
          <a:noFill/>
          <a:ln/>
        </p:spPr>
        <p:txBody>
          <a:bodyPr wrap="square" lIns="0" tIns="0" rIns="0" bIns="0" rtlCol="0" anchor="t"/>
          <a:lstStyle/>
          <a:p>
            <a:pPr indent="0" marL="0">
              <a:buNone/>
            </a:pPr>
            <a:r>
              <a:rPr lang="en-US" sz="1150" dirty="0">
                <a:solidFill>
                  <a:srgbClr val="5B6B77"/>
                </a:solidFill>
                <a:latin typeface="Calibri" pitchFamily="34" charset="0"/>
                <a:ea typeface="Calibri" pitchFamily="34" charset="-122"/>
                <a:cs typeface="Calibri" pitchFamily="34" charset="-120"/>
              </a:rPr>
              <a:t>Faoliyatlar va mantiqiy munosabatlarni, vaqt shkalasi bilan yoki bo‘lmasdan ko‘rsatadi</a:t>
            </a:r>
            <a:endParaRPr lang="en-US" sz="1150" dirty="0"/>
          </a:p>
        </p:txBody>
      </p:sp>
      <p:sp>
        <p:nvSpPr>
          <p:cNvPr id="16" name="Text 14"/>
          <p:cNvSpPr txBox="1"/>
          <p:nvPr/>
        </p:nvSpPr>
        <p:spPr>
          <a:xfrm>
            <a:off x="11274552" y="6355080"/>
            <a:ext cx="548640" cy="320040"/>
          </a:xfrm>
          <a:prstGeom prst="rect">
            <a:avLst/>
          </a:prstGeom>
          <a:noFill/>
          <a:ln/>
        </p:spPr>
        <p:txBody>
          <a:bodyPr wrap="square" lIns="0" tIns="0" rIns="0" bIns="0" rtlCol="0" anchor="ctr"/>
          <a:lstStyle/>
          <a:p>
            <a:pPr algn="r" indent="0" marL="0">
              <a:buNone/>
            </a:pPr>
            <a:r>
              <a:rPr lang="en-US" sz="1000" dirty="0">
                <a:solidFill>
                  <a:srgbClr val="5B6B77"/>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9601200" cy="365760"/>
          </a:xfrm>
          <a:prstGeom prst="rect">
            <a:avLst/>
          </a:prstGeom>
          <a:noFill/>
          <a:ln/>
        </p:spPr>
        <p:txBody>
          <a:bodyPr wrap="square" lIns="0" tIns="0" rIns="0" bIns="0" rtlCol="0" anchor="ctr"/>
          <a:lstStyle/>
          <a:p>
            <a:pPr indent="0" marL="0">
              <a:buNone/>
            </a:pPr>
            <a:r>
              <a:rPr lang="en-US" sz="1200" b="1" spc="200" kern="0" dirty="0">
                <a:solidFill>
                  <a:srgbClr val="D98E04"/>
                </a:solidFill>
                <a:latin typeface="Calibri" pitchFamily="34" charset="0"/>
                <a:ea typeface="Calibri" pitchFamily="34" charset="-122"/>
                <a:cs typeface="Calibri" pitchFamily="34" charset="-120"/>
              </a:rPr>
              <a:t>5.7 · JADVALNI KO‘RSATISH (DAVOMI)</a:t>
            </a:r>
            <a:endParaRPr lang="en-US" sz="1200" dirty="0"/>
          </a:p>
        </p:txBody>
      </p:sp>
      <p:sp>
        <p:nvSpPr>
          <p:cNvPr id="3" name="Text 1"/>
          <p:cNvSpPr txBox="1"/>
          <p:nvPr/>
        </p:nvSpPr>
        <p:spPr>
          <a:xfrm>
            <a:off x="548640" y="777240"/>
            <a:ext cx="10789920" cy="777240"/>
          </a:xfrm>
          <a:prstGeom prst="rect">
            <a:avLst/>
          </a:prstGeom>
          <a:noFill/>
          <a:ln/>
        </p:spPr>
        <p:txBody>
          <a:bodyPr wrap="square" lIns="0" tIns="0" rIns="0" bIns="0" rtlCol="0" anchor="ctr"/>
          <a:lstStyle/>
          <a:p>
            <a:pPr indent="0" marL="0">
              <a:buNone/>
            </a:pPr>
            <a:r>
              <a:rPr lang="en-US" sz="3200" b="1" dirty="0">
                <a:solidFill>
                  <a:srgbClr val="16232E"/>
                </a:solidFill>
                <a:latin typeface="Cambria" pitchFamily="34" charset="0"/>
                <a:ea typeface="Cambria" pitchFamily="34" charset="-122"/>
                <a:cs typeface="Cambria" pitchFamily="34" charset="-120"/>
              </a:rPr>
              <a:t>Jadvalni siqish</a:t>
            </a:r>
            <a:endParaRPr lang="en-US" sz="3200" dirty="0"/>
          </a:p>
        </p:txBody>
      </p:sp>
      <p:sp>
        <p:nvSpPr>
          <p:cNvPr id="4" name="Shape 2"/>
          <p:cNvSpPr/>
          <p:nvPr/>
        </p:nvSpPr>
        <p:spPr>
          <a:xfrm>
            <a:off x="548640" y="1737360"/>
            <a:ext cx="5349240" cy="2194560"/>
          </a:xfrm>
          <a:prstGeom prst="roundRect">
            <a:avLst>
              <a:gd name="adj" fmla="val 3750"/>
            </a:avLst>
          </a:prstGeom>
          <a:solidFill>
            <a:srgbClr val="F2F6F9"/>
          </a:solidFill>
          <a:ln/>
        </p:spPr>
      </p:sp>
      <p:sp>
        <p:nvSpPr>
          <p:cNvPr id="5" name="Shape 3"/>
          <p:cNvSpPr/>
          <p:nvPr/>
        </p:nvSpPr>
        <p:spPr>
          <a:xfrm>
            <a:off x="548640" y="1737360"/>
            <a:ext cx="5349240" cy="73152"/>
          </a:xfrm>
          <a:prstGeom prst="rect">
            <a:avLst/>
          </a:prstGeom>
          <a:solidFill>
            <a:srgbClr val="D98E04"/>
          </a:solidFill>
          <a:ln/>
        </p:spPr>
      </p:sp>
      <p:sp>
        <p:nvSpPr>
          <p:cNvPr id="6" name="Text 4"/>
          <p:cNvSpPr txBox="1"/>
          <p:nvPr/>
        </p:nvSpPr>
        <p:spPr>
          <a:xfrm>
            <a:off x="804672" y="1965960"/>
            <a:ext cx="4837176" cy="457200"/>
          </a:xfrm>
          <a:prstGeom prst="rect">
            <a:avLst/>
          </a:prstGeom>
          <a:noFill/>
          <a:ln/>
        </p:spPr>
        <p:txBody>
          <a:bodyPr wrap="square" lIns="0" tIns="0" rIns="0" bIns="0" rtlCol="0" anchor="ctr"/>
          <a:lstStyle/>
          <a:p>
            <a:pPr indent="0" marL="0">
              <a:buNone/>
            </a:pPr>
            <a:r>
              <a:rPr lang="en-US" sz="1650" b="1" dirty="0">
                <a:solidFill>
                  <a:srgbClr val="16232E"/>
                </a:solidFill>
                <a:latin typeface="Calibri" pitchFamily="34" charset="0"/>
                <a:ea typeface="Calibri" pitchFamily="34" charset="-122"/>
                <a:cs typeface="Calibri" pitchFamily="34" charset="-120"/>
              </a:rPr>
              <a:t>Crashing (tezlashtirish)</a:t>
            </a:r>
            <a:endParaRPr lang="en-US" sz="1650" dirty="0"/>
          </a:p>
        </p:txBody>
      </p:sp>
      <p:sp>
        <p:nvSpPr>
          <p:cNvPr id="7" name="Text 5"/>
          <p:cNvSpPr txBox="1"/>
          <p:nvPr/>
        </p:nvSpPr>
        <p:spPr>
          <a:xfrm>
            <a:off x="804672" y="2468880"/>
            <a:ext cx="4837176" cy="1371600"/>
          </a:xfrm>
          <a:prstGeom prst="rect">
            <a:avLst/>
          </a:prstGeom>
          <a:noFill/>
          <a:ln/>
        </p:spPr>
        <p:txBody>
          <a:bodyPr wrap="square" lIns="0" tIns="0" rIns="0" bIns="0" rtlCol="0" anchor="t"/>
          <a:lstStyle/>
          <a:p>
            <a:pPr indent="0" marL="0">
              <a:lnSpc>
                <a:spcPct val="120000"/>
              </a:lnSpc>
              <a:buNone/>
            </a:pPr>
            <a:r>
              <a:rPr lang="en-US" sz="1250" dirty="0">
                <a:solidFill>
                  <a:srgbClr val="5B6B77"/>
                </a:solidFill>
                <a:latin typeface="Calibri" pitchFamily="34" charset="0"/>
                <a:ea typeface="Calibri" pitchFamily="34" charset="-122"/>
                <a:cs typeface="Calibri" pitchFamily="34" charset="-120"/>
              </a:rPr>
              <a:t>Kritik yo‘ldagi faoliyatlarga resurs qo‘shib, eng kam qo‘shimcha xarajat bilan davomiylikni qisqartirish — odatda xarajat va xavfni oshiradi</a:t>
            </a:r>
            <a:endParaRPr lang="en-US" sz="1250" dirty="0"/>
          </a:p>
        </p:txBody>
      </p:sp>
      <p:sp>
        <p:nvSpPr>
          <p:cNvPr id="8" name="Shape 6"/>
          <p:cNvSpPr/>
          <p:nvPr/>
        </p:nvSpPr>
        <p:spPr>
          <a:xfrm>
            <a:off x="6172200" y="1737360"/>
            <a:ext cx="5349240" cy="2194560"/>
          </a:xfrm>
          <a:prstGeom prst="roundRect">
            <a:avLst>
              <a:gd name="adj" fmla="val 3750"/>
            </a:avLst>
          </a:prstGeom>
          <a:solidFill>
            <a:srgbClr val="F2F6F9"/>
          </a:solidFill>
          <a:ln/>
        </p:spPr>
      </p:sp>
      <p:sp>
        <p:nvSpPr>
          <p:cNvPr id="9" name="Shape 7"/>
          <p:cNvSpPr/>
          <p:nvPr/>
        </p:nvSpPr>
        <p:spPr>
          <a:xfrm>
            <a:off x="6172200" y="1737360"/>
            <a:ext cx="5349240" cy="73152"/>
          </a:xfrm>
          <a:prstGeom prst="rect">
            <a:avLst/>
          </a:prstGeom>
          <a:solidFill>
            <a:srgbClr val="1C7293"/>
          </a:solidFill>
          <a:ln/>
        </p:spPr>
      </p:sp>
      <p:sp>
        <p:nvSpPr>
          <p:cNvPr id="10" name="Text 8"/>
          <p:cNvSpPr txBox="1"/>
          <p:nvPr/>
        </p:nvSpPr>
        <p:spPr>
          <a:xfrm>
            <a:off x="6428232" y="1965960"/>
            <a:ext cx="4837176" cy="457200"/>
          </a:xfrm>
          <a:prstGeom prst="rect">
            <a:avLst/>
          </a:prstGeom>
          <a:noFill/>
          <a:ln/>
        </p:spPr>
        <p:txBody>
          <a:bodyPr wrap="square" lIns="0" tIns="0" rIns="0" bIns="0" rtlCol="0" anchor="ctr"/>
          <a:lstStyle/>
          <a:p>
            <a:pPr indent="0" marL="0">
              <a:buNone/>
            </a:pPr>
            <a:r>
              <a:rPr lang="en-US" sz="1650" b="1" dirty="0">
                <a:solidFill>
                  <a:srgbClr val="16232E"/>
                </a:solidFill>
                <a:latin typeface="Calibri" pitchFamily="34" charset="0"/>
                <a:ea typeface="Calibri" pitchFamily="34" charset="-122"/>
                <a:cs typeface="Calibri" pitchFamily="34" charset="-120"/>
              </a:rPr>
              <a:t>Fast tracking (parallellashtirish)</a:t>
            </a:r>
            <a:endParaRPr lang="en-US" sz="1650" dirty="0"/>
          </a:p>
        </p:txBody>
      </p:sp>
      <p:sp>
        <p:nvSpPr>
          <p:cNvPr id="11" name="Text 9"/>
          <p:cNvSpPr txBox="1"/>
          <p:nvPr/>
        </p:nvSpPr>
        <p:spPr>
          <a:xfrm>
            <a:off x="6428232" y="2468880"/>
            <a:ext cx="4837176" cy="1371600"/>
          </a:xfrm>
          <a:prstGeom prst="rect">
            <a:avLst/>
          </a:prstGeom>
          <a:noFill/>
          <a:ln/>
        </p:spPr>
        <p:txBody>
          <a:bodyPr wrap="square" lIns="0" tIns="0" rIns="0" bIns="0" rtlCol="0" anchor="t"/>
          <a:lstStyle/>
          <a:p>
            <a:pPr indent="0" marL="0">
              <a:lnSpc>
                <a:spcPct val="120000"/>
              </a:lnSpc>
              <a:buNone/>
            </a:pPr>
            <a:r>
              <a:rPr lang="en-US" sz="1250" dirty="0">
                <a:solidFill>
                  <a:srgbClr val="5B6B77"/>
                </a:solidFill>
                <a:latin typeface="Calibri" pitchFamily="34" charset="0"/>
                <a:ea typeface="Calibri" pitchFamily="34" charset="-122"/>
                <a:cs typeface="Calibri" pitchFamily="34" charset="-120"/>
              </a:rPr>
              <a:t>Odatda ketma-ket bajariladigan faoliyatlarni parallel bajarish — odatda qayta ishlash va sifat xavfini oshiradi</a:t>
            </a:r>
            <a:endParaRPr lang="en-US" sz="1250" dirty="0"/>
          </a:p>
        </p:txBody>
      </p:sp>
      <p:sp>
        <p:nvSpPr>
          <p:cNvPr id="12" name="Shape 10"/>
          <p:cNvSpPr/>
          <p:nvPr/>
        </p:nvSpPr>
        <p:spPr>
          <a:xfrm>
            <a:off x="548640" y="4160520"/>
            <a:ext cx="11064240" cy="914400"/>
          </a:xfrm>
          <a:prstGeom prst="roundRect">
            <a:avLst>
              <a:gd name="adj" fmla="val 8000"/>
            </a:avLst>
          </a:prstGeom>
          <a:solidFill>
            <a:srgbClr val="0B1F3A"/>
          </a:solidFill>
          <a:ln/>
        </p:spPr>
      </p:sp>
      <p:sp>
        <p:nvSpPr>
          <p:cNvPr id="13" name="Text 11"/>
          <p:cNvSpPr txBox="1"/>
          <p:nvPr/>
        </p:nvSpPr>
        <p:spPr>
          <a:xfrm>
            <a:off x="822960" y="4160520"/>
            <a:ext cx="10515600" cy="914400"/>
          </a:xfrm>
          <a:prstGeom prst="rect">
            <a:avLst/>
          </a:prstGeom>
          <a:noFill/>
          <a:ln/>
        </p:spPr>
        <p:txBody>
          <a:bodyPr wrap="square" lIns="0" tIns="0" rIns="0" bIns="0" rtlCol="0" anchor="ctr"/>
          <a:lstStyle/>
          <a:p>
            <a:pPr indent="0" marL="0">
              <a:buNone/>
            </a:pPr>
            <a:r>
              <a:rPr lang="en-US" sz="1250" i="1" dirty="0">
                <a:solidFill>
                  <a:srgbClr val="CADCE8"/>
                </a:solidFill>
                <a:latin typeface="Calibri" pitchFamily="34" charset="0"/>
                <a:ea typeface="Calibri" pitchFamily="34" charset="-122"/>
                <a:cs typeface="Calibri" pitchFamily="34" charset="-120"/>
              </a:rPr>
              <a:t>Ikkala usul ham faqat kritik yo‘lda ishlaydi — kritik bo‘lmagan faoliyatni siqish loyihani umuman qisqartirmaydi.</a:t>
            </a:r>
            <a:endParaRPr lang="en-US" sz="1250" dirty="0"/>
          </a:p>
        </p:txBody>
      </p:sp>
      <p:sp>
        <p:nvSpPr>
          <p:cNvPr id="14" name="Text 12"/>
          <p:cNvSpPr txBox="1"/>
          <p:nvPr/>
        </p:nvSpPr>
        <p:spPr>
          <a:xfrm>
            <a:off x="11274552" y="6355080"/>
            <a:ext cx="548640" cy="320040"/>
          </a:xfrm>
          <a:prstGeom prst="rect">
            <a:avLst/>
          </a:prstGeom>
          <a:noFill/>
          <a:ln/>
        </p:spPr>
        <p:txBody>
          <a:bodyPr wrap="square" lIns="0" tIns="0" rIns="0" bIns="0" rtlCol="0" anchor="ctr"/>
          <a:lstStyle/>
          <a:p>
            <a:pPr algn="r" indent="0" marL="0">
              <a:buNone/>
            </a:pPr>
            <a:r>
              <a:rPr lang="en-US" sz="1000" dirty="0">
                <a:solidFill>
                  <a:srgbClr val="5B6B77"/>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9966960" y="-1554480"/>
            <a:ext cx="4572000" cy="4572000"/>
          </a:xfrm>
          <a:prstGeom prst="ellipse">
            <a:avLst/>
          </a:prstGeom>
          <a:solidFill>
            <a:srgbClr val="7A2E2E">
              <a:alpha val="45000"/>
            </a:srgbClr>
          </a:solidFill>
          <a:ln/>
        </p:spPr>
      </p:sp>
      <p:sp>
        <p:nvSpPr>
          <p:cNvPr id="3" name="Text 1"/>
          <p:cNvSpPr txBox="1"/>
          <p:nvPr/>
        </p:nvSpPr>
        <p:spPr>
          <a:xfrm>
            <a:off x="548640" y="457200"/>
            <a:ext cx="9601200" cy="365760"/>
          </a:xfrm>
          <a:prstGeom prst="rect">
            <a:avLst/>
          </a:prstGeom>
          <a:noFill/>
          <a:ln/>
        </p:spPr>
        <p:txBody>
          <a:bodyPr wrap="square" lIns="0" tIns="0" rIns="0" bIns="0" rtlCol="0" anchor="ctr"/>
          <a:lstStyle/>
          <a:p>
            <a:pPr indent="0" marL="0">
              <a:buNone/>
            </a:pPr>
            <a:r>
              <a:rPr lang="en-US" sz="1200" b="1" spc="200" kern="0" dirty="0">
                <a:solidFill>
                  <a:srgbClr val="D98E04"/>
                </a:solidFill>
                <a:latin typeface="Calibri" pitchFamily="34" charset="0"/>
                <a:ea typeface="Calibri" pitchFamily="34" charset="-122"/>
                <a:cs typeface="Calibri" pitchFamily="34" charset="-120"/>
              </a:rPr>
              <a:t>HAYOTIY MISOL · JADVAL MUVAFFAQIYATSIZLIGI</a:t>
            </a:r>
            <a:endParaRPr lang="en-US" sz="1200" dirty="0"/>
          </a:p>
        </p:txBody>
      </p:sp>
      <p:sp>
        <p:nvSpPr>
          <p:cNvPr id="4" name="Text 2"/>
          <p:cNvSpPr txBox="1"/>
          <p:nvPr/>
        </p:nvSpPr>
        <p:spPr>
          <a:xfrm>
            <a:off x="548640" y="777240"/>
            <a:ext cx="10515600" cy="7772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Ogohlantiruvchi misol: Berlin Brandenburg aeroporti</a:t>
            </a:r>
            <a:endParaRPr lang="en-US" sz="2800" dirty="0"/>
          </a:p>
        </p:txBody>
      </p:sp>
      <p:sp>
        <p:nvSpPr>
          <p:cNvPr id="5" name="Text 3"/>
          <p:cNvSpPr txBox="1"/>
          <p:nvPr/>
        </p:nvSpPr>
        <p:spPr>
          <a:xfrm>
            <a:off x="548640" y="1600200"/>
            <a:ext cx="9601200" cy="1188720"/>
          </a:xfrm>
          <a:prstGeom prst="rect">
            <a:avLst/>
          </a:prstGeom>
          <a:noFill/>
          <a:ln/>
        </p:spPr>
        <p:txBody>
          <a:bodyPr wrap="square" lIns="0" tIns="0" rIns="0" bIns="0" rtlCol="0" anchor="ctr"/>
          <a:lstStyle/>
          <a:p>
            <a:pPr indent="0" marL="0">
              <a:lnSpc>
                <a:spcPct val="125000"/>
              </a:lnSpc>
              <a:buNone/>
            </a:pPr>
            <a:r>
              <a:rPr lang="en-US" sz="1350" dirty="0">
                <a:solidFill>
                  <a:srgbClr val="CADCE8"/>
                </a:solidFill>
                <a:latin typeface="Calibri" pitchFamily="34" charset="0"/>
                <a:ea typeface="Calibri" pitchFamily="34" charset="-122"/>
                <a:cs typeface="Calibri" pitchFamily="34" charset="-120"/>
              </a:rPr>
              <a:t>2011 yilda ochilishi rejalashtirilgan aeroport jadvali deyarli o‘n yil davomida qayta-qayta siljidi — buning sababi hal qilinmagan texnik bog‘liqliklar (masalan, yong‘in xavfsizligi tizimlari) bo‘lib, ular kritik yo‘l xavfi sifatida emas, balki ketma-ketlikning ikkinchi darajali masalasi sifatida qaralgan edi.</a:t>
            </a:r>
            <a:endParaRPr lang="en-US" sz="1350" dirty="0"/>
          </a:p>
        </p:txBody>
      </p:sp>
      <p:sp>
        <p:nvSpPr>
          <p:cNvPr id="6" name="Shape 4"/>
          <p:cNvSpPr/>
          <p:nvPr/>
        </p:nvSpPr>
        <p:spPr>
          <a:xfrm>
            <a:off x="548640" y="3063240"/>
            <a:ext cx="3520440" cy="1783080"/>
          </a:xfrm>
          <a:prstGeom prst="roundRect">
            <a:avLst>
              <a:gd name="adj" fmla="val 4103"/>
            </a:avLst>
          </a:prstGeom>
          <a:solidFill>
            <a:srgbClr val="2A1414"/>
          </a:solidFill>
          <a:ln/>
        </p:spPr>
      </p:sp>
      <p:sp>
        <p:nvSpPr>
          <p:cNvPr id="7" name="Text 5"/>
          <p:cNvSpPr txBox="1"/>
          <p:nvPr/>
        </p:nvSpPr>
        <p:spPr>
          <a:xfrm>
            <a:off x="685800" y="3264408"/>
            <a:ext cx="3246120" cy="777240"/>
          </a:xfrm>
          <a:prstGeom prst="rect">
            <a:avLst/>
          </a:prstGeom>
          <a:noFill/>
          <a:ln/>
        </p:spPr>
        <p:txBody>
          <a:bodyPr wrap="square" lIns="0" tIns="0" rIns="0" bIns="0" rtlCol="0" anchor="ctr"/>
          <a:lstStyle/>
          <a:p>
            <a:pPr indent="0" marL="0">
              <a:buNone/>
            </a:pPr>
            <a:r>
              <a:rPr lang="en-US" sz="1900" b="1" dirty="0">
                <a:solidFill>
                  <a:srgbClr val="E8A33D"/>
                </a:solidFill>
                <a:latin typeface="Cambria" pitchFamily="34" charset="0"/>
                <a:ea typeface="Cambria" pitchFamily="34" charset="-122"/>
                <a:cs typeface="Cambria" pitchFamily="34" charset="-120"/>
              </a:rPr>
              <a:t>2011 – 2020</a:t>
            </a:r>
            <a:endParaRPr lang="en-US" sz="1900" dirty="0"/>
          </a:p>
        </p:txBody>
      </p:sp>
      <p:sp>
        <p:nvSpPr>
          <p:cNvPr id="8" name="Text 6"/>
          <p:cNvSpPr txBox="1"/>
          <p:nvPr/>
        </p:nvSpPr>
        <p:spPr>
          <a:xfrm>
            <a:off x="713232" y="4069080"/>
            <a:ext cx="3191256" cy="731520"/>
          </a:xfrm>
          <a:prstGeom prst="rect">
            <a:avLst/>
          </a:prstGeom>
          <a:noFill/>
          <a:ln/>
        </p:spPr>
        <p:txBody>
          <a:bodyPr wrap="square" lIns="0" tIns="0" rIns="0" bIns="0" rtlCol="0" anchor="t"/>
          <a:lstStyle/>
          <a:p>
            <a:pPr indent="0" marL="0">
              <a:buNone/>
            </a:pPr>
            <a:r>
              <a:rPr lang="en-US" sz="1100" dirty="0">
                <a:solidFill>
                  <a:srgbClr val="CADCE8"/>
                </a:solidFill>
                <a:latin typeface="Calibri" pitchFamily="34" charset="0"/>
                <a:ea typeface="Calibri" pitchFamily="34" charset="-122"/>
                <a:cs typeface="Calibri" pitchFamily="34" charset="-120"/>
              </a:rPr>
              <a:t>rejalashtirilgan va haqiqiy ochilish — 9 yillik jadval siljishi</a:t>
            </a:r>
            <a:endParaRPr lang="en-US" sz="1100" dirty="0"/>
          </a:p>
        </p:txBody>
      </p:sp>
      <p:sp>
        <p:nvSpPr>
          <p:cNvPr id="9" name="Shape 7"/>
          <p:cNvSpPr/>
          <p:nvPr/>
        </p:nvSpPr>
        <p:spPr>
          <a:xfrm>
            <a:off x="4325112" y="3063240"/>
            <a:ext cx="3520440" cy="1783080"/>
          </a:xfrm>
          <a:prstGeom prst="roundRect">
            <a:avLst>
              <a:gd name="adj" fmla="val 4103"/>
            </a:avLst>
          </a:prstGeom>
          <a:solidFill>
            <a:srgbClr val="2A1414"/>
          </a:solidFill>
          <a:ln/>
        </p:spPr>
      </p:sp>
      <p:sp>
        <p:nvSpPr>
          <p:cNvPr id="10" name="Text 8"/>
          <p:cNvSpPr txBox="1"/>
          <p:nvPr/>
        </p:nvSpPr>
        <p:spPr>
          <a:xfrm>
            <a:off x="4462272" y="3264408"/>
            <a:ext cx="3246120" cy="777240"/>
          </a:xfrm>
          <a:prstGeom prst="rect">
            <a:avLst/>
          </a:prstGeom>
          <a:noFill/>
          <a:ln/>
        </p:spPr>
        <p:txBody>
          <a:bodyPr wrap="square" lIns="0" tIns="0" rIns="0" bIns="0" rtlCol="0" anchor="ctr"/>
          <a:lstStyle/>
          <a:p>
            <a:pPr indent="0" marL="0">
              <a:buNone/>
            </a:pPr>
            <a:r>
              <a:rPr lang="en-US" sz="1900" b="1" dirty="0">
                <a:solidFill>
                  <a:srgbClr val="E8A33D"/>
                </a:solidFill>
                <a:latin typeface="Cambria" pitchFamily="34" charset="0"/>
                <a:ea typeface="Cambria" pitchFamily="34" charset="-122"/>
                <a:cs typeface="Cambria" pitchFamily="34" charset="-120"/>
              </a:rPr>
              <a:t>2,83 mlrd – 7,3 mlrd €</a:t>
            </a:r>
            <a:endParaRPr lang="en-US" sz="1900" dirty="0"/>
          </a:p>
        </p:txBody>
      </p:sp>
      <p:sp>
        <p:nvSpPr>
          <p:cNvPr id="11" name="Text 9"/>
          <p:cNvSpPr txBox="1"/>
          <p:nvPr/>
        </p:nvSpPr>
        <p:spPr>
          <a:xfrm>
            <a:off x="4489704" y="4069080"/>
            <a:ext cx="3191256" cy="731520"/>
          </a:xfrm>
          <a:prstGeom prst="rect">
            <a:avLst/>
          </a:prstGeom>
          <a:noFill/>
          <a:ln/>
        </p:spPr>
        <p:txBody>
          <a:bodyPr wrap="square" lIns="0" tIns="0" rIns="0" bIns="0" rtlCol="0" anchor="t"/>
          <a:lstStyle/>
          <a:p>
            <a:pPr indent="0" marL="0">
              <a:buNone/>
            </a:pPr>
            <a:r>
              <a:rPr lang="en-US" sz="1100" dirty="0">
                <a:solidFill>
                  <a:srgbClr val="CADCE8"/>
                </a:solidFill>
                <a:latin typeface="Calibri" pitchFamily="34" charset="0"/>
                <a:ea typeface="Calibri" pitchFamily="34" charset="-122"/>
                <a:cs typeface="Calibri" pitchFamily="34" charset="-120"/>
              </a:rPr>
              <a:t>boshlang‘ich byudjet va yakuniy xarajat, asosan kechikish tufayli</a:t>
            </a:r>
            <a:endParaRPr lang="en-US" sz="1100" dirty="0"/>
          </a:p>
        </p:txBody>
      </p:sp>
      <p:sp>
        <p:nvSpPr>
          <p:cNvPr id="12" name="Shape 10"/>
          <p:cNvSpPr/>
          <p:nvPr/>
        </p:nvSpPr>
        <p:spPr>
          <a:xfrm>
            <a:off x="8101584" y="3063240"/>
            <a:ext cx="3520440" cy="1783080"/>
          </a:xfrm>
          <a:prstGeom prst="roundRect">
            <a:avLst>
              <a:gd name="adj" fmla="val 4103"/>
            </a:avLst>
          </a:prstGeom>
          <a:solidFill>
            <a:srgbClr val="2A1414"/>
          </a:solidFill>
          <a:ln/>
        </p:spPr>
      </p:sp>
      <p:sp>
        <p:nvSpPr>
          <p:cNvPr id="13" name="Text 11"/>
          <p:cNvSpPr txBox="1"/>
          <p:nvPr/>
        </p:nvSpPr>
        <p:spPr>
          <a:xfrm>
            <a:off x="8238744" y="3264408"/>
            <a:ext cx="3246120" cy="777240"/>
          </a:xfrm>
          <a:prstGeom prst="rect">
            <a:avLst/>
          </a:prstGeom>
          <a:noFill/>
          <a:ln/>
        </p:spPr>
        <p:txBody>
          <a:bodyPr wrap="square" lIns="0" tIns="0" rIns="0" bIns="0" rtlCol="0" anchor="ctr"/>
          <a:lstStyle/>
          <a:p>
            <a:pPr indent="0" marL="0">
              <a:buNone/>
            </a:pPr>
            <a:r>
              <a:rPr lang="en-US" sz="1900" b="1" dirty="0">
                <a:solidFill>
                  <a:srgbClr val="E8A33D"/>
                </a:solidFill>
                <a:latin typeface="Cambria" pitchFamily="34" charset="0"/>
                <a:ea typeface="Cambria" pitchFamily="34" charset="-122"/>
                <a:cs typeface="Cambria" pitchFamily="34" charset="-120"/>
              </a:rPr>
              <a:t>4+</a:t>
            </a:r>
            <a:endParaRPr lang="en-US" sz="1900" dirty="0"/>
          </a:p>
        </p:txBody>
      </p:sp>
      <p:sp>
        <p:nvSpPr>
          <p:cNvPr id="14" name="Text 12"/>
          <p:cNvSpPr txBox="1"/>
          <p:nvPr/>
        </p:nvSpPr>
        <p:spPr>
          <a:xfrm>
            <a:off x="8266176" y="4069080"/>
            <a:ext cx="3191256" cy="731520"/>
          </a:xfrm>
          <a:prstGeom prst="rect">
            <a:avLst/>
          </a:prstGeom>
          <a:noFill/>
          <a:ln/>
        </p:spPr>
        <p:txBody>
          <a:bodyPr wrap="square" lIns="0" tIns="0" rIns="0" bIns="0" rtlCol="0" anchor="t"/>
          <a:lstStyle/>
          <a:p>
            <a:pPr indent="0" marL="0">
              <a:buNone/>
            </a:pPr>
            <a:r>
              <a:rPr lang="en-US" sz="1100" dirty="0">
                <a:solidFill>
                  <a:srgbClr val="CADCE8"/>
                </a:solidFill>
                <a:latin typeface="Calibri" pitchFamily="34" charset="0"/>
                <a:ea typeface="Calibri" pitchFamily="34" charset="-122"/>
                <a:cs typeface="Calibri" pitchFamily="34" charset="-120"/>
              </a:rPr>
              <a:t>aeroport nihoyat ochilishidan oldingi kechiktirilgan ochilish sanalari</a:t>
            </a:r>
            <a:endParaRPr lang="en-US" sz="1100" dirty="0"/>
          </a:p>
        </p:txBody>
      </p:sp>
      <p:sp>
        <p:nvSpPr>
          <p:cNvPr id="15" name="Text 13"/>
          <p:cNvSpPr txBox="1"/>
          <p:nvPr/>
        </p:nvSpPr>
        <p:spPr>
          <a:xfrm>
            <a:off x="548640" y="5166360"/>
            <a:ext cx="9601200" cy="365760"/>
          </a:xfrm>
          <a:prstGeom prst="rect">
            <a:avLst/>
          </a:prstGeom>
          <a:noFill/>
          <a:ln/>
        </p:spPr>
        <p:txBody>
          <a:bodyPr wrap="square" lIns="0" tIns="0" rIns="0" bIns="0" rtlCol="0" anchor="ctr"/>
          <a:lstStyle/>
          <a:p>
            <a:pPr indent="0" marL="0">
              <a:buNone/>
            </a:pPr>
            <a:r>
              <a:rPr lang="en-US" sz="1050" i="1" dirty="0">
                <a:solidFill>
                  <a:srgbClr val="6E859A"/>
                </a:solidFill>
                <a:latin typeface="Calibri" pitchFamily="34" charset="0"/>
                <a:ea typeface="Calibri" pitchFamily="34" charset="-122"/>
                <a:cs typeface="Calibri" pitchFamily="34" charset="-120"/>
              </a:rPr>
              <a:t>Manbalar: CNN; Reuters; Lonely Planet loyiha tahlillari</a:t>
            </a:r>
            <a:endParaRPr lang="en-US" sz="1050" dirty="0"/>
          </a:p>
        </p:txBody>
      </p:sp>
      <p:sp>
        <p:nvSpPr>
          <p:cNvPr id="16" name="Text 14"/>
          <p:cNvSpPr txBox="1"/>
          <p:nvPr/>
        </p:nvSpPr>
        <p:spPr>
          <a:xfrm>
            <a:off x="11274552" y="6355080"/>
            <a:ext cx="548640" cy="320040"/>
          </a:xfrm>
          <a:prstGeom prst="rect">
            <a:avLst/>
          </a:prstGeom>
          <a:noFill/>
          <a:ln/>
        </p:spPr>
        <p:txBody>
          <a:bodyPr wrap="square" lIns="0" tIns="0" rIns="0" bIns="0" rtlCol="0" anchor="ctr"/>
          <a:lstStyle/>
          <a:p>
            <a:pPr algn="r" indent="0" marL="0">
              <a:buNone/>
            </a:pPr>
            <a:r>
              <a:rPr lang="en-US" sz="1000" dirty="0">
                <a:solidFill>
                  <a:srgbClr val="5B6B77"/>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9601200" cy="365760"/>
          </a:xfrm>
          <a:prstGeom prst="rect">
            <a:avLst/>
          </a:prstGeom>
          <a:noFill/>
          <a:ln/>
        </p:spPr>
        <p:txBody>
          <a:bodyPr wrap="square" lIns="0" tIns="0" rIns="0" bIns="0" rtlCol="0" anchor="ctr"/>
          <a:lstStyle/>
          <a:p>
            <a:pPr indent="0" marL="0">
              <a:buNone/>
            </a:pPr>
            <a:r>
              <a:rPr lang="en-US" sz="1200" b="1" spc="200" kern="0" dirty="0">
                <a:solidFill>
                  <a:srgbClr val="D98E04"/>
                </a:solidFill>
                <a:latin typeface="Calibri" pitchFamily="34" charset="0"/>
                <a:ea typeface="Calibri" pitchFamily="34" charset="-122"/>
                <a:cs typeface="Calibri" pitchFamily="34" charset="-120"/>
              </a:rPr>
              <a:t>5.8 · BAZAVIY CHIZIQNI TO‘G‘RI SAQLASH</a:t>
            </a:r>
            <a:endParaRPr lang="en-US" sz="1200" dirty="0"/>
          </a:p>
        </p:txBody>
      </p:sp>
      <p:sp>
        <p:nvSpPr>
          <p:cNvPr id="3" name="Text 1"/>
          <p:cNvSpPr txBox="1"/>
          <p:nvPr/>
        </p:nvSpPr>
        <p:spPr>
          <a:xfrm>
            <a:off x="548640" y="777240"/>
            <a:ext cx="10789920" cy="777240"/>
          </a:xfrm>
          <a:prstGeom prst="rect">
            <a:avLst/>
          </a:prstGeom>
          <a:noFill/>
          <a:ln/>
        </p:spPr>
        <p:txBody>
          <a:bodyPr wrap="square" lIns="0" tIns="0" rIns="0" bIns="0" rtlCol="0" anchor="ctr"/>
          <a:lstStyle/>
          <a:p>
            <a:pPr indent="0" marL="0">
              <a:buNone/>
            </a:pPr>
            <a:r>
              <a:rPr lang="en-US" sz="3000" b="1" dirty="0">
                <a:solidFill>
                  <a:srgbClr val="16232E"/>
                </a:solidFill>
                <a:latin typeface="Cambria" pitchFamily="34" charset="0"/>
                <a:ea typeface="Cambria" pitchFamily="34" charset="-122"/>
                <a:cs typeface="Cambria" pitchFamily="34" charset="-120"/>
              </a:rPr>
              <a:t>Jadvalni nazorat qilish</a:t>
            </a:r>
            <a:endParaRPr lang="en-US" sz="3000" dirty="0"/>
          </a:p>
        </p:txBody>
      </p:sp>
      <p:sp>
        <p:nvSpPr>
          <p:cNvPr id="4" name="Shape 2"/>
          <p:cNvSpPr/>
          <p:nvPr/>
        </p:nvSpPr>
        <p:spPr>
          <a:xfrm>
            <a:off x="548640" y="1600200"/>
            <a:ext cx="10789920" cy="868680"/>
          </a:xfrm>
          <a:prstGeom prst="roundRect">
            <a:avLst>
              <a:gd name="adj" fmla="val 7368"/>
            </a:avLst>
          </a:prstGeom>
          <a:solidFill>
            <a:srgbClr val="F2F6F9"/>
          </a:solidFill>
          <a:ln/>
        </p:spPr>
      </p:sp>
      <p:sp>
        <p:nvSpPr>
          <p:cNvPr id="5" name="Text 3"/>
          <p:cNvSpPr txBox="1"/>
          <p:nvPr/>
        </p:nvSpPr>
        <p:spPr>
          <a:xfrm>
            <a:off x="822960" y="1673352"/>
            <a:ext cx="8778240" cy="502920"/>
          </a:xfrm>
          <a:prstGeom prst="rect">
            <a:avLst/>
          </a:prstGeom>
          <a:noFill/>
          <a:ln/>
        </p:spPr>
        <p:txBody>
          <a:bodyPr wrap="square" lIns="0" tIns="0" rIns="0" bIns="0" rtlCol="0" anchor="ctr"/>
          <a:lstStyle/>
          <a:p>
            <a:pPr indent="0" marL="0">
              <a:buNone/>
            </a:pPr>
            <a:r>
              <a:rPr lang="en-US" sz="1350" i="1" dirty="0">
                <a:solidFill>
                  <a:srgbClr val="16232E"/>
                </a:solidFill>
                <a:latin typeface="Cambria" pitchFamily="34" charset="0"/>
                <a:ea typeface="Cambria" pitchFamily="34" charset="-122"/>
                <a:cs typeface="Cambria" pitchFamily="34" charset="-120"/>
              </a:rPr>
              <a:t>“Loyiha holatini kuzatib, loyiha jadvalini yangilash va jadval bazaviy chizig‘iga o‘zgarishlarni boshqarish jarayoni.”</a:t>
            </a:r>
            <a:endParaRPr lang="en-US" sz="1350" dirty="0"/>
          </a:p>
        </p:txBody>
      </p:sp>
      <p:sp>
        <p:nvSpPr>
          <p:cNvPr id="6" name="Text 4"/>
          <p:cNvSpPr txBox="1"/>
          <p:nvPr/>
        </p:nvSpPr>
        <p:spPr>
          <a:xfrm>
            <a:off x="822960" y="2148840"/>
            <a:ext cx="8778240" cy="256032"/>
          </a:xfrm>
          <a:prstGeom prst="rect">
            <a:avLst/>
          </a:prstGeom>
          <a:noFill/>
          <a:ln/>
        </p:spPr>
        <p:txBody>
          <a:bodyPr wrap="square" lIns="0" tIns="0" rIns="0" bIns="0" rtlCol="0" anchor="ctr"/>
          <a:lstStyle/>
          <a:p>
            <a:pPr indent="0" marL="0">
              <a:buNone/>
            </a:pPr>
            <a:r>
              <a:rPr lang="en-US" sz="1050" dirty="0">
                <a:solidFill>
                  <a:srgbClr val="5B6B77"/>
                </a:solidFill>
                <a:latin typeface="Calibri" pitchFamily="34" charset="0"/>
                <a:ea typeface="Calibri" pitchFamily="34" charset="-122"/>
                <a:cs typeface="Calibri" pitchFamily="34" charset="-120"/>
              </a:rPr>
              <a:t>— PMBOK® qo‘llanmasi, 6.6-bo‘lim</a:t>
            </a:r>
            <a:endParaRPr lang="en-US" sz="1050" dirty="0"/>
          </a:p>
        </p:txBody>
      </p:sp>
      <p:sp>
        <p:nvSpPr>
          <p:cNvPr id="7" name="Text 5"/>
          <p:cNvSpPr txBox="1"/>
          <p:nvPr/>
        </p:nvSpPr>
        <p:spPr>
          <a:xfrm>
            <a:off x="548640" y="2697480"/>
            <a:ext cx="10789920" cy="365760"/>
          </a:xfrm>
          <a:prstGeom prst="rect">
            <a:avLst/>
          </a:prstGeom>
          <a:noFill/>
          <a:ln/>
        </p:spPr>
        <p:txBody>
          <a:bodyPr wrap="square" lIns="0" tIns="0" rIns="0" bIns="0" rtlCol="0" anchor="ctr"/>
          <a:lstStyle/>
          <a:p>
            <a:pPr indent="0" marL="0">
              <a:buNone/>
            </a:pPr>
            <a:r>
              <a:rPr lang="en-US" sz="1350" b="1" dirty="0">
                <a:solidFill>
                  <a:srgbClr val="1C7293"/>
                </a:solidFill>
                <a:latin typeface="Calibri" pitchFamily="34" charset="0"/>
                <a:ea typeface="Calibri" pitchFamily="34" charset="-122"/>
                <a:cs typeface="Calibri" pitchFamily="34" charset="-120"/>
              </a:rPr>
              <a:t>Asosiy usullar:</a:t>
            </a:r>
            <a:endParaRPr lang="en-US" sz="1350" dirty="0"/>
          </a:p>
        </p:txBody>
      </p:sp>
      <p:sp>
        <p:nvSpPr>
          <p:cNvPr id="8" name="Shape 6"/>
          <p:cNvSpPr/>
          <p:nvPr/>
        </p:nvSpPr>
        <p:spPr>
          <a:xfrm>
            <a:off x="548640" y="3200400"/>
            <a:ext cx="3520440" cy="1783080"/>
          </a:xfrm>
          <a:prstGeom prst="roundRect">
            <a:avLst>
              <a:gd name="adj" fmla="val 4103"/>
            </a:avLst>
          </a:prstGeom>
          <a:solidFill>
            <a:srgbClr val="F2F6F9"/>
          </a:solidFill>
          <a:ln/>
        </p:spPr>
      </p:sp>
      <p:sp>
        <p:nvSpPr>
          <p:cNvPr id="9" name="Shape 7"/>
          <p:cNvSpPr/>
          <p:nvPr/>
        </p:nvSpPr>
        <p:spPr>
          <a:xfrm>
            <a:off x="548640" y="3200400"/>
            <a:ext cx="3520440" cy="64008"/>
          </a:xfrm>
          <a:prstGeom prst="rect">
            <a:avLst/>
          </a:prstGeom>
          <a:solidFill>
            <a:srgbClr val="065A82"/>
          </a:solidFill>
          <a:ln/>
        </p:spPr>
      </p:sp>
      <p:sp>
        <p:nvSpPr>
          <p:cNvPr id="10" name="Text 8"/>
          <p:cNvSpPr txBox="1"/>
          <p:nvPr/>
        </p:nvSpPr>
        <p:spPr>
          <a:xfrm>
            <a:off x="731520" y="3383280"/>
            <a:ext cx="3154680" cy="548640"/>
          </a:xfrm>
          <a:prstGeom prst="rect">
            <a:avLst/>
          </a:prstGeom>
          <a:noFill/>
          <a:ln/>
        </p:spPr>
        <p:txBody>
          <a:bodyPr wrap="square" lIns="0" tIns="0" rIns="0" bIns="0" rtlCol="0" anchor="t"/>
          <a:lstStyle/>
          <a:p>
            <a:pPr indent="0" marL="0">
              <a:buNone/>
            </a:pPr>
            <a:r>
              <a:rPr lang="en-US" sz="1300" b="1" dirty="0">
                <a:solidFill>
                  <a:srgbClr val="16232E"/>
                </a:solidFill>
                <a:latin typeface="Calibri" pitchFamily="34" charset="0"/>
                <a:ea typeface="Calibri" pitchFamily="34" charset="-122"/>
                <a:cs typeface="Calibri" pitchFamily="34" charset="-120"/>
              </a:rPr>
              <a:t>Ishlab topilgan qiymat tahlili</a:t>
            </a:r>
            <a:endParaRPr lang="en-US" sz="1300" dirty="0"/>
          </a:p>
        </p:txBody>
      </p:sp>
      <p:sp>
        <p:nvSpPr>
          <p:cNvPr id="11" name="Text 9"/>
          <p:cNvSpPr txBox="1"/>
          <p:nvPr/>
        </p:nvSpPr>
        <p:spPr>
          <a:xfrm>
            <a:off x="731520" y="3977640"/>
            <a:ext cx="3154680" cy="914400"/>
          </a:xfrm>
          <a:prstGeom prst="rect">
            <a:avLst/>
          </a:prstGeom>
          <a:noFill/>
          <a:ln/>
        </p:spPr>
        <p:txBody>
          <a:bodyPr wrap="square" lIns="0" tIns="0" rIns="0" bIns="0" rtlCol="0" anchor="t"/>
          <a:lstStyle/>
          <a:p>
            <a:pPr indent="0" marL="0">
              <a:buNone/>
            </a:pPr>
            <a:r>
              <a:rPr lang="en-US" sz="1150" dirty="0">
                <a:solidFill>
                  <a:srgbClr val="5B6B77"/>
                </a:solidFill>
                <a:latin typeface="Calibri" pitchFamily="34" charset="0"/>
                <a:ea typeface="Calibri" pitchFamily="34" charset="-122"/>
                <a:cs typeface="Calibri" pitchFamily="34" charset="-120"/>
              </a:rPr>
              <a:t>Rejalashtirilgan va haqiqiy jarayonni ob’ektiv solishtiradi</a:t>
            </a:r>
            <a:endParaRPr lang="en-US" sz="1150" dirty="0"/>
          </a:p>
        </p:txBody>
      </p:sp>
      <p:sp>
        <p:nvSpPr>
          <p:cNvPr id="12" name="Shape 10"/>
          <p:cNvSpPr/>
          <p:nvPr/>
        </p:nvSpPr>
        <p:spPr>
          <a:xfrm>
            <a:off x="4325112" y="3200400"/>
            <a:ext cx="3520440" cy="1783080"/>
          </a:xfrm>
          <a:prstGeom prst="roundRect">
            <a:avLst>
              <a:gd name="adj" fmla="val 4103"/>
            </a:avLst>
          </a:prstGeom>
          <a:solidFill>
            <a:srgbClr val="F2F6F9"/>
          </a:solidFill>
          <a:ln/>
        </p:spPr>
      </p:sp>
      <p:sp>
        <p:nvSpPr>
          <p:cNvPr id="13" name="Shape 11"/>
          <p:cNvSpPr/>
          <p:nvPr/>
        </p:nvSpPr>
        <p:spPr>
          <a:xfrm>
            <a:off x="4325112" y="3200400"/>
            <a:ext cx="3520440" cy="64008"/>
          </a:xfrm>
          <a:prstGeom prst="rect">
            <a:avLst/>
          </a:prstGeom>
          <a:solidFill>
            <a:srgbClr val="1C7293"/>
          </a:solidFill>
          <a:ln/>
        </p:spPr>
      </p:sp>
      <p:sp>
        <p:nvSpPr>
          <p:cNvPr id="14" name="Text 12"/>
          <p:cNvSpPr txBox="1"/>
          <p:nvPr/>
        </p:nvSpPr>
        <p:spPr>
          <a:xfrm>
            <a:off x="4507992" y="3383280"/>
            <a:ext cx="3154680" cy="548640"/>
          </a:xfrm>
          <a:prstGeom prst="rect">
            <a:avLst/>
          </a:prstGeom>
          <a:noFill/>
          <a:ln/>
        </p:spPr>
        <p:txBody>
          <a:bodyPr wrap="square" lIns="0" tIns="0" rIns="0" bIns="0" rtlCol="0" anchor="t"/>
          <a:lstStyle/>
          <a:p>
            <a:pPr indent="0" marL="0">
              <a:buNone/>
            </a:pPr>
            <a:r>
              <a:rPr lang="en-US" sz="1300" b="1" dirty="0">
                <a:solidFill>
                  <a:srgbClr val="16232E"/>
                </a:solidFill>
                <a:latin typeface="Calibri" pitchFamily="34" charset="0"/>
                <a:ea typeface="Calibri" pitchFamily="34" charset="-122"/>
                <a:cs typeface="Calibri" pitchFamily="34" charset="-120"/>
              </a:rPr>
              <a:t>Og‘ish va trend tahlili</a:t>
            </a:r>
            <a:endParaRPr lang="en-US" sz="1300" dirty="0"/>
          </a:p>
        </p:txBody>
      </p:sp>
      <p:sp>
        <p:nvSpPr>
          <p:cNvPr id="15" name="Text 13"/>
          <p:cNvSpPr txBox="1"/>
          <p:nvPr/>
        </p:nvSpPr>
        <p:spPr>
          <a:xfrm>
            <a:off x="4507992" y="3977640"/>
            <a:ext cx="3154680" cy="914400"/>
          </a:xfrm>
          <a:prstGeom prst="rect">
            <a:avLst/>
          </a:prstGeom>
          <a:noFill/>
          <a:ln/>
        </p:spPr>
        <p:txBody>
          <a:bodyPr wrap="square" lIns="0" tIns="0" rIns="0" bIns="0" rtlCol="0" anchor="t"/>
          <a:lstStyle/>
          <a:p>
            <a:pPr indent="0" marL="0">
              <a:buNone/>
            </a:pPr>
            <a:r>
              <a:rPr lang="en-US" sz="1150" dirty="0">
                <a:solidFill>
                  <a:srgbClr val="5B6B77"/>
                </a:solidFill>
                <a:latin typeface="Calibri" pitchFamily="34" charset="0"/>
                <a:ea typeface="Calibri" pitchFamily="34" charset="-122"/>
                <a:cs typeface="Calibri" pitchFamily="34" charset="-120"/>
              </a:rPr>
              <a:t>Og‘ishlarni erta aniqlash va ularning yo‘nalishini bashorat qilish</a:t>
            </a:r>
            <a:endParaRPr lang="en-US" sz="1150" dirty="0"/>
          </a:p>
        </p:txBody>
      </p:sp>
      <p:sp>
        <p:nvSpPr>
          <p:cNvPr id="16" name="Shape 14"/>
          <p:cNvSpPr/>
          <p:nvPr/>
        </p:nvSpPr>
        <p:spPr>
          <a:xfrm>
            <a:off x="8101584" y="3200400"/>
            <a:ext cx="3520440" cy="1783080"/>
          </a:xfrm>
          <a:prstGeom prst="roundRect">
            <a:avLst>
              <a:gd name="adj" fmla="val 4103"/>
            </a:avLst>
          </a:prstGeom>
          <a:solidFill>
            <a:srgbClr val="F2F6F9"/>
          </a:solidFill>
          <a:ln/>
        </p:spPr>
      </p:sp>
      <p:sp>
        <p:nvSpPr>
          <p:cNvPr id="17" name="Shape 15"/>
          <p:cNvSpPr/>
          <p:nvPr/>
        </p:nvSpPr>
        <p:spPr>
          <a:xfrm>
            <a:off x="8101584" y="3200400"/>
            <a:ext cx="3520440" cy="64008"/>
          </a:xfrm>
          <a:prstGeom prst="rect">
            <a:avLst/>
          </a:prstGeom>
          <a:solidFill>
            <a:srgbClr val="D98E04"/>
          </a:solidFill>
          <a:ln/>
        </p:spPr>
      </p:sp>
      <p:sp>
        <p:nvSpPr>
          <p:cNvPr id="18" name="Text 16"/>
          <p:cNvSpPr txBox="1"/>
          <p:nvPr/>
        </p:nvSpPr>
        <p:spPr>
          <a:xfrm>
            <a:off x="8284464" y="3383280"/>
            <a:ext cx="3154680" cy="548640"/>
          </a:xfrm>
          <a:prstGeom prst="rect">
            <a:avLst/>
          </a:prstGeom>
          <a:noFill/>
          <a:ln/>
        </p:spPr>
        <p:txBody>
          <a:bodyPr wrap="square" lIns="0" tIns="0" rIns="0" bIns="0" rtlCol="0" anchor="t"/>
          <a:lstStyle/>
          <a:p>
            <a:pPr indent="0" marL="0">
              <a:buNone/>
            </a:pPr>
            <a:r>
              <a:rPr lang="en-US" sz="1300" b="1" dirty="0">
                <a:solidFill>
                  <a:srgbClr val="16232E"/>
                </a:solidFill>
                <a:latin typeface="Calibri" pitchFamily="34" charset="0"/>
                <a:ea typeface="Calibri" pitchFamily="34" charset="-122"/>
                <a:cs typeface="Calibri" pitchFamily="34" charset="-120"/>
              </a:rPr>
              <a:t>“Agar shunday bo‘lsa” stsenariy tahlili</a:t>
            </a:r>
            <a:endParaRPr lang="en-US" sz="1300" dirty="0"/>
          </a:p>
        </p:txBody>
      </p:sp>
      <p:sp>
        <p:nvSpPr>
          <p:cNvPr id="19" name="Text 17"/>
          <p:cNvSpPr txBox="1"/>
          <p:nvPr/>
        </p:nvSpPr>
        <p:spPr>
          <a:xfrm>
            <a:off x="8284464" y="3977640"/>
            <a:ext cx="3154680" cy="914400"/>
          </a:xfrm>
          <a:prstGeom prst="rect">
            <a:avLst/>
          </a:prstGeom>
          <a:noFill/>
          <a:ln/>
        </p:spPr>
        <p:txBody>
          <a:bodyPr wrap="square" lIns="0" tIns="0" rIns="0" bIns="0" rtlCol="0" anchor="t"/>
          <a:lstStyle/>
          <a:p>
            <a:pPr indent="0" marL="0">
              <a:buNone/>
            </a:pPr>
            <a:r>
              <a:rPr lang="en-US" sz="1150" dirty="0">
                <a:solidFill>
                  <a:srgbClr val="5B6B77"/>
                </a:solidFill>
                <a:latin typeface="Calibri" pitchFamily="34" charset="0"/>
                <a:ea typeface="Calibri" pitchFamily="34" charset="-122"/>
                <a:cs typeface="Calibri" pitchFamily="34" charset="-120"/>
              </a:rPr>
              <a:t>Qaror qabul qilishdan oldin mumkin bo‘lgan o‘zgarishlar ta’sirini modellashtirish</a:t>
            </a:r>
            <a:endParaRPr lang="en-US" sz="1150" dirty="0"/>
          </a:p>
        </p:txBody>
      </p:sp>
      <p:sp>
        <p:nvSpPr>
          <p:cNvPr id="20" name="Text 18"/>
          <p:cNvSpPr txBox="1"/>
          <p:nvPr/>
        </p:nvSpPr>
        <p:spPr>
          <a:xfrm>
            <a:off x="11274552" y="6355080"/>
            <a:ext cx="548640" cy="320040"/>
          </a:xfrm>
          <a:prstGeom prst="rect">
            <a:avLst/>
          </a:prstGeom>
          <a:noFill/>
          <a:ln/>
        </p:spPr>
        <p:txBody>
          <a:bodyPr wrap="square" lIns="0" tIns="0" rIns="0" bIns="0" rtlCol="0" anchor="ctr"/>
          <a:lstStyle/>
          <a:p>
            <a:pPr algn="r" indent="0" marL="0">
              <a:buNone/>
            </a:pPr>
            <a:r>
              <a:rPr lang="en-US" sz="1000" dirty="0">
                <a:solidFill>
                  <a:srgbClr val="5B6B77"/>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9601200" cy="365760"/>
          </a:xfrm>
          <a:prstGeom prst="rect">
            <a:avLst/>
          </a:prstGeom>
          <a:noFill/>
          <a:ln/>
        </p:spPr>
        <p:txBody>
          <a:bodyPr wrap="square" lIns="0" tIns="0" rIns="0" bIns="0" rtlCol="0" anchor="ctr"/>
          <a:lstStyle/>
          <a:p>
            <a:pPr indent="0" marL="0">
              <a:buNone/>
            </a:pPr>
            <a:r>
              <a:rPr lang="en-US" sz="1200" b="1" spc="200" kern="0" dirty="0">
                <a:solidFill>
                  <a:srgbClr val="D98E04"/>
                </a:solidFill>
                <a:latin typeface="Calibri" pitchFamily="34" charset="0"/>
                <a:ea typeface="Calibri" pitchFamily="34" charset="-122"/>
                <a:cs typeface="Calibri" pitchFamily="34" charset="-120"/>
              </a:rPr>
              <a:t>5.8 · BAZAVIY CHIZIQNI TO‘G‘RI SAQLASH (DAVOMI)</a:t>
            </a:r>
            <a:endParaRPr lang="en-US" sz="1200" dirty="0"/>
          </a:p>
        </p:txBody>
      </p:sp>
      <p:sp>
        <p:nvSpPr>
          <p:cNvPr id="3" name="Text 1"/>
          <p:cNvSpPr txBox="1"/>
          <p:nvPr/>
        </p:nvSpPr>
        <p:spPr>
          <a:xfrm>
            <a:off x="548640" y="777240"/>
            <a:ext cx="10789920" cy="777240"/>
          </a:xfrm>
          <a:prstGeom prst="rect">
            <a:avLst/>
          </a:prstGeom>
          <a:noFill/>
          <a:ln/>
        </p:spPr>
        <p:txBody>
          <a:bodyPr wrap="square" lIns="0" tIns="0" rIns="0" bIns="0" rtlCol="0" anchor="ctr"/>
          <a:lstStyle/>
          <a:p>
            <a:pPr indent="0" marL="0">
              <a:buNone/>
            </a:pPr>
            <a:r>
              <a:rPr lang="en-US" sz="2700" b="1" dirty="0">
                <a:solidFill>
                  <a:srgbClr val="16232E"/>
                </a:solidFill>
                <a:latin typeface="Cambria" pitchFamily="34" charset="0"/>
                <a:ea typeface="Cambria" pitchFamily="34" charset="-122"/>
                <a:cs typeface="Cambria" pitchFamily="34" charset="-120"/>
              </a:rPr>
              <a:t>Resurslarni optimallashtirish: tekislash va silliqlash</a:t>
            </a:r>
            <a:endParaRPr lang="en-US" sz="2700" dirty="0"/>
          </a:p>
        </p:txBody>
      </p:sp>
      <p:sp>
        <p:nvSpPr>
          <p:cNvPr id="4" name="Shape 2"/>
          <p:cNvSpPr/>
          <p:nvPr/>
        </p:nvSpPr>
        <p:spPr>
          <a:xfrm>
            <a:off x="548640" y="1920240"/>
            <a:ext cx="5349240" cy="2377440"/>
          </a:xfrm>
          <a:prstGeom prst="roundRect">
            <a:avLst>
              <a:gd name="adj" fmla="val 3462"/>
            </a:avLst>
          </a:prstGeom>
          <a:solidFill>
            <a:srgbClr val="F2F6F9"/>
          </a:solidFill>
          <a:ln/>
        </p:spPr>
      </p:sp>
      <p:sp>
        <p:nvSpPr>
          <p:cNvPr id="5" name="Shape 3"/>
          <p:cNvSpPr/>
          <p:nvPr/>
        </p:nvSpPr>
        <p:spPr>
          <a:xfrm>
            <a:off x="548640" y="1920240"/>
            <a:ext cx="5349240" cy="73152"/>
          </a:xfrm>
          <a:prstGeom prst="rect">
            <a:avLst/>
          </a:prstGeom>
          <a:solidFill>
            <a:srgbClr val="065A82"/>
          </a:solidFill>
          <a:ln/>
        </p:spPr>
      </p:sp>
      <p:sp>
        <p:nvSpPr>
          <p:cNvPr id="6" name="Text 4"/>
          <p:cNvSpPr txBox="1"/>
          <p:nvPr/>
        </p:nvSpPr>
        <p:spPr>
          <a:xfrm>
            <a:off x="804672" y="2148840"/>
            <a:ext cx="4837176" cy="548640"/>
          </a:xfrm>
          <a:prstGeom prst="rect">
            <a:avLst/>
          </a:prstGeom>
          <a:noFill/>
          <a:ln/>
        </p:spPr>
        <p:txBody>
          <a:bodyPr wrap="square" lIns="0" tIns="0" rIns="0" bIns="0" rtlCol="0" anchor="t"/>
          <a:lstStyle/>
          <a:p>
            <a:pPr indent="0" marL="0">
              <a:buNone/>
            </a:pPr>
            <a:r>
              <a:rPr lang="en-US" sz="1600" b="1" dirty="0">
                <a:solidFill>
                  <a:srgbClr val="16232E"/>
                </a:solidFill>
                <a:latin typeface="Calibri" pitchFamily="34" charset="0"/>
                <a:ea typeface="Calibri" pitchFamily="34" charset="-122"/>
                <a:cs typeface="Calibri" pitchFamily="34" charset="-120"/>
              </a:rPr>
              <a:t>Resurslarni tekislash (leveling)</a:t>
            </a:r>
            <a:endParaRPr lang="en-US" sz="1600" dirty="0"/>
          </a:p>
        </p:txBody>
      </p:sp>
      <p:sp>
        <p:nvSpPr>
          <p:cNvPr id="7" name="Text 5"/>
          <p:cNvSpPr txBox="1"/>
          <p:nvPr/>
        </p:nvSpPr>
        <p:spPr>
          <a:xfrm>
            <a:off x="804672" y="2788920"/>
            <a:ext cx="4837176" cy="1371600"/>
          </a:xfrm>
          <a:prstGeom prst="rect">
            <a:avLst/>
          </a:prstGeom>
          <a:noFill/>
          <a:ln/>
        </p:spPr>
        <p:txBody>
          <a:bodyPr wrap="square" lIns="0" tIns="0" rIns="0" bIns="0" rtlCol="0" anchor="t"/>
          <a:lstStyle/>
          <a:p>
            <a:pPr indent="0" marL="0">
              <a:lnSpc>
                <a:spcPct val="125000"/>
              </a:lnSpc>
              <a:buNone/>
            </a:pPr>
            <a:r>
              <a:rPr lang="en-US" sz="1250" dirty="0">
                <a:solidFill>
                  <a:srgbClr val="5B6B77"/>
                </a:solidFill>
                <a:latin typeface="Calibri" pitchFamily="34" charset="0"/>
                <a:ea typeface="Calibri" pitchFamily="34" charset="-122"/>
                <a:cs typeface="Calibri" pitchFamily="34" charset="-120"/>
              </a:rPr>
              <a:t>Ortiqcha yuklangan resurslarni tuzatish uchun boshlanish/tugash sanalarini o‘zgartiradi — kritik yo‘lni va tugash sanasini o‘zgartirishi mumkin</a:t>
            </a:r>
            <a:endParaRPr lang="en-US" sz="1250" dirty="0"/>
          </a:p>
        </p:txBody>
      </p:sp>
      <p:sp>
        <p:nvSpPr>
          <p:cNvPr id="8" name="Shape 6"/>
          <p:cNvSpPr/>
          <p:nvPr/>
        </p:nvSpPr>
        <p:spPr>
          <a:xfrm>
            <a:off x="6172200" y="1920240"/>
            <a:ext cx="5349240" cy="2377440"/>
          </a:xfrm>
          <a:prstGeom prst="roundRect">
            <a:avLst>
              <a:gd name="adj" fmla="val 3462"/>
            </a:avLst>
          </a:prstGeom>
          <a:solidFill>
            <a:srgbClr val="F2F6F9"/>
          </a:solidFill>
          <a:ln/>
        </p:spPr>
      </p:sp>
      <p:sp>
        <p:nvSpPr>
          <p:cNvPr id="9" name="Shape 7"/>
          <p:cNvSpPr/>
          <p:nvPr/>
        </p:nvSpPr>
        <p:spPr>
          <a:xfrm>
            <a:off x="6172200" y="1920240"/>
            <a:ext cx="5349240" cy="73152"/>
          </a:xfrm>
          <a:prstGeom prst="rect">
            <a:avLst/>
          </a:prstGeom>
          <a:solidFill>
            <a:srgbClr val="D98E04"/>
          </a:solidFill>
          <a:ln/>
        </p:spPr>
      </p:sp>
      <p:sp>
        <p:nvSpPr>
          <p:cNvPr id="10" name="Text 8"/>
          <p:cNvSpPr txBox="1"/>
          <p:nvPr/>
        </p:nvSpPr>
        <p:spPr>
          <a:xfrm>
            <a:off x="6428232" y="2148840"/>
            <a:ext cx="4837176" cy="548640"/>
          </a:xfrm>
          <a:prstGeom prst="rect">
            <a:avLst/>
          </a:prstGeom>
          <a:noFill/>
          <a:ln/>
        </p:spPr>
        <p:txBody>
          <a:bodyPr wrap="square" lIns="0" tIns="0" rIns="0" bIns="0" rtlCol="0" anchor="t"/>
          <a:lstStyle/>
          <a:p>
            <a:pPr indent="0" marL="0">
              <a:buNone/>
            </a:pPr>
            <a:r>
              <a:rPr lang="en-US" sz="1600" b="1" dirty="0">
                <a:solidFill>
                  <a:srgbClr val="16232E"/>
                </a:solidFill>
                <a:latin typeface="Calibri" pitchFamily="34" charset="0"/>
                <a:ea typeface="Calibri" pitchFamily="34" charset="-122"/>
                <a:cs typeface="Calibri" pitchFamily="34" charset="-120"/>
              </a:rPr>
              <a:t>Resurslarni silliqlash (smoothing)</a:t>
            </a:r>
            <a:endParaRPr lang="en-US" sz="1600" dirty="0"/>
          </a:p>
        </p:txBody>
      </p:sp>
      <p:sp>
        <p:nvSpPr>
          <p:cNvPr id="11" name="Text 9"/>
          <p:cNvSpPr txBox="1"/>
          <p:nvPr/>
        </p:nvSpPr>
        <p:spPr>
          <a:xfrm>
            <a:off x="6428232" y="2788920"/>
            <a:ext cx="4837176" cy="1371600"/>
          </a:xfrm>
          <a:prstGeom prst="rect">
            <a:avLst/>
          </a:prstGeom>
          <a:noFill/>
          <a:ln/>
        </p:spPr>
        <p:txBody>
          <a:bodyPr wrap="square" lIns="0" tIns="0" rIns="0" bIns="0" rtlCol="0" anchor="t"/>
          <a:lstStyle/>
          <a:p>
            <a:pPr indent="0" marL="0">
              <a:lnSpc>
                <a:spcPct val="125000"/>
              </a:lnSpc>
              <a:buNone/>
            </a:pPr>
            <a:r>
              <a:rPr lang="en-US" sz="1250" dirty="0">
                <a:solidFill>
                  <a:srgbClr val="5B6B77"/>
                </a:solidFill>
                <a:latin typeface="Calibri" pitchFamily="34" charset="0"/>
                <a:ea typeface="Calibri" pitchFamily="34" charset="-122"/>
                <a:cs typeface="Calibri" pitchFamily="34" charset="-120"/>
              </a:rPr>
              <a:t>Faoliyatlarni faqat ularning zaxirasi doirasida o‘zgartiradi — kritik yo‘l va tugash sanasi o‘zgarmaydi</a:t>
            </a:r>
            <a:endParaRPr lang="en-US" sz="1250" dirty="0"/>
          </a:p>
        </p:txBody>
      </p:sp>
      <p:sp>
        <p:nvSpPr>
          <p:cNvPr id="12" name="Text 10"/>
          <p:cNvSpPr txBox="1"/>
          <p:nvPr/>
        </p:nvSpPr>
        <p:spPr>
          <a:xfrm>
            <a:off x="11274552" y="6355080"/>
            <a:ext cx="548640" cy="320040"/>
          </a:xfrm>
          <a:prstGeom prst="rect">
            <a:avLst/>
          </a:prstGeom>
          <a:noFill/>
          <a:ln/>
        </p:spPr>
        <p:txBody>
          <a:bodyPr wrap="square" lIns="0" tIns="0" rIns="0" bIns="0" rtlCol="0" anchor="ctr"/>
          <a:lstStyle/>
          <a:p>
            <a:pPr algn="r" indent="0" marL="0">
              <a:buNone/>
            </a:pPr>
            <a:r>
              <a:rPr lang="en-US" sz="1000" dirty="0">
                <a:solidFill>
                  <a:srgbClr val="5B6B77"/>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9966960" y="-1554480"/>
            <a:ext cx="4572000" cy="4572000"/>
          </a:xfrm>
          <a:prstGeom prst="ellipse">
            <a:avLst/>
          </a:prstGeom>
          <a:solidFill>
            <a:srgbClr val="065A82">
              <a:alpha val="45000"/>
            </a:srgbClr>
          </a:solidFill>
          <a:ln/>
        </p:spPr>
      </p:sp>
      <p:sp>
        <p:nvSpPr>
          <p:cNvPr id="3" name="Text 1"/>
          <p:cNvSpPr txBox="1"/>
          <p:nvPr/>
        </p:nvSpPr>
        <p:spPr>
          <a:xfrm>
            <a:off x="548640" y="457200"/>
            <a:ext cx="9601200" cy="365760"/>
          </a:xfrm>
          <a:prstGeom prst="rect">
            <a:avLst/>
          </a:prstGeom>
          <a:noFill/>
          <a:ln/>
        </p:spPr>
        <p:txBody>
          <a:bodyPr wrap="square" lIns="0" tIns="0" rIns="0" bIns="0" rtlCol="0" anchor="ctr"/>
          <a:lstStyle/>
          <a:p>
            <a:pPr indent="0" marL="0">
              <a:buNone/>
            </a:pPr>
            <a:r>
              <a:rPr lang="en-US" sz="1200" b="1" spc="200" kern="0" dirty="0">
                <a:solidFill>
                  <a:srgbClr val="D98E04"/>
                </a:solidFill>
                <a:latin typeface="Calibri" pitchFamily="34" charset="0"/>
                <a:ea typeface="Calibri" pitchFamily="34" charset="-122"/>
                <a:cs typeface="Calibri" pitchFamily="34" charset="-120"/>
              </a:rPr>
              <a:t>5.9 · DALILLAR</a:t>
            </a:r>
            <a:endParaRPr lang="en-US" sz="1200" dirty="0"/>
          </a:p>
        </p:txBody>
      </p:sp>
      <p:sp>
        <p:nvSpPr>
          <p:cNvPr id="4" name="Text 2"/>
          <p:cNvSpPr txBox="1"/>
          <p:nvPr/>
        </p:nvSpPr>
        <p:spPr>
          <a:xfrm>
            <a:off x="548640" y="777240"/>
            <a:ext cx="10515600" cy="7772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Nega jadval intizomi muhim</a:t>
            </a:r>
            <a:endParaRPr lang="en-US" sz="3000" dirty="0"/>
          </a:p>
        </p:txBody>
      </p:sp>
      <p:sp>
        <p:nvSpPr>
          <p:cNvPr id="5" name="Shape 3"/>
          <p:cNvSpPr/>
          <p:nvPr/>
        </p:nvSpPr>
        <p:spPr>
          <a:xfrm>
            <a:off x="548640" y="2194560"/>
            <a:ext cx="3429000" cy="2377440"/>
          </a:xfrm>
          <a:prstGeom prst="roundRect">
            <a:avLst>
              <a:gd name="adj" fmla="val 3077"/>
            </a:avLst>
          </a:prstGeom>
          <a:solidFill>
            <a:srgbClr val="12345C"/>
          </a:solidFill>
          <a:ln/>
        </p:spPr>
      </p:sp>
      <p:sp>
        <p:nvSpPr>
          <p:cNvPr id="6" name="Text 4"/>
          <p:cNvSpPr txBox="1"/>
          <p:nvPr/>
        </p:nvSpPr>
        <p:spPr>
          <a:xfrm>
            <a:off x="731520" y="2468880"/>
            <a:ext cx="3063240" cy="868680"/>
          </a:xfrm>
          <a:prstGeom prst="rect">
            <a:avLst/>
          </a:prstGeom>
          <a:noFill/>
          <a:ln/>
        </p:spPr>
        <p:txBody>
          <a:bodyPr wrap="square" lIns="0" tIns="0" rIns="0" bIns="0" rtlCol="0" anchor="ctr"/>
          <a:lstStyle/>
          <a:p>
            <a:pPr indent="0" marL="0">
              <a:buNone/>
            </a:pPr>
            <a:r>
              <a:rPr lang="en-US" sz="2600" b="1" dirty="0">
                <a:solidFill>
                  <a:srgbClr val="D98E04"/>
                </a:solidFill>
                <a:latin typeface="Cambria" pitchFamily="34" charset="0"/>
                <a:ea typeface="Cambria" pitchFamily="34" charset="-122"/>
                <a:cs typeface="Cambria" pitchFamily="34" charset="-120"/>
              </a:rPr>
              <a:t>52%</a:t>
            </a:r>
            <a:endParaRPr lang="en-US" sz="2600" dirty="0"/>
          </a:p>
        </p:txBody>
      </p:sp>
      <p:sp>
        <p:nvSpPr>
          <p:cNvPr id="7" name="Text 5"/>
          <p:cNvSpPr txBox="1"/>
          <p:nvPr/>
        </p:nvSpPr>
        <p:spPr>
          <a:xfrm>
            <a:off x="731520" y="3429000"/>
            <a:ext cx="3063240" cy="1005840"/>
          </a:xfrm>
          <a:prstGeom prst="rect">
            <a:avLst/>
          </a:prstGeom>
          <a:noFill/>
          <a:ln/>
        </p:spPr>
        <p:txBody>
          <a:bodyPr wrap="square" lIns="0" tIns="0" rIns="0" bIns="0" rtlCol="0" anchor="t"/>
          <a:lstStyle/>
          <a:p>
            <a:pPr indent="0" marL="0">
              <a:buNone/>
            </a:pPr>
            <a:r>
              <a:rPr lang="en-US" sz="1200" dirty="0">
                <a:solidFill>
                  <a:srgbClr val="CADCE8"/>
                </a:solidFill>
                <a:latin typeface="Calibri" pitchFamily="34" charset="0"/>
                <a:ea typeface="Calibri" pitchFamily="34" charset="-122"/>
                <a:cs typeface="Calibri" pitchFamily="34" charset="-120"/>
              </a:rPr>
              <a:t>dunyo bo‘ylab loyihalar o‘z vaqtida yakunlanadi</a:t>
            </a:r>
            <a:endParaRPr lang="en-US" sz="1200" dirty="0"/>
          </a:p>
        </p:txBody>
      </p:sp>
      <p:sp>
        <p:nvSpPr>
          <p:cNvPr id="8" name="Shape 6"/>
          <p:cNvSpPr/>
          <p:nvPr/>
        </p:nvSpPr>
        <p:spPr>
          <a:xfrm>
            <a:off x="4251960" y="2194560"/>
            <a:ext cx="3429000" cy="2377440"/>
          </a:xfrm>
          <a:prstGeom prst="roundRect">
            <a:avLst>
              <a:gd name="adj" fmla="val 3077"/>
            </a:avLst>
          </a:prstGeom>
          <a:solidFill>
            <a:srgbClr val="12345C"/>
          </a:solidFill>
          <a:ln/>
        </p:spPr>
      </p:sp>
      <p:sp>
        <p:nvSpPr>
          <p:cNvPr id="9" name="Text 7"/>
          <p:cNvSpPr txBox="1"/>
          <p:nvPr/>
        </p:nvSpPr>
        <p:spPr>
          <a:xfrm>
            <a:off x="4434840" y="2468880"/>
            <a:ext cx="3063240" cy="868680"/>
          </a:xfrm>
          <a:prstGeom prst="rect">
            <a:avLst/>
          </a:prstGeom>
          <a:noFill/>
          <a:ln/>
        </p:spPr>
        <p:txBody>
          <a:bodyPr wrap="square" lIns="0" tIns="0" rIns="0" bIns="0" rtlCol="0" anchor="ctr"/>
          <a:lstStyle/>
          <a:p>
            <a:pPr indent="0" marL="0">
              <a:buNone/>
            </a:pPr>
            <a:r>
              <a:rPr lang="en-US" sz="2600" b="1" dirty="0">
                <a:solidFill>
                  <a:srgbClr val="D98E04"/>
                </a:solidFill>
                <a:latin typeface="Cambria" pitchFamily="34" charset="0"/>
                <a:ea typeface="Cambria" pitchFamily="34" charset="-122"/>
                <a:cs typeface="Cambria" pitchFamily="34" charset="-120"/>
              </a:rPr>
              <a:t>Har 6tadan 1</a:t>
            </a:r>
            <a:endParaRPr lang="en-US" sz="2600" dirty="0"/>
          </a:p>
        </p:txBody>
      </p:sp>
      <p:sp>
        <p:nvSpPr>
          <p:cNvPr id="10" name="Text 8"/>
          <p:cNvSpPr txBox="1"/>
          <p:nvPr/>
        </p:nvSpPr>
        <p:spPr>
          <a:xfrm>
            <a:off x="4434840" y="3429000"/>
            <a:ext cx="3063240" cy="1005840"/>
          </a:xfrm>
          <a:prstGeom prst="rect">
            <a:avLst/>
          </a:prstGeom>
          <a:noFill/>
          <a:ln/>
        </p:spPr>
        <p:txBody>
          <a:bodyPr wrap="square" lIns="0" tIns="0" rIns="0" bIns="0" rtlCol="0" anchor="t"/>
          <a:lstStyle/>
          <a:p>
            <a:pPr indent="0" marL="0">
              <a:buNone/>
            </a:pPr>
            <a:r>
              <a:rPr lang="en-US" sz="1200" dirty="0">
                <a:solidFill>
                  <a:srgbClr val="CADCE8"/>
                </a:solidFill>
                <a:latin typeface="Calibri" pitchFamily="34" charset="0"/>
                <a:ea typeface="Calibri" pitchFamily="34" charset="-122"/>
                <a:cs typeface="Calibri" pitchFamily="34" charset="-120"/>
              </a:rPr>
              <a:t>IT loyihasi 70%+ jadval oshib ketishi bilan “kora oqqush”ga aylanadi</a:t>
            </a:r>
            <a:endParaRPr lang="en-US" sz="1200" dirty="0"/>
          </a:p>
        </p:txBody>
      </p:sp>
      <p:sp>
        <p:nvSpPr>
          <p:cNvPr id="11" name="Shape 9"/>
          <p:cNvSpPr/>
          <p:nvPr/>
        </p:nvSpPr>
        <p:spPr>
          <a:xfrm>
            <a:off x="7955280" y="2194560"/>
            <a:ext cx="3429000" cy="2377440"/>
          </a:xfrm>
          <a:prstGeom prst="roundRect">
            <a:avLst>
              <a:gd name="adj" fmla="val 3077"/>
            </a:avLst>
          </a:prstGeom>
          <a:solidFill>
            <a:srgbClr val="12345C"/>
          </a:solidFill>
          <a:ln/>
        </p:spPr>
      </p:sp>
      <p:sp>
        <p:nvSpPr>
          <p:cNvPr id="12" name="Text 10"/>
          <p:cNvSpPr txBox="1"/>
          <p:nvPr/>
        </p:nvSpPr>
        <p:spPr>
          <a:xfrm>
            <a:off x="8138160" y="2468880"/>
            <a:ext cx="3063240" cy="868680"/>
          </a:xfrm>
          <a:prstGeom prst="rect">
            <a:avLst/>
          </a:prstGeom>
          <a:noFill/>
          <a:ln/>
        </p:spPr>
        <p:txBody>
          <a:bodyPr wrap="square" lIns="0" tIns="0" rIns="0" bIns="0" rtlCol="0" anchor="ctr"/>
          <a:lstStyle/>
          <a:p>
            <a:pPr indent="0" marL="0">
              <a:buNone/>
            </a:pPr>
            <a:r>
              <a:rPr lang="en-US" sz="2600" b="1" dirty="0">
                <a:solidFill>
                  <a:srgbClr val="D98E04"/>
                </a:solidFill>
                <a:latin typeface="Cambria" pitchFamily="34" charset="0"/>
                <a:ea typeface="Cambria" pitchFamily="34" charset="-122"/>
                <a:cs typeface="Cambria" pitchFamily="34" charset="-120"/>
              </a:rPr>
              <a:t>66%</a:t>
            </a:r>
            <a:endParaRPr lang="en-US" sz="2600" dirty="0"/>
          </a:p>
        </p:txBody>
      </p:sp>
      <p:sp>
        <p:nvSpPr>
          <p:cNvPr id="13" name="Text 11"/>
          <p:cNvSpPr txBox="1"/>
          <p:nvPr/>
        </p:nvSpPr>
        <p:spPr>
          <a:xfrm>
            <a:off x="8138160" y="3429000"/>
            <a:ext cx="3063240" cy="1005840"/>
          </a:xfrm>
          <a:prstGeom prst="rect">
            <a:avLst/>
          </a:prstGeom>
          <a:noFill/>
          <a:ln/>
        </p:spPr>
        <p:txBody>
          <a:bodyPr wrap="square" lIns="0" tIns="0" rIns="0" bIns="0" rtlCol="0" anchor="t"/>
          <a:lstStyle/>
          <a:p>
            <a:pPr indent="0" marL="0">
              <a:buNone/>
            </a:pPr>
            <a:r>
              <a:rPr lang="en-US" sz="1200" dirty="0">
                <a:solidFill>
                  <a:srgbClr val="CADCE8"/>
                </a:solidFill>
                <a:latin typeface="Calibri" pitchFamily="34" charset="0"/>
                <a:ea typeface="Calibri" pitchFamily="34" charset="-122"/>
                <a:cs typeface="Calibri" pitchFamily="34" charset="-120"/>
              </a:rPr>
              <a:t>tashkilotlar noaniq talablar tufayli tez-tez kechikishlarni qayd etadi</a:t>
            </a:r>
            <a:endParaRPr lang="en-US" sz="1200" dirty="0"/>
          </a:p>
        </p:txBody>
      </p:sp>
      <p:sp>
        <p:nvSpPr>
          <p:cNvPr id="14" name="Text 12"/>
          <p:cNvSpPr txBox="1"/>
          <p:nvPr/>
        </p:nvSpPr>
        <p:spPr>
          <a:xfrm>
            <a:off x="548640" y="4937760"/>
            <a:ext cx="10515600" cy="365760"/>
          </a:xfrm>
          <a:prstGeom prst="rect">
            <a:avLst/>
          </a:prstGeom>
          <a:noFill/>
          <a:ln/>
        </p:spPr>
        <p:txBody>
          <a:bodyPr wrap="square" lIns="0" tIns="0" rIns="0" bIns="0" rtlCol="0" anchor="ctr"/>
          <a:lstStyle/>
          <a:p>
            <a:pPr indent="0" marL="0">
              <a:buNone/>
            </a:pPr>
            <a:r>
              <a:rPr lang="en-US" sz="1050" i="1" dirty="0">
                <a:solidFill>
                  <a:srgbClr val="6E859A"/>
                </a:solidFill>
                <a:latin typeface="Calibri" pitchFamily="34" charset="0"/>
                <a:ea typeface="Calibri" pitchFamily="34" charset="-122"/>
                <a:cs typeface="Calibri" pitchFamily="34" charset="-120"/>
              </a:rPr>
              <a:t>Manbalar: PMI, Pulse of the Profession®; HBR (Flyvbjerg); Wellingtone, State of Project Management</a:t>
            </a:r>
            <a:endParaRPr lang="en-US" sz="1050" dirty="0"/>
          </a:p>
        </p:txBody>
      </p:sp>
      <p:sp>
        <p:nvSpPr>
          <p:cNvPr id="15" name="Text 13"/>
          <p:cNvSpPr txBox="1"/>
          <p:nvPr/>
        </p:nvSpPr>
        <p:spPr>
          <a:xfrm>
            <a:off x="11274552" y="6355080"/>
            <a:ext cx="548640" cy="320040"/>
          </a:xfrm>
          <a:prstGeom prst="rect">
            <a:avLst/>
          </a:prstGeom>
          <a:noFill/>
          <a:ln/>
        </p:spPr>
        <p:txBody>
          <a:bodyPr wrap="square" lIns="0" tIns="0" rIns="0" bIns="0" rtlCol="0" anchor="ctr"/>
          <a:lstStyle/>
          <a:p>
            <a:pPr algn="r" indent="0" marL="0">
              <a:buNone/>
            </a:pPr>
            <a:r>
              <a:rPr lang="en-US" sz="1000" dirty="0">
                <a:solidFill>
                  <a:srgbClr val="5B6B77"/>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1645920" y="-1645920"/>
            <a:ext cx="4572000" cy="4572000"/>
          </a:xfrm>
          <a:prstGeom prst="ellipse">
            <a:avLst/>
          </a:prstGeom>
          <a:solidFill>
            <a:srgbClr val="065A82">
              <a:alpha val="45000"/>
            </a:srgbClr>
          </a:solidFill>
          <a:ln/>
        </p:spPr>
      </p:sp>
      <p:sp>
        <p:nvSpPr>
          <p:cNvPr id="3" name="Text 1"/>
          <p:cNvSpPr txBox="1"/>
          <p:nvPr/>
        </p:nvSpPr>
        <p:spPr>
          <a:xfrm>
            <a:off x="548640" y="457200"/>
            <a:ext cx="9601200" cy="365760"/>
          </a:xfrm>
          <a:prstGeom prst="rect">
            <a:avLst/>
          </a:prstGeom>
          <a:noFill/>
          <a:ln/>
        </p:spPr>
        <p:txBody>
          <a:bodyPr wrap="square" lIns="0" tIns="0" rIns="0" bIns="0" rtlCol="0" anchor="ctr"/>
          <a:lstStyle/>
          <a:p>
            <a:pPr indent="0" marL="0">
              <a:buNone/>
            </a:pPr>
            <a:r>
              <a:rPr lang="en-US" sz="1200" b="1" spc="200" kern="0" dirty="0">
                <a:solidFill>
                  <a:srgbClr val="D98E04"/>
                </a:solidFill>
                <a:latin typeface="Calibri" pitchFamily="34" charset="0"/>
                <a:ea typeface="Calibri" pitchFamily="34" charset="-122"/>
                <a:cs typeface="Calibri" pitchFamily="34" charset="-120"/>
              </a:rPr>
              <a:t>XULOSA · 5-MAVZU</a:t>
            </a:r>
            <a:endParaRPr lang="en-US" sz="1200" dirty="0"/>
          </a:p>
        </p:txBody>
      </p:sp>
      <p:sp>
        <p:nvSpPr>
          <p:cNvPr id="4" name="Text 2"/>
          <p:cNvSpPr txBox="1"/>
          <p:nvPr/>
        </p:nvSpPr>
        <p:spPr>
          <a:xfrm>
            <a:off x="548640" y="777240"/>
            <a:ext cx="914400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Asosiy xulosalar</a:t>
            </a:r>
            <a:endParaRPr lang="en-US" sz="3400" dirty="0"/>
          </a:p>
        </p:txBody>
      </p:sp>
      <p:sp>
        <p:nvSpPr>
          <p:cNvPr id="5" name="Shape 3"/>
          <p:cNvSpPr/>
          <p:nvPr/>
        </p:nvSpPr>
        <p:spPr>
          <a:xfrm>
            <a:off x="594360" y="1792224"/>
            <a:ext cx="365760" cy="365760"/>
          </a:xfrm>
          <a:prstGeom prst="ellipse">
            <a:avLst/>
          </a:prstGeom>
          <a:solidFill>
            <a:srgbClr val="D98E04"/>
          </a:solidFill>
          <a:ln/>
        </p:spPr>
      </p:sp>
      <p:sp>
        <p:nvSpPr>
          <p:cNvPr id="6" name="Text 4"/>
          <p:cNvSpPr txBox="1"/>
          <p:nvPr/>
        </p:nvSpPr>
        <p:spPr>
          <a:xfrm>
            <a:off x="594360" y="1792224"/>
            <a:ext cx="365760" cy="365760"/>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a:t>
            </a:r>
            <a:endParaRPr lang="en-US" sz="1500" dirty="0"/>
          </a:p>
        </p:txBody>
      </p:sp>
      <p:sp>
        <p:nvSpPr>
          <p:cNvPr id="7" name="Text 5"/>
          <p:cNvSpPr txBox="1"/>
          <p:nvPr/>
        </p:nvSpPr>
        <p:spPr>
          <a:xfrm>
            <a:off x="1143000" y="1691640"/>
            <a:ext cx="10424160" cy="777240"/>
          </a:xfrm>
          <a:prstGeom prst="rect">
            <a:avLst/>
          </a:prstGeom>
          <a:noFill/>
          <a:ln/>
        </p:spPr>
        <p:txBody>
          <a:bodyPr wrap="square" lIns="0" tIns="0" rIns="0" bIns="0" rtlCol="0" anchor="t"/>
          <a:lstStyle/>
          <a:p>
            <a:pPr indent="0" marL="0">
              <a:buNone/>
            </a:pPr>
            <a:r>
              <a:rPr lang="en-US" sz="1350" dirty="0">
                <a:solidFill>
                  <a:srgbClr val="E4ECF2"/>
                </a:solidFill>
                <a:latin typeface="Calibri" pitchFamily="34" charset="0"/>
                <a:ea typeface="Calibri" pitchFamily="34" charset="-122"/>
                <a:cs typeface="Calibri" pitchFamily="34" charset="-120"/>
              </a:rPr>
              <a:t>Jadval modeli usul, vosita va loyihaga oid ma’lumotlarni foydali jadvalga birlashtiradi</a:t>
            </a:r>
            <a:endParaRPr lang="en-US" sz="1350" dirty="0"/>
          </a:p>
        </p:txBody>
      </p:sp>
      <p:sp>
        <p:nvSpPr>
          <p:cNvPr id="8" name="Shape 6"/>
          <p:cNvSpPr/>
          <p:nvPr/>
        </p:nvSpPr>
        <p:spPr>
          <a:xfrm>
            <a:off x="594360" y="2633472"/>
            <a:ext cx="365760" cy="365760"/>
          </a:xfrm>
          <a:prstGeom prst="ellipse">
            <a:avLst/>
          </a:prstGeom>
          <a:solidFill>
            <a:srgbClr val="D98E04"/>
          </a:solidFill>
          <a:ln/>
        </p:spPr>
      </p:sp>
      <p:sp>
        <p:nvSpPr>
          <p:cNvPr id="9" name="Text 7"/>
          <p:cNvSpPr txBox="1"/>
          <p:nvPr/>
        </p:nvSpPr>
        <p:spPr>
          <a:xfrm>
            <a:off x="594360" y="2633472"/>
            <a:ext cx="365760" cy="365760"/>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a:t>
            </a:r>
            <a:endParaRPr lang="en-US" sz="1500" dirty="0"/>
          </a:p>
        </p:txBody>
      </p:sp>
      <p:sp>
        <p:nvSpPr>
          <p:cNvPr id="10" name="Text 8"/>
          <p:cNvSpPr txBox="1"/>
          <p:nvPr/>
        </p:nvSpPr>
        <p:spPr>
          <a:xfrm>
            <a:off x="1143000" y="2532888"/>
            <a:ext cx="10424160" cy="777240"/>
          </a:xfrm>
          <a:prstGeom prst="rect">
            <a:avLst/>
          </a:prstGeom>
          <a:noFill/>
          <a:ln/>
        </p:spPr>
        <p:txBody>
          <a:bodyPr wrap="square" lIns="0" tIns="0" rIns="0" bIns="0" rtlCol="0" anchor="t"/>
          <a:lstStyle/>
          <a:p>
            <a:pPr indent="0" marL="0">
              <a:buNone/>
            </a:pPr>
            <a:r>
              <a:rPr lang="en-US" sz="1350" dirty="0">
                <a:solidFill>
                  <a:srgbClr val="E4ECF2"/>
                </a:solidFill>
                <a:latin typeface="Calibri" pitchFamily="34" charset="0"/>
                <a:ea typeface="Calibri" pitchFamily="34" charset="-122"/>
                <a:cs typeface="Calibri" pitchFamily="34" charset="-120"/>
              </a:rPr>
              <a:t>PDM munosabatlari va lead/lag qiymatlari faoliyatlar ro‘yxatini mantiqiy tarmoqqa aylantiradi</a:t>
            </a:r>
            <a:endParaRPr lang="en-US" sz="1350" dirty="0"/>
          </a:p>
        </p:txBody>
      </p:sp>
      <p:sp>
        <p:nvSpPr>
          <p:cNvPr id="11" name="Shape 9"/>
          <p:cNvSpPr/>
          <p:nvPr/>
        </p:nvSpPr>
        <p:spPr>
          <a:xfrm>
            <a:off x="594360" y="3474720"/>
            <a:ext cx="365760" cy="365760"/>
          </a:xfrm>
          <a:prstGeom prst="ellipse">
            <a:avLst/>
          </a:prstGeom>
          <a:solidFill>
            <a:srgbClr val="D98E04"/>
          </a:solidFill>
          <a:ln/>
        </p:spPr>
      </p:sp>
      <p:sp>
        <p:nvSpPr>
          <p:cNvPr id="12" name="Text 10"/>
          <p:cNvSpPr txBox="1"/>
          <p:nvPr/>
        </p:nvSpPr>
        <p:spPr>
          <a:xfrm>
            <a:off x="594360" y="3474720"/>
            <a:ext cx="365760" cy="365760"/>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a:t>
            </a:r>
            <a:endParaRPr lang="en-US" sz="1500" dirty="0"/>
          </a:p>
        </p:txBody>
      </p:sp>
      <p:sp>
        <p:nvSpPr>
          <p:cNvPr id="13" name="Text 11"/>
          <p:cNvSpPr txBox="1"/>
          <p:nvPr/>
        </p:nvSpPr>
        <p:spPr>
          <a:xfrm>
            <a:off x="1143000" y="3374136"/>
            <a:ext cx="10424160" cy="777240"/>
          </a:xfrm>
          <a:prstGeom prst="rect">
            <a:avLst/>
          </a:prstGeom>
          <a:noFill/>
          <a:ln/>
        </p:spPr>
        <p:txBody>
          <a:bodyPr wrap="square" lIns="0" tIns="0" rIns="0" bIns="0" rtlCol="0" anchor="t"/>
          <a:lstStyle/>
          <a:p>
            <a:pPr indent="0" marL="0">
              <a:buNone/>
            </a:pPr>
            <a:r>
              <a:rPr lang="en-US" sz="1350" dirty="0">
                <a:solidFill>
                  <a:srgbClr val="E4ECF2"/>
                </a:solidFill>
                <a:latin typeface="Calibri" pitchFamily="34" charset="0"/>
                <a:ea typeface="Calibri" pitchFamily="34" charset="-122"/>
                <a:cs typeface="Calibri" pitchFamily="34" charset="-120"/>
              </a:rPr>
              <a:t>Uch nuqtali baholash bitta sonli baho yashiradigan noaniqlikni hisobga oladi</a:t>
            </a:r>
            <a:endParaRPr lang="en-US" sz="1350" dirty="0"/>
          </a:p>
        </p:txBody>
      </p:sp>
      <p:sp>
        <p:nvSpPr>
          <p:cNvPr id="14" name="Shape 12"/>
          <p:cNvSpPr/>
          <p:nvPr/>
        </p:nvSpPr>
        <p:spPr>
          <a:xfrm>
            <a:off x="594360" y="4315968"/>
            <a:ext cx="365760" cy="365760"/>
          </a:xfrm>
          <a:prstGeom prst="ellipse">
            <a:avLst/>
          </a:prstGeom>
          <a:solidFill>
            <a:srgbClr val="D98E04"/>
          </a:solidFill>
          <a:ln/>
        </p:spPr>
      </p:sp>
      <p:sp>
        <p:nvSpPr>
          <p:cNvPr id="15" name="Text 13"/>
          <p:cNvSpPr txBox="1"/>
          <p:nvPr/>
        </p:nvSpPr>
        <p:spPr>
          <a:xfrm>
            <a:off x="594360" y="4315968"/>
            <a:ext cx="365760" cy="365760"/>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a:t>
            </a:r>
            <a:endParaRPr lang="en-US" sz="1500" dirty="0"/>
          </a:p>
        </p:txBody>
      </p:sp>
      <p:sp>
        <p:nvSpPr>
          <p:cNvPr id="16" name="Text 14"/>
          <p:cNvSpPr txBox="1"/>
          <p:nvPr/>
        </p:nvSpPr>
        <p:spPr>
          <a:xfrm>
            <a:off x="1143000" y="4215384"/>
            <a:ext cx="10424160" cy="777240"/>
          </a:xfrm>
          <a:prstGeom prst="rect">
            <a:avLst/>
          </a:prstGeom>
          <a:noFill/>
          <a:ln/>
        </p:spPr>
        <p:txBody>
          <a:bodyPr wrap="square" lIns="0" tIns="0" rIns="0" bIns="0" rtlCol="0" anchor="t"/>
          <a:lstStyle/>
          <a:p>
            <a:pPr indent="0" marL="0">
              <a:buNone/>
            </a:pPr>
            <a:r>
              <a:rPr lang="en-US" sz="1350" dirty="0">
                <a:solidFill>
                  <a:srgbClr val="E4ECF2"/>
                </a:solidFill>
                <a:latin typeface="Calibri" pitchFamily="34" charset="0"/>
                <a:ea typeface="Calibri" pitchFamily="34" charset="-122"/>
                <a:cs typeface="Calibri" pitchFamily="34" charset="-120"/>
              </a:rPr>
              <a:t>Kritik yo‘l — tarmoqdagi eng uzun yo‘l — nol zaxiraga ega va minimal davomiylikni belgilaydi</a:t>
            </a:r>
            <a:endParaRPr lang="en-US" sz="1350" dirty="0"/>
          </a:p>
        </p:txBody>
      </p:sp>
      <p:sp>
        <p:nvSpPr>
          <p:cNvPr id="17" name="Shape 15"/>
          <p:cNvSpPr/>
          <p:nvPr/>
        </p:nvSpPr>
        <p:spPr>
          <a:xfrm>
            <a:off x="594360" y="5157216"/>
            <a:ext cx="365760" cy="365760"/>
          </a:xfrm>
          <a:prstGeom prst="ellipse">
            <a:avLst/>
          </a:prstGeom>
          <a:solidFill>
            <a:srgbClr val="D98E04"/>
          </a:solidFill>
          <a:ln/>
        </p:spPr>
      </p:sp>
      <p:sp>
        <p:nvSpPr>
          <p:cNvPr id="18" name="Text 16"/>
          <p:cNvSpPr txBox="1"/>
          <p:nvPr/>
        </p:nvSpPr>
        <p:spPr>
          <a:xfrm>
            <a:off x="594360" y="5157216"/>
            <a:ext cx="365760" cy="365760"/>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a:t>
            </a:r>
            <a:endParaRPr lang="en-US" sz="1500" dirty="0"/>
          </a:p>
        </p:txBody>
      </p:sp>
      <p:sp>
        <p:nvSpPr>
          <p:cNvPr id="19" name="Text 17"/>
          <p:cNvSpPr txBox="1"/>
          <p:nvPr/>
        </p:nvSpPr>
        <p:spPr>
          <a:xfrm>
            <a:off x="1143000" y="5056632"/>
            <a:ext cx="10424160" cy="777240"/>
          </a:xfrm>
          <a:prstGeom prst="rect">
            <a:avLst/>
          </a:prstGeom>
          <a:noFill/>
          <a:ln/>
        </p:spPr>
        <p:txBody>
          <a:bodyPr wrap="square" lIns="0" tIns="0" rIns="0" bIns="0" rtlCol="0" anchor="t"/>
          <a:lstStyle/>
          <a:p>
            <a:pPr indent="0" marL="0">
              <a:buNone/>
            </a:pPr>
            <a:r>
              <a:rPr lang="en-US" sz="1350" dirty="0">
                <a:solidFill>
                  <a:srgbClr val="E4ECF2"/>
                </a:solidFill>
                <a:latin typeface="Calibri" pitchFamily="34" charset="0"/>
                <a:ea typeface="Calibri" pitchFamily="34" charset="-122"/>
                <a:cs typeface="Calibri" pitchFamily="34" charset="-120"/>
              </a:rPr>
              <a:t>Crashing va fast tracking faqat kritik yo‘l faoliyatlariga qo‘llanganda loyihani qisqartiradi</a:t>
            </a:r>
            <a:endParaRPr lang="en-US" sz="1350" dirty="0"/>
          </a:p>
        </p:txBody>
      </p:sp>
      <p:sp>
        <p:nvSpPr>
          <p:cNvPr id="20" name="Shape 18"/>
          <p:cNvSpPr/>
          <p:nvPr/>
        </p:nvSpPr>
        <p:spPr>
          <a:xfrm>
            <a:off x="548640" y="6035040"/>
            <a:ext cx="11064240" cy="10973"/>
          </a:xfrm>
          <a:prstGeom prst="rect">
            <a:avLst/>
          </a:prstGeom>
          <a:solidFill>
            <a:srgbClr val="2A3F55"/>
          </a:solidFill>
          <a:ln/>
        </p:spPr>
      </p:sp>
      <p:sp>
        <p:nvSpPr>
          <p:cNvPr id="21" name="Text 19"/>
          <p:cNvSpPr txBox="1"/>
          <p:nvPr/>
        </p:nvSpPr>
        <p:spPr>
          <a:xfrm>
            <a:off x="548640" y="6217920"/>
            <a:ext cx="10515600" cy="457200"/>
          </a:xfrm>
          <a:prstGeom prst="rect">
            <a:avLst/>
          </a:prstGeom>
          <a:noFill/>
          <a:ln/>
        </p:spPr>
        <p:txBody>
          <a:bodyPr wrap="square" lIns="0" tIns="0" rIns="0" bIns="0" rtlCol="0" anchor="ctr"/>
          <a:lstStyle/>
          <a:p>
            <a:pPr indent="0" marL="0">
              <a:buNone/>
            </a:pPr>
            <a:r>
              <a:rPr lang="en-US" sz="1350" i="1" dirty="0">
                <a:solidFill>
                  <a:srgbClr val="9FB6C8"/>
                </a:solidFill>
                <a:latin typeface="Calibri" pitchFamily="34" charset="0"/>
                <a:ea typeface="Calibri" pitchFamily="34" charset="-122"/>
                <a:cs typeface="Calibri" pitchFamily="34" charset="-120"/>
              </a:rPr>
              <a:t>Keyingi mavzu: 6-mavzu — Loyiha xarajatini boshqarish</a:t>
            </a:r>
            <a:endParaRPr lang="en-US" sz="1350" dirty="0"/>
          </a:p>
        </p:txBody>
      </p:sp>
      <p:sp>
        <p:nvSpPr>
          <p:cNvPr id="22" name="Text 20"/>
          <p:cNvSpPr txBox="1"/>
          <p:nvPr/>
        </p:nvSpPr>
        <p:spPr>
          <a:xfrm>
            <a:off x="11274552" y="6355080"/>
            <a:ext cx="548640" cy="320040"/>
          </a:xfrm>
          <a:prstGeom prst="rect">
            <a:avLst/>
          </a:prstGeom>
          <a:noFill/>
          <a:ln/>
        </p:spPr>
        <p:txBody>
          <a:bodyPr wrap="square" lIns="0" tIns="0" rIns="0" bIns="0" rtlCol="0" anchor="ctr"/>
          <a:lstStyle/>
          <a:p>
            <a:pPr algn="r" indent="0" marL="0">
              <a:buNone/>
            </a:pPr>
            <a:r>
              <a:rPr lang="en-US" sz="1000" dirty="0">
                <a:solidFill>
                  <a:srgbClr val="5B6B77"/>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2026-09-15T04:13:44Z</dcterms:created>
  <dcterms:modified xsi:type="dcterms:W3CDTF">2026-09-15T04:13:44Z</dcterms:modified>
</cp:coreProperties>
</file>